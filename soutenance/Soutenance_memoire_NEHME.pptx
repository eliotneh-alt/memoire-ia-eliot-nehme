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457" autoAdjust="0"/>
    <p:restoredTop sz="86467" autoAdjust="0"/>
  </p:normalViewPr>
  <p:slideViewPr>
    <p:cSldViewPr snapToGrid="0" snapToObjects="1">
      <p:cViewPr>
        <p:scale>
          <a:sx n="66" d="100"/>
          <a:sy n="66" d="100"/>
        </p:scale>
        <p:origin x="880" y="-120"/>
      </p:cViewPr>
      <p:guideLst>
        <p:guide orient="horz" pos="2160"/>
        <p:guide pos="2880"/>
      </p:guideLst>
    </p:cSldViewPr>
  </p:slideViewPr>
  <p:outlineViewPr>
    <p:cViewPr>
      <p:scale>
        <a:sx n="66" d="100"/>
        <a:sy n="66" d="100"/>
      </p:scale>
      <p:origin x="0" y="-279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Importance (%)</c:v>
                </c:pt>
              </c:strCache>
            </c:strRef>
          </c:tx>
          <c:spPr>
            <a:solidFill>
              <a:srgbClr val="A100FF"/>
            </a:solidFill>
          </c:spPr>
          <c:invertIfNegative val="1"/>
          <c:dLbls>
            <c:numFmt formatCode="0%" sourceLinked="0"/>
            <c:spPr>
              <a:noFill/>
              <a:ln>
                <a:noFill/>
              </a:ln>
              <a:effectLst/>
            </c:spPr>
            <c:txPr>
              <a:bodyPr/>
              <a:lstStyle/>
              <a:p>
                <a:pPr>
                  <a:defRPr sz="1100" b="1">
                    <a:solidFill>
                      <a:srgbClr val="460073"/>
                    </a:solidFill>
                    <a:latin typeface="Graphik"/>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Nb de polices actives (assuré)</c:v>
                </c:pt>
                <c:pt idx="1">
                  <c:v>Blessure déclarée sans preuve médicale</c:v>
                </c:pt>
                <c:pt idx="2">
                  <c:v>Nb sinistres passés (véhicule)</c:v>
                </c:pt>
                <c:pt idx="3">
                  <c:v>Autorités contactées</c:v>
                </c:pt>
                <c:pt idx="4">
                  <c:v>Âge du véhicule</c:v>
                </c:pt>
                <c:pt idx="5">
                  <c:v>Nb d'amendements à la déclaration</c:v>
                </c:pt>
                <c:pt idx="6">
                  <c:v>Valeur marchande du véhicule</c:v>
                </c:pt>
                <c:pt idx="7">
                  <c:v>Nb fraudes passées (assuré)</c:v>
                </c:pt>
                <c:pt idx="8">
                  <c:v>Historique des montants réclamés</c:v>
                </c:pt>
                <c:pt idx="9">
                  <c:v>Ratio facture / marché (réparateur)</c:v>
                </c:pt>
              </c:strCache>
            </c:strRef>
          </c:cat>
          <c:val>
            <c:numRef>
              <c:f>Sheet1!$B$2:$B$11</c:f>
              <c:numCache>
                <c:formatCode>General</c:formatCode>
                <c:ptCount val="10"/>
                <c:pt idx="0">
                  <c:v>0.05</c:v>
                </c:pt>
                <c:pt idx="1">
                  <c:v>0.05</c:v>
                </c:pt>
                <c:pt idx="2">
                  <c:v>0.06</c:v>
                </c:pt>
                <c:pt idx="3">
                  <c:v>7.0000000000000007E-2</c:v>
                </c:pt>
                <c:pt idx="4">
                  <c:v>7.0000000000000007E-2</c:v>
                </c:pt>
                <c:pt idx="5">
                  <c:v>0.08</c:v>
                </c:pt>
                <c:pt idx="6">
                  <c:v>0.08</c:v>
                </c:pt>
                <c:pt idx="7">
                  <c:v>0.13</c:v>
                </c:pt>
                <c:pt idx="8">
                  <c:v>0.16</c:v>
                </c:pt>
                <c:pt idx="9">
                  <c:v>0.25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B59-461C-B4BD-FC5516658D73}"/>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8C8CC"/>
            </a:solidFill>
          </a:ln>
        </c:spPr>
        <c:txPr>
          <a:bodyPr/>
          <a:lstStyle/>
          <a:p>
            <a:pPr>
              <a:defRPr sz="1100">
                <a:solidFill>
                  <a:srgbClr val="1A1A1A"/>
                </a:solidFill>
                <a:latin typeface="Graphik"/>
              </a:defRPr>
            </a:pPr>
            <a:endParaRPr lang="fr-FR"/>
          </a:p>
        </c:txPr>
        <c:crossAx val="-2113994440"/>
        <c:crosses val="autoZero"/>
        <c:auto val="1"/>
        <c:lblAlgn val="ctr"/>
        <c:lblOffset val="100"/>
        <c:noMultiLvlLbl val="0"/>
      </c:catAx>
      <c:valAx>
        <c:axId val="-2113994440"/>
        <c:scaling>
          <c:orientation val="minMax"/>
          <c:max val="0.3"/>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656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30 s. Se présenter : alternant au sein de l'équipe Actuarial &amp; Risk Insurance d'Accenture. Annoncer le sujet : concevoir, avec un agent d'IA, un processus de détection automatisée de la fraude en assurance automobile, de l'ingestion des données jusqu'au pilotage.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20 s. Annoncer le fil rouge : partir de l'enjeu économique, construire les données et l'outil, comparer trois modèles, montrer l'exploitation opérationnelle, puis porter un regard critique.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Le principe de mutualisation repose sur la confiance ; la fraude le détourne. 2,5 Md€ : estimation ALFA de 2014, soit ~5 % des cotisations à l'époque, ~3 % aujourd'hui </a:t>
            </a:r>
            <a:r>
              <a:rPr lang="fr-FR"/>
              <a:t>-</a:t>
            </a:r>
            <a:r>
              <a:t> c'est donc une borne basse. En face, 947 M€ détectés en 2025 : l'écart suggère qu'environ 60 % reste non détecté. Coût collectif : ~50 € par contrat auto pour les assurés honnêtes.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2 min. Dimension </a:t>
            </a:r>
            <a:r>
              <a:rPr dirty="0" err="1"/>
              <a:t>actuarielle</a:t>
            </a:r>
            <a:r>
              <a:rPr dirty="0"/>
              <a:t> : la </a:t>
            </a:r>
            <a:r>
              <a:rPr dirty="0" err="1"/>
              <a:t>valeur</a:t>
            </a:r>
            <a:r>
              <a:rPr dirty="0"/>
              <a:t> d'un </a:t>
            </a:r>
            <a:r>
              <a:rPr dirty="0" err="1"/>
              <a:t>dispositif</a:t>
            </a:r>
            <a:r>
              <a:rPr dirty="0"/>
              <a:t> se </a:t>
            </a:r>
            <a:r>
              <a:rPr dirty="0" err="1"/>
              <a:t>mesure</a:t>
            </a:r>
            <a:r>
              <a:rPr dirty="0"/>
              <a:t> à la charge </a:t>
            </a:r>
            <a:r>
              <a:rPr dirty="0" err="1"/>
              <a:t>évitée</a:t>
            </a:r>
            <a:r>
              <a:rPr dirty="0"/>
              <a:t>, </a:t>
            </a:r>
            <a:r>
              <a:rPr dirty="0" err="1"/>
              <a:t>d'où</a:t>
            </a:r>
            <a:r>
              <a:rPr dirty="0"/>
              <a:t> le gain </a:t>
            </a:r>
            <a:r>
              <a:rPr dirty="0" err="1"/>
              <a:t>unitaire</a:t>
            </a:r>
            <a:r>
              <a:rPr dirty="0"/>
              <a:t> </a:t>
            </a:r>
            <a:r>
              <a:rPr dirty="0" err="1"/>
              <a:t>espéré</a:t>
            </a:r>
            <a:r>
              <a:rPr dirty="0"/>
              <a:t>. Expertise auto 70–400 € (Service-Public), </a:t>
            </a:r>
            <a:r>
              <a:rPr dirty="0" err="1"/>
              <a:t>enquêteur</a:t>
            </a:r>
            <a:r>
              <a:rPr dirty="0"/>
              <a:t> ALFA &gt; 1 000 €. </a:t>
            </a:r>
            <a:r>
              <a:rPr dirty="0" err="1"/>
              <a:t>Exemple</a:t>
            </a:r>
            <a:r>
              <a:rPr dirty="0"/>
              <a:t> : 1 200 € avec expertise à 250 € rentable ; bris de glace à 400 € non. </a:t>
            </a:r>
            <a:r>
              <a:rPr dirty="0" err="1"/>
              <a:t>L'automatisation</a:t>
            </a:r>
            <a:r>
              <a:rPr dirty="0"/>
              <a:t> fait </a:t>
            </a:r>
            <a:r>
              <a:rPr dirty="0" err="1"/>
              <a:t>tendre</a:t>
            </a:r>
            <a:r>
              <a:rPr dirty="0"/>
              <a:t> le </a:t>
            </a:r>
            <a:r>
              <a:rPr dirty="0" err="1"/>
              <a:t>coût</a:t>
            </a:r>
            <a:r>
              <a:rPr dirty="0"/>
              <a:t> marginal vers </a:t>
            </a:r>
            <a:r>
              <a:rPr dirty="0" err="1"/>
              <a:t>zéro</a:t>
            </a:r>
            <a:r>
              <a:rPr dirty="0"/>
              <a:t>. Lire la </a:t>
            </a:r>
            <a:r>
              <a:rPr dirty="0" err="1"/>
              <a:t>problématique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Faute de données d'assureur, base publique Kaggle de 30 000 sinistres. Elle ne contient que l'information du sinistre : on l'enrichit de 29 variables simulées pour reproduire ce qu'un assureur connaît (historique assuré, réparateur, tiers, véhicule…). Annoncer d'emblée les biais : fraude surreprésentée (11,5 % vs ~5 %), variables simulées </a:t>
            </a:r>
            <a:r>
              <a:rPr lang="fr-FR"/>
              <a:t>-</a:t>
            </a:r>
            <a:r>
              <a:t> repris dans les limites.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15. L'agent produit l'analyse descriptive (fréquence, coût moyen, segmentation). Trois signaux forts : sur-facturation du réparateur (48 % de fraude contre 8 %), historique de montants élevés, antécédents de fraude. Contre-intuitif : les fraudeurs ne réclament pas plus que les autres. D'où la nécessité de modèles multivariés.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 Cœur du travail : un outil de bout en bout construit par un agent d'IA. Temps 1, pour les actuaires : ingestion, audit qualité, statistiques descriptives, entraînement et sélection. Temps 2, pour les gestionnaires : ils soumettent un sinistre et reçoivent une probabilité et une zone, sans voir la complexité du modèle. L'agent est guidé par un prompt séquencé qui reproduit la démarche actuarielle et garantit la traçabilité. La boucle ferme le dispositif.</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2 min. Gradation volontaire de la transparence vers la performance. Scoring : la méthode du credit scoring, familière des actuaires </a:t>
            </a:r>
            <a:r>
              <a:rPr lang="fr-FR"/>
              <a:t>-</a:t>
            </a:r>
            <a:r>
              <a:t> discrétisation, WOE, IV, logistique, points. Arbre : règles lisibles mais instables. Gradient Boosting : arbres en série qui corrigent les résidus. Critères : la base est déséquilibrée, donc on privilégie AUC, Gini, KS, PR-AUC, lift, et on contrôle la stabilité (PSI) et le surapprentissage (écart train/test).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Insister sur la dimension actuarielle. WOE : log-ratio des répartitions fraude/non-fraude d'une classe ; IV : pouvoir discriminant global, utilisé pour sélectionner les variables. Exemple de la grille : réparateur hors marché = 108 points, le maximum ; montants cumulés &gt; 30 000 USD = 87. Le score total est ensuite normalisé </a:t>
            </a:r>
            <a:r>
              <a:rPr lang="fr-FR"/>
              <a:t>-</a:t>
            </a:r>
            <a:r>
              <a:t> ce n'est pas une probabilité calibrée.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Lire le tableau en colonne Gradient Boosting : AUC 0,933, Gini 0,867, PR-AUC 0,744, lift 6,37. Le scoring est à 0,917 d'AUC : l'écart de performance est faible au regard du gain d'explicabilité. L'arbre est dominé. PSI tous très inférieurs à 0,10 : populations train/test comparables. Préciser que le découpage est aléatoire, pas temporel.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Le seuil est fixé par l'indice de Youden (max TPR − FPR) : 45 %. À ce seuil : 601 fraudes sur 688 détectées, 1 414 dossiers signalés sur 6 000, dont 42,5 % sont réellement frauduleux, soit 3,7 fois la densité d'un contrôle aléatoire (11,5 %). À droite, la calibration : le taux de fraude avérée croît avec la probabilité estimée, jusqu'à 91 % sur la dernière tranche. Le premier décile concentre 63,7 % des fraudes (lift 6,37).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Trois modèles construits différemment mettent en avant les mêmes variables : environnement du réparateur, historique des montants, antécédents de fraude. C'est rassurant pour l'interprétation. Mais je le dis tout de suite : ces variables dominantes ont été simulées, il est probable qu'elles « contiennent » en partie la cible, ce qui rend les performances vraisemblablement optimistes.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Le gestionnaire dépose un fichier ou saisit un sinistre. Il reçoit une probabilité et une zone. Les zones sont une bande de ±10 points autour du seuil optimal : vert sous 35 %, orange entre 35 et 55 %, rouge au-delà. Préciser que la capture a été réalisée avec une configuration antérieure (40/60 %). Ces seuils sont paramétrables : c'est là que l'arbitrage coût-bénéfice doit intervenir.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15. Une fois le dossier clos, l'issue est saisie en binaire ; seuls ces cas avérés enrichissent la base, ce qui permet de recalibrer. Limite assumée : biais de sélection, on n'apprend que sur ce qu'on investigue ; d'où la recommandation d'un échantillon aléatoire en zone verte. Le rapport de pilotage traduit l'outil en langage de direction : fraude évitée, S/P, ROI.</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15. RGPD article 22 : aucune décision défavorable automatique. AI Act : la détection de fraude n'est pas citée explicitement dans l'annexe III (la tarification vie/santé l'est) ; le calendrier « haut risque » a été repoussé au 2 décembre 2027 par l'Omnibus IA. ACPR : critères d'évaluation des algorithmes. Conséquence pratique : supervision humaine systématique, journalisation, validation indépendante.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Être franc, c'est ce que le jury attend. Données : simulées en partie, fraude surreprésentée, fuite probable de la cible </a:t>
            </a:r>
            <a:r>
              <a:rPr lang="fr-FR"/>
              <a:t>-</a:t>
            </a:r>
            <a:r>
              <a:t> les AUC sont donc un majorant. Méthode : les seuils ne sont pas optimisés économiquement ; on pourrait maximiser le gain net = fraudes évitées − coût des investigations. Biais de sélection de la boucle. Périmètre : fraude circonstancielle, pas les réseaux.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1 min 30. Conclure sur la problématique : le processus concilie performance (AUC 0,933), interprétabilité (scoring à 0,917 en alternative) et conformité (supervision humaine). Perspective prioritaire : recalibrer sur données réelles et choisir les seuils en maximisant le gain net. Finir sur le message : l'IA filtre, l'humain décide.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probables : performances sans les variables simulées ? pourquoi Youden plutôt qu'un critère économique ? différence probabilité / score normalisé du scoring ? qualification AI Act ? comment gérer la dérive (PSI) en production ?</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définitions des indicateurs.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détail de la matrice de confusion du modèle retenu.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l'agent ne restitue pas le lift du scoring ; il est encadré à partir de deux points de la courbe de gains, sans donnée inventée.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détail des axes d'enrichissement (liste complète en annexe B du mémoire).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visualisation des deux premiers niveaux de l'arbre ; expliquer le rééquilibrage.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l'outil est agnostique au modèle et paramétrable.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Annexe de réponse : cadre réglementaire, organisation et supervision humaine.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40024.png"/>
          <p:cNvPicPr>
            <a:picLocks noChangeAspect="1"/>
          </p:cNvPicPr>
          <p:nvPr/>
        </p:nvPicPr>
        <p:blipFill>
          <a:blip r:embed="rId3"/>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4"/>
          <a:stretch>
            <a:fillRect/>
          </a:stretch>
        </p:blipFill>
        <p:spPr>
          <a:xfrm>
            <a:off x="548640" y="274320"/>
            <a:ext cx="1099698" cy="310896"/>
          </a:xfrm>
          <a:prstGeom prst="rect">
            <a:avLst/>
          </a:prstGeom>
        </p:spPr>
      </p:pic>
      <p:sp>
        <p:nvSpPr>
          <p:cNvPr id="4" name="TextBox 3"/>
          <p:cNvSpPr txBox="1"/>
          <p:nvPr/>
        </p:nvSpPr>
        <p:spPr>
          <a:xfrm>
            <a:off x="548640" y="960120"/>
            <a:ext cx="8229600" cy="365760"/>
          </a:xfrm>
          <a:prstGeom prst="rect">
            <a:avLst/>
          </a:prstGeom>
          <a:noFill/>
        </p:spPr>
        <p:txBody>
          <a:bodyPr wrap="square" lIns="36576" tIns="36576" rIns="36576" bIns="36576" anchor="t">
            <a:spAutoFit/>
          </a:bodyPr>
          <a:lstStyle/>
          <a:p>
            <a:pPr algn="l"/>
            <a:r>
              <a:rPr sz="1300" b="0" i="0">
                <a:solidFill>
                  <a:srgbClr val="C9A6F2"/>
                </a:solidFill>
                <a:latin typeface="Graphik"/>
              </a:rPr>
              <a:t>S O U T E N A N C E   D E   M É M O I R E</a:t>
            </a:r>
          </a:p>
        </p:txBody>
      </p:sp>
      <p:sp>
        <p:nvSpPr>
          <p:cNvPr id="5" name="TextBox 4"/>
          <p:cNvSpPr txBox="1"/>
          <p:nvPr/>
        </p:nvSpPr>
        <p:spPr>
          <a:xfrm>
            <a:off x="548640" y="1508760"/>
            <a:ext cx="8138160" cy="237744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Détection de fraude en assurance non-vie à l'aide de l'intelligence artificielle</a:t>
            </a:r>
          </a:p>
        </p:txBody>
      </p:sp>
      <p:sp>
        <p:nvSpPr>
          <p:cNvPr id="6" name="Rectangle 5"/>
          <p:cNvSpPr/>
          <p:nvPr/>
        </p:nvSpPr>
        <p:spPr>
          <a:xfrm>
            <a:off x="566928" y="4041648"/>
            <a:ext cx="1920240" cy="82296"/>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4297680"/>
            <a:ext cx="7315200" cy="365760"/>
          </a:xfrm>
          <a:prstGeom prst="rect">
            <a:avLst/>
          </a:prstGeom>
          <a:noFill/>
        </p:spPr>
        <p:txBody>
          <a:bodyPr wrap="square" lIns="36576" tIns="36576" rIns="36576" bIns="36576" anchor="t">
            <a:spAutoFit/>
          </a:bodyPr>
          <a:lstStyle/>
          <a:p>
            <a:pPr algn="l"/>
            <a:r>
              <a:rPr sz="1700" b="0" i="1">
                <a:solidFill>
                  <a:srgbClr val="C9A6F2"/>
                </a:solidFill>
                <a:latin typeface="Graphik"/>
              </a:rPr>
              <a:t>Soutenance Institut des Actuaires  •  2026</a:t>
            </a:r>
          </a:p>
        </p:txBody>
      </p:sp>
      <p:sp>
        <p:nvSpPr>
          <p:cNvPr id="8" name="TextBox 7"/>
          <p:cNvSpPr txBox="1"/>
          <p:nvPr/>
        </p:nvSpPr>
        <p:spPr>
          <a:xfrm>
            <a:off x="548640" y="4846320"/>
            <a:ext cx="7315200" cy="502920"/>
          </a:xfrm>
          <a:prstGeom prst="rect">
            <a:avLst/>
          </a:prstGeom>
          <a:noFill/>
        </p:spPr>
        <p:txBody>
          <a:bodyPr wrap="square" lIns="36576" tIns="36576" rIns="36576" bIns="36576" anchor="t">
            <a:spAutoFit/>
          </a:bodyPr>
          <a:lstStyle/>
          <a:p>
            <a:pPr algn="l"/>
            <a:r>
              <a:rPr sz="2800" b="1" i="0">
                <a:solidFill>
                  <a:srgbClr val="FFFFFF"/>
                </a:solidFill>
                <a:latin typeface="Graphik"/>
              </a:rPr>
              <a:t>Eliot NEHME</a:t>
            </a:r>
          </a:p>
        </p:txBody>
      </p:sp>
      <p:sp>
        <p:nvSpPr>
          <p:cNvPr id="9" name="TextBox 8"/>
          <p:cNvSpPr txBox="1"/>
          <p:nvPr/>
        </p:nvSpPr>
        <p:spPr>
          <a:xfrm>
            <a:off x="548640" y="5394960"/>
            <a:ext cx="7772400" cy="304699"/>
          </a:xfrm>
          <a:prstGeom prst="rect">
            <a:avLst/>
          </a:prstGeom>
          <a:noFill/>
        </p:spPr>
        <p:txBody>
          <a:bodyPr wrap="square" lIns="36576" tIns="36576" rIns="36576" bIns="36576" anchor="t">
            <a:spAutoFit/>
          </a:bodyPr>
          <a:lstStyle/>
          <a:p>
            <a:pPr algn="l"/>
            <a:r>
              <a:rPr sz="1500" b="0" i="1" dirty="0">
                <a:solidFill>
                  <a:srgbClr val="C9A6F2"/>
                </a:solidFill>
                <a:latin typeface="Graphik"/>
              </a:rPr>
              <a:t>Actuarial &amp; Risk Insurance </a:t>
            </a:r>
            <a:r>
              <a:rPr lang="fr-FR" sz="1500" b="0" i="1" dirty="0">
                <a:solidFill>
                  <a:srgbClr val="C9A6F2"/>
                </a:solidFill>
                <a:latin typeface="Graphik"/>
              </a:rPr>
              <a:t>-</a:t>
            </a:r>
            <a:r>
              <a:rPr sz="1500" b="0" i="1" dirty="0">
                <a:solidFill>
                  <a:srgbClr val="C9A6F2"/>
                </a:solidFill>
                <a:latin typeface="Graphik"/>
              </a:rPr>
              <a:t> Strategy &amp; Consulting  |  Accenture</a:t>
            </a:r>
          </a:p>
        </p:txBody>
      </p:sp>
      <p:sp>
        <p:nvSpPr>
          <p:cNvPr id="10" name="TextBox 9"/>
          <p:cNvSpPr txBox="1"/>
          <p:nvPr/>
        </p:nvSpPr>
        <p:spPr>
          <a:xfrm>
            <a:off x="8732520" y="4160520"/>
            <a:ext cx="3291840" cy="274320"/>
          </a:xfrm>
          <a:prstGeom prst="rect">
            <a:avLst/>
          </a:prstGeom>
          <a:noFill/>
        </p:spPr>
        <p:txBody>
          <a:bodyPr wrap="square" lIns="36576" tIns="36576" rIns="36576" bIns="36576" anchor="t">
            <a:spAutoFit/>
          </a:bodyPr>
          <a:lstStyle/>
          <a:p>
            <a:pPr algn="l"/>
            <a:r>
              <a:rPr sz="1200" b="0" i="1">
                <a:solidFill>
                  <a:srgbClr val="C9A6F2"/>
                </a:solidFill>
                <a:latin typeface="Graphik"/>
              </a:rPr>
              <a:t>Responsable entreprise</a:t>
            </a:r>
          </a:p>
        </p:txBody>
      </p:sp>
      <p:sp>
        <p:nvSpPr>
          <p:cNvPr id="11" name="TextBox 10"/>
          <p:cNvSpPr txBox="1"/>
          <p:nvPr/>
        </p:nvSpPr>
        <p:spPr>
          <a:xfrm>
            <a:off x="8732520" y="4434840"/>
            <a:ext cx="3291840" cy="365760"/>
          </a:xfrm>
          <a:prstGeom prst="rect">
            <a:avLst/>
          </a:prstGeom>
          <a:noFill/>
        </p:spPr>
        <p:txBody>
          <a:bodyPr wrap="square" lIns="36576" tIns="36576" rIns="36576" bIns="36576" anchor="t">
            <a:spAutoFit/>
          </a:bodyPr>
          <a:lstStyle/>
          <a:p>
            <a:pPr algn="l"/>
            <a:r>
              <a:rPr sz="1500" b="1" i="0">
                <a:solidFill>
                  <a:srgbClr val="FFFFFF"/>
                </a:solidFill>
                <a:latin typeface="Graphik"/>
              </a:rPr>
              <a:t>Makram BEN DBABIS</a:t>
            </a:r>
          </a:p>
        </p:txBody>
      </p:sp>
      <p:sp>
        <p:nvSpPr>
          <p:cNvPr id="12" name="TextBox 11"/>
          <p:cNvSpPr txBox="1"/>
          <p:nvPr/>
        </p:nvSpPr>
        <p:spPr>
          <a:xfrm>
            <a:off x="8732520" y="4910328"/>
            <a:ext cx="3291840" cy="274320"/>
          </a:xfrm>
          <a:prstGeom prst="rect">
            <a:avLst/>
          </a:prstGeom>
          <a:noFill/>
        </p:spPr>
        <p:txBody>
          <a:bodyPr wrap="square" lIns="36576" tIns="36576" rIns="36576" bIns="36576" anchor="t">
            <a:spAutoFit/>
          </a:bodyPr>
          <a:lstStyle/>
          <a:p>
            <a:pPr algn="l"/>
            <a:r>
              <a:rPr sz="1200" b="0" i="1">
                <a:solidFill>
                  <a:srgbClr val="C9A6F2"/>
                </a:solidFill>
                <a:latin typeface="Graphik"/>
              </a:rPr>
              <a:t>Directeur de mémoire en entreprise</a:t>
            </a:r>
          </a:p>
        </p:txBody>
      </p:sp>
      <p:sp>
        <p:nvSpPr>
          <p:cNvPr id="13" name="TextBox 12"/>
          <p:cNvSpPr txBox="1"/>
          <p:nvPr/>
        </p:nvSpPr>
        <p:spPr>
          <a:xfrm>
            <a:off x="8732520" y="5184648"/>
            <a:ext cx="3291840" cy="365760"/>
          </a:xfrm>
          <a:prstGeom prst="rect">
            <a:avLst/>
          </a:prstGeom>
          <a:noFill/>
        </p:spPr>
        <p:txBody>
          <a:bodyPr wrap="square" lIns="36576" tIns="36576" rIns="36576" bIns="36576" anchor="t">
            <a:spAutoFit/>
          </a:bodyPr>
          <a:lstStyle/>
          <a:p>
            <a:pPr algn="l"/>
            <a:r>
              <a:rPr sz="1500" b="1" i="0">
                <a:solidFill>
                  <a:srgbClr val="FFFFFF"/>
                </a:solidFill>
                <a:latin typeface="Graphik"/>
              </a:rPr>
              <a:t>Rachel ATIA</a:t>
            </a:r>
          </a:p>
        </p:txBody>
      </p:sp>
      <p:sp>
        <p:nvSpPr>
          <p:cNvPr id="14" name="TextBox 13"/>
          <p:cNvSpPr txBox="1"/>
          <p:nvPr/>
        </p:nvSpPr>
        <p:spPr>
          <a:xfrm>
            <a:off x="8732520" y="5660136"/>
            <a:ext cx="3291840" cy="274320"/>
          </a:xfrm>
          <a:prstGeom prst="rect">
            <a:avLst/>
          </a:prstGeom>
          <a:noFill/>
        </p:spPr>
        <p:txBody>
          <a:bodyPr wrap="square" lIns="36576" tIns="36576" rIns="36576" bIns="36576" anchor="t">
            <a:spAutoFit/>
          </a:bodyPr>
          <a:lstStyle/>
          <a:p>
            <a:pPr algn="l"/>
            <a:r>
              <a:rPr sz="1200" b="0" i="1">
                <a:solidFill>
                  <a:srgbClr val="C9A6F2"/>
                </a:solidFill>
                <a:latin typeface="Graphik"/>
              </a:rPr>
              <a:t>Tuteur académique (ISFA)</a:t>
            </a:r>
          </a:p>
        </p:txBody>
      </p:sp>
      <p:sp>
        <p:nvSpPr>
          <p:cNvPr id="15" name="TextBox 14"/>
          <p:cNvSpPr txBox="1"/>
          <p:nvPr/>
        </p:nvSpPr>
        <p:spPr>
          <a:xfrm>
            <a:off x="8732520" y="5934455"/>
            <a:ext cx="3291840" cy="365760"/>
          </a:xfrm>
          <a:prstGeom prst="rect">
            <a:avLst/>
          </a:prstGeom>
          <a:noFill/>
        </p:spPr>
        <p:txBody>
          <a:bodyPr wrap="square" lIns="36576" tIns="36576" rIns="36576" bIns="36576" anchor="t">
            <a:spAutoFit/>
          </a:bodyPr>
          <a:lstStyle/>
          <a:p>
            <a:pPr algn="l"/>
            <a:r>
              <a:rPr sz="1500" b="1" i="0">
                <a:solidFill>
                  <a:srgbClr val="FFFFFF"/>
                </a:solidFill>
                <a:latin typeface="Graphik"/>
              </a:rPr>
              <a:t>Denis CLOT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822960"/>
            <a:ext cx="7315200" cy="548640"/>
          </a:xfrm>
          <a:prstGeom prst="rect">
            <a:avLst/>
          </a:prstGeom>
          <a:noFill/>
        </p:spPr>
        <p:txBody>
          <a:bodyPr wrap="square" lIns="36576" tIns="36576" rIns="36576" bIns="36576" anchor="t">
            <a:spAutoFit/>
          </a:bodyPr>
          <a:lstStyle/>
          <a:p>
            <a:pPr algn="l"/>
            <a:r>
              <a:rPr sz="2800" b="1" i="0">
                <a:solidFill>
                  <a:srgbClr val="1A1A1A"/>
                </a:solidFill>
                <a:latin typeface="Graphik"/>
              </a:rPr>
              <a:t>Sommaire</a:t>
            </a:r>
          </a:p>
        </p:txBody>
      </p:sp>
      <p:sp>
        <p:nvSpPr>
          <p:cNvPr id="4" name="TextBox 3"/>
          <p:cNvSpPr txBox="1"/>
          <p:nvPr/>
        </p:nvSpPr>
        <p:spPr>
          <a:xfrm>
            <a:off x="548640" y="1435607"/>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01</a:t>
            </a:r>
          </a:p>
        </p:txBody>
      </p:sp>
      <p:sp>
        <p:nvSpPr>
          <p:cNvPr id="5" name="Rectangle 4"/>
          <p:cNvSpPr/>
          <p:nvPr/>
        </p:nvSpPr>
        <p:spPr>
          <a:xfrm>
            <a:off x="1572768" y="1572768"/>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1490472"/>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Contexte et enjeux</a:t>
            </a:r>
          </a:p>
        </p:txBody>
      </p:sp>
      <p:sp>
        <p:nvSpPr>
          <p:cNvPr id="7" name="TextBox 6"/>
          <p:cNvSpPr txBox="1"/>
          <p:nvPr/>
        </p:nvSpPr>
        <p:spPr>
          <a:xfrm>
            <a:off x="1783080" y="1874519"/>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La fraude, un enjeu économique que la détection manuelle ne maîtrise plus</a:t>
            </a:r>
          </a:p>
        </p:txBody>
      </p:sp>
      <p:sp>
        <p:nvSpPr>
          <p:cNvPr id="8" name="TextBox 7"/>
          <p:cNvSpPr txBox="1"/>
          <p:nvPr/>
        </p:nvSpPr>
        <p:spPr>
          <a:xfrm>
            <a:off x="548640" y="2221991"/>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02</a:t>
            </a:r>
          </a:p>
        </p:txBody>
      </p:sp>
      <p:sp>
        <p:nvSpPr>
          <p:cNvPr id="9" name="Rectangle 8"/>
          <p:cNvSpPr/>
          <p:nvPr/>
        </p:nvSpPr>
        <p:spPr>
          <a:xfrm>
            <a:off x="1572768" y="2359151"/>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783080" y="2276856"/>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Données et conception de l'outil</a:t>
            </a:r>
          </a:p>
        </p:txBody>
      </p:sp>
      <p:sp>
        <p:nvSpPr>
          <p:cNvPr id="11" name="TextBox 10"/>
          <p:cNvSpPr txBox="1"/>
          <p:nvPr/>
        </p:nvSpPr>
        <p:spPr>
          <a:xfrm>
            <a:off x="1783080" y="2660903"/>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Base publique enrichie et processus automatisé en deux temps</a:t>
            </a:r>
          </a:p>
        </p:txBody>
      </p:sp>
      <p:sp>
        <p:nvSpPr>
          <p:cNvPr id="12" name="TextBox 11"/>
          <p:cNvSpPr txBox="1"/>
          <p:nvPr/>
        </p:nvSpPr>
        <p:spPr>
          <a:xfrm>
            <a:off x="548640" y="3008376"/>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03</a:t>
            </a:r>
          </a:p>
        </p:txBody>
      </p:sp>
      <p:sp>
        <p:nvSpPr>
          <p:cNvPr id="13" name="Rectangle 12"/>
          <p:cNvSpPr/>
          <p:nvPr/>
        </p:nvSpPr>
        <p:spPr>
          <a:xfrm>
            <a:off x="1572768" y="3145536"/>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783080" y="3063240"/>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Modélisation et résultats</a:t>
            </a:r>
          </a:p>
        </p:txBody>
      </p:sp>
      <p:sp>
        <p:nvSpPr>
          <p:cNvPr id="15" name="TextBox 14"/>
          <p:cNvSpPr txBox="1"/>
          <p:nvPr/>
        </p:nvSpPr>
        <p:spPr>
          <a:xfrm>
            <a:off x="1783080" y="3447288"/>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Scoring en points, arbre de décision, Gradient Boosting</a:t>
            </a:r>
          </a:p>
        </p:txBody>
      </p:sp>
      <p:sp>
        <p:nvSpPr>
          <p:cNvPr id="16" name="TextBox 15"/>
          <p:cNvSpPr txBox="1"/>
          <p:nvPr/>
        </p:nvSpPr>
        <p:spPr>
          <a:xfrm>
            <a:off x="548640" y="3794760"/>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04</a:t>
            </a:r>
          </a:p>
        </p:txBody>
      </p:sp>
      <p:sp>
        <p:nvSpPr>
          <p:cNvPr id="17" name="Rectangle 16"/>
          <p:cNvSpPr/>
          <p:nvPr/>
        </p:nvSpPr>
        <p:spPr>
          <a:xfrm>
            <a:off x="1572768" y="3931920"/>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783080" y="3849624"/>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Exploitation et gouvernance</a:t>
            </a:r>
          </a:p>
        </p:txBody>
      </p:sp>
      <p:sp>
        <p:nvSpPr>
          <p:cNvPr id="19" name="TextBox 18"/>
          <p:cNvSpPr txBox="1"/>
          <p:nvPr/>
        </p:nvSpPr>
        <p:spPr>
          <a:xfrm>
            <a:off x="1783080" y="4233672"/>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Module gestionnaire, boucle d'enrichissement, cadre réglementaire</a:t>
            </a:r>
          </a:p>
        </p:txBody>
      </p:sp>
      <p:sp>
        <p:nvSpPr>
          <p:cNvPr id="20" name="TextBox 19"/>
          <p:cNvSpPr txBox="1"/>
          <p:nvPr/>
        </p:nvSpPr>
        <p:spPr>
          <a:xfrm>
            <a:off x="548640" y="4581144"/>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05</a:t>
            </a:r>
          </a:p>
        </p:txBody>
      </p:sp>
      <p:sp>
        <p:nvSpPr>
          <p:cNvPr id="21" name="Rectangle 20"/>
          <p:cNvSpPr/>
          <p:nvPr/>
        </p:nvSpPr>
        <p:spPr>
          <a:xfrm>
            <a:off x="1572768" y="4718304"/>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783080" y="4636008"/>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Conclusion, limites et perspectives</a:t>
            </a:r>
          </a:p>
        </p:txBody>
      </p:sp>
      <p:sp>
        <p:nvSpPr>
          <p:cNvPr id="23" name="TextBox 22"/>
          <p:cNvSpPr txBox="1"/>
          <p:nvPr/>
        </p:nvSpPr>
        <p:spPr>
          <a:xfrm>
            <a:off x="1783080" y="5020056"/>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Regard critique et pistes de prolongement</a:t>
            </a:r>
          </a:p>
        </p:txBody>
      </p:sp>
      <p:sp>
        <p:nvSpPr>
          <p:cNvPr id="24" name="TextBox 23"/>
          <p:cNvSpPr txBox="1"/>
          <p:nvPr/>
        </p:nvSpPr>
        <p:spPr>
          <a:xfrm>
            <a:off x="548640" y="5367527"/>
            <a:ext cx="1097280" cy="640080"/>
          </a:xfrm>
          <a:prstGeom prst="rect">
            <a:avLst/>
          </a:prstGeom>
          <a:noFill/>
        </p:spPr>
        <p:txBody>
          <a:bodyPr wrap="square" lIns="36576" tIns="36576" rIns="36576" bIns="36576" anchor="t">
            <a:spAutoFit/>
          </a:bodyPr>
          <a:lstStyle/>
          <a:p>
            <a:pPr algn="l"/>
            <a:r>
              <a:rPr sz="3400" b="0" i="0">
                <a:solidFill>
                  <a:srgbClr val="A100FF"/>
                </a:solidFill>
                <a:latin typeface="Graphik Black"/>
              </a:rPr>
              <a:t>06</a:t>
            </a:r>
          </a:p>
        </p:txBody>
      </p:sp>
      <p:sp>
        <p:nvSpPr>
          <p:cNvPr id="25" name="Rectangle 24"/>
          <p:cNvSpPr/>
          <p:nvPr/>
        </p:nvSpPr>
        <p:spPr>
          <a:xfrm>
            <a:off x="1572768" y="5504688"/>
            <a:ext cx="82296" cy="274320"/>
          </a:xfrm>
          <a:prstGeom prst="rect">
            <a:avLst/>
          </a:prstGeom>
          <a:solidFill>
            <a:srgbClr val="C8C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783080" y="5422392"/>
            <a:ext cx="9144000" cy="384048"/>
          </a:xfrm>
          <a:prstGeom prst="rect">
            <a:avLst/>
          </a:prstGeom>
          <a:noFill/>
        </p:spPr>
        <p:txBody>
          <a:bodyPr wrap="square" lIns="36576" tIns="36576" rIns="36576" bIns="36576" anchor="t">
            <a:spAutoFit/>
          </a:bodyPr>
          <a:lstStyle/>
          <a:p>
            <a:pPr algn="l"/>
            <a:r>
              <a:rPr sz="2100" b="1" i="0">
                <a:solidFill>
                  <a:srgbClr val="1A1A1A"/>
                </a:solidFill>
                <a:latin typeface="Graphik"/>
              </a:rPr>
              <a:t>Annexes</a:t>
            </a:r>
          </a:p>
        </p:txBody>
      </p:sp>
      <p:sp>
        <p:nvSpPr>
          <p:cNvPr id="27" name="TextBox 26"/>
          <p:cNvSpPr txBox="1"/>
          <p:nvPr/>
        </p:nvSpPr>
        <p:spPr>
          <a:xfrm>
            <a:off x="1783080" y="5806440"/>
            <a:ext cx="9144000" cy="320040"/>
          </a:xfrm>
          <a:prstGeom prst="rect">
            <a:avLst/>
          </a:prstGeom>
          <a:noFill/>
        </p:spPr>
        <p:txBody>
          <a:bodyPr wrap="square" lIns="36576" tIns="36576" rIns="36576" bIns="36576" anchor="t">
            <a:spAutoFit/>
          </a:bodyPr>
          <a:lstStyle/>
          <a:p>
            <a:pPr algn="l"/>
            <a:r>
              <a:rPr sz="1350" b="0" i="1">
                <a:solidFill>
                  <a:srgbClr val="55555A"/>
                </a:solidFill>
                <a:latin typeface="Graphik"/>
              </a:rPr>
              <a:t>Éléments techniques complémentaires</a:t>
            </a:r>
          </a:p>
        </p:txBody>
      </p:sp>
      <p:sp>
        <p:nvSpPr>
          <p:cNvPr id="28" name="TextBox 27"/>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29" name="TextBox 2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2/23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01</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Contexte et enjeux</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La fraude, un enjeu économique que la détection manuelle ne maîtrise plus</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9A80B8"/>
                </a:solidFill>
                <a:latin typeface="Graphik"/>
              </a:rPr>
              <a:t>3/23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1. Contexte et enjeux</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La fraude à l'assurance : un coût majeur, en grande partie invisible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6446520" cy="2697480"/>
          </a:xfrm>
          <a:prstGeom prst="rect">
            <a:avLst/>
          </a:prstGeom>
          <a:solidFill>
            <a:srgbClr val="EEE0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72768"/>
            <a:ext cx="6035040" cy="1097280"/>
          </a:xfrm>
          <a:prstGeom prst="rect">
            <a:avLst/>
          </a:prstGeom>
          <a:noFill/>
        </p:spPr>
        <p:txBody>
          <a:bodyPr wrap="square" lIns="36576" tIns="36576" rIns="36576" bIns="36576" anchor="t">
            <a:spAutoFit/>
          </a:bodyPr>
          <a:lstStyle/>
          <a:p>
            <a:pPr algn="l"/>
            <a:r>
              <a:rPr sz="6600" b="0" i="0">
                <a:solidFill>
                  <a:srgbClr val="A100FF"/>
                </a:solidFill>
                <a:latin typeface="Graphik Black"/>
              </a:rPr>
              <a:t>≈ 2,5 Md€</a:t>
            </a:r>
          </a:p>
        </p:txBody>
      </p:sp>
      <p:sp>
        <p:nvSpPr>
          <p:cNvPr id="8" name="TextBox 7"/>
          <p:cNvSpPr txBox="1"/>
          <p:nvPr/>
        </p:nvSpPr>
        <p:spPr>
          <a:xfrm>
            <a:off x="822960" y="2697480"/>
            <a:ext cx="6035040" cy="365760"/>
          </a:xfrm>
          <a:prstGeom prst="rect">
            <a:avLst/>
          </a:prstGeom>
          <a:noFill/>
        </p:spPr>
        <p:txBody>
          <a:bodyPr wrap="square" lIns="36576" tIns="36576" rIns="36576" bIns="36576" anchor="t">
            <a:spAutoFit/>
          </a:bodyPr>
          <a:lstStyle/>
          <a:p>
            <a:pPr algn="l"/>
            <a:r>
              <a:rPr sz="1500" b="0" i="1">
                <a:solidFill>
                  <a:srgbClr val="55555A"/>
                </a:solidFill>
                <a:latin typeface="Graphik"/>
              </a:rPr>
              <a:t>de fraude par an en assurance de biens et de responsabilité</a:t>
            </a:r>
          </a:p>
        </p:txBody>
      </p:sp>
      <p:sp>
        <p:nvSpPr>
          <p:cNvPr id="9" name="TextBox 8"/>
          <p:cNvSpPr txBox="1"/>
          <p:nvPr/>
        </p:nvSpPr>
        <p:spPr>
          <a:xfrm>
            <a:off x="822960" y="3154680"/>
            <a:ext cx="6035040" cy="411480"/>
          </a:xfrm>
          <a:prstGeom prst="rect">
            <a:avLst/>
          </a:prstGeom>
          <a:noFill/>
        </p:spPr>
        <p:txBody>
          <a:bodyPr wrap="square" lIns="36576" tIns="36576" rIns="36576" bIns="36576" anchor="t">
            <a:spAutoFit/>
          </a:bodyPr>
          <a:lstStyle/>
          <a:p>
            <a:pPr algn="l"/>
            <a:r>
              <a:rPr sz="1800" b="1" i="0">
                <a:solidFill>
                  <a:srgbClr val="460073"/>
                </a:solidFill>
                <a:latin typeface="Graphik"/>
              </a:rPr>
              <a:t>≈ 3 % des cotisations (80,3 Md€ en 2025)</a:t>
            </a:r>
          </a:p>
        </p:txBody>
      </p:sp>
      <p:sp>
        <p:nvSpPr>
          <p:cNvPr id="10" name="TextBox 9"/>
          <p:cNvSpPr txBox="1"/>
          <p:nvPr/>
        </p:nvSpPr>
        <p:spPr>
          <a:xfrm>
            <a:off x="822960" y="3703320"/>
            <a:ext cx="6035040" cy="320040"/>
          </a:xfrm>
          <a:prstGeom prst="rect">
            <a:avLst/>
          </a:prstGeom>
          <a:noFill/>
        </p:spPr>
        <p:txBody>
          <a:bodyPr wrap="square" lIns="36576" tIns="36576" rIns="36576" bIns="36576" anchor="t">
            <a:spAutoFit/>
          </a:bodyPr>
          <a:lstStyle/>
          <a:p>
            <a:pPr algn="l"/>
            <a:r>
              <a:rPr sz="1050" b="0" i="1">
                <a:solidFill>
                  <a:srgbClr val="55555A"/>
                </a:solidFill>
                <a:latin typeface="Graphik"/>
              </a:rPr>
              <a:t>Sources : ALFA (estimation 2014, borne basse), France Assureurs (2026)</a:t>
            </a:r>
          </a:p>
        </p:txBody>
      </p:sp>
      <p:sp>
        <p:nvSpPr>
          <p:cNvPr id="11" name="Rectangle 10"/>
          <p:cNvSpPr/>
          <p:nvPr/>
        </p:nvSpPr>
        <p:spPr>
          <a:xfrm>
            <a:off x="548640" y="4343400"/>
            <a:ext cx="2075688" cy="1261872"/>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4434840"/>
            <a:ext cx="2075688" cy="502920"/>
          </a:xfrm>
          <a:prstGeom prst="rect">
            <a:avLst/>
          </a:prstGeom>
          <a:noFill/>
        </p:spPr>
        <p:txBody>
          <a:bodyPr wrap="square" lIns="36576" tIns="36576" rIns="36576" bIns="36576" anchor="t">
            <a:spAutoFit/>
          </a:bodyPr>
          <a:lstStyle/>
          <a:p>
            <a:pPr algn="ctr"/>
            <a:r>
              <a:rPr sz="2600" b="0" i="0">
                <a:solidFill>
                  <a:srgbClr val="C26EFF"/>
                </a:solidFill>
                <a:latin typeface="Graphik Black"/>
              </a:rPr>
              <a:t>947 M€</a:t>
            </a:r>
          </a:p>
        </p:txBody>
      </p:sp>
      <p:sp>
        <p:nvSpPr>
          <p:cNvPr id="13" name="TextBox 12"/>
          <p:cNvSpPr txBox="1"/>
          <p:nvPr/>
        </p:nvSpPr>
        <p:spPr>
          <a:xfrm>
            <a:off x="658368" y="4956048"/>
            <a:ext cx="1856231" cy="640080"/>
          </a:xfrm>
          <a:prstGeom prst="rect">
            <a:avLst/>
          </a:prstGeom>
          <a:noFill/>
        </p:spPr>
        <p:txBody>
          <a:bodyPr wrap="square" lIns="36576" tIns="36576" rIns="36576" bIns="36576" anchor="t">
            <a:spAutoFit/>
          </a:bodyPr>
          <a:lstStyle/>
          <a:p>
            <a:pPr algn="ctr"/>
            <a:r>
              <a:rPr sz="1200" b="0" i="1">
                <a:solidFill>
                  <a:srgbClr val="55555A"/>
                </a:solidFill>
                <a:latin typeface="Graphik"/>
              </a:rPr>
              <a:t>de fraude détectée en 2025 (+5 % sur un an)</a:t>
            </a:r>
          </a:p>
        </p:txBody>
      </p:sp>
      <p:sp>
        <p:nvSpPr>
          <p:cNvPr id="14" name="Rectangle 13"/>
          <p:cNvSpPr/>
          <p:nvPr/>
        </p:nvSpPr>
        <p:spPr>
          <a:xfrm>
            <a:off x="2734056" y="4343400"/>
            <a:ext cx="2075688" cy="1261872"/>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734056" y="4434840"/>
            <a:ext cx="2075688" cy="502920"/>
          </a:xfrm>
          <a:prstGeom prst="rect">
            <a:avLst/>
          </a:prstGeom>
          <a:noFill/>
        </p:spPr>
        <p:txBody>
          <a:bodyPr wrap="square" lIns="36576" tIns="36576" rIns="36576" bIns="36576" anchor="t">
            <a:spAutoFit/>
          </a:bodyPr>
          <a:lstStyle/>
          <a:p>
            <a:pPr algn="ctr"/>
            <a:r>
              <a:rPr sz="2600" b="0" i="0">
                <a:solidFill>
                  <a:srgbClr val="C26EFF"/>
                </a:solidFill>
                <a:latin typeface="Graphik Black"/>
              </a:rPr>
              <a:t>≈ 60 %</a:t>
            </a:r>
          </a:p>
        </p:txBody>
      </p:sp>
      <p:sp>
        <p:nvSpPr>
          <p:cNvPr id="16" name="TextBox 15"/>
          <p:cNvSpPr txBox="1"/>
          <p:nvPr/>
        </p:nvSpPr>
        <p:spPr>
          <a:xfrm>
            <a:off x="2843784" y="4956048"/>
            <a:ext cx="1856231" cy="640080"/>
          </a:xfrm>
          <a:prstGeom prst="rect">
            <a:avLst/>
          </a:prstGeom>
          <a:noFill/>
        </p:spPr>
        <p:txBody>
          <a:bodyPr wrap="square" lIns="36576" tIns="36576" rIns="36576" bIns="36576" anchor="t">
            <a:spAutoFit/>
          </a:bodyPr>
          <a:lstStyle/>
          <a:p>
            <a:pPr algn="ctr"/>
            <a:r>
              <a:rPr sz="1200" b="0" i="1">
                <a:solidFill>
                  <a:srgbClr val="55555A"/>
                </a:solidFill>
                <a:latin typeface="Graphik"/>
              </a:rPr>
              <a:t>de la fraude échapperait encore à la détection</a:t>
            </a:r>
          </a:p>
        </p:txBody>
      </p:sp>
      <p:sp>
        <p:nvSpPr>
          <p:cNvPr id="17" name="Rectangle 16"/>
          <p:cNvSpPr/>
          <p:nvPr/>
        </p:nvSpPr>
        <p:spPr>
          <a:xfrm>
            <a:off x="4919472" y="4343400"/>
            <a:ext cx="2075688" cy="1261872"/>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919472" y="4434840"/>
            <a:ext cx="2075688" cy="502920"/>
          </a:xfrm>
          <a:prstGeom prst="rect">
            <a:avLst/>
          </a:prstGeom>
          <a:noFill/>
        </p:spPr>
        <p:txBody>
          <a:bodyPr wrap="square" lIns="36576" tIns="36576" rIns="36576" bIns="36576" anchor="t">
            <a:spAutoFit/>
          </a:bodyPr>
          <a:lstStyle/>
          <a:p>
            <a:pPr algn="ctr"/>
            <a:r>
              <a:rPr sz="2600" b="0" i="0">
                <a:solidFill>
                  <a:srgbClr val="C26EFF"/>
                </a:solidFill>
                <a:latin typeface="Graphik Black"/>
              </a:rPr>
              <a:t>≈ 50 €</a:t>
            </a:r>
          </a:p>
        </p:txBody>
      </p:sp>
      <p:sp>
        <p:nvSpPr>
          <p:cNvPr id="19" name="TextBox 18"/>
          <p:cNvSpPr txBox="1"/>
          <p:nvPr/>
        </p:nvSpPr>
        <p:spPr>
          <a:xfrm>
            <a:off x="5029200" y="4956048"/>
            <a:ext cx="1856231" cy="640080"/>
          </a:xfrm>
          <a:prstGeom prst="rect">
            <a:avLst/>
          </a:prstGeom>
          <a:noFill/>
        </p:spPr>
        <p:txBody>
          <a:bodyPr wrap="square" lIns="36576" tIns="36576" rIns="36576" bIns="36576" anchor="t">
            <a:spAutoFit/>
          </a:bodyPr>
          <a:lstStyle/>
          <a:p>
            <a:pPr algn="ctr"/>
            <a:r>
              <a:rPr sz="1200" b="0" i="1">
                <a:solidFill>
                  <a:srgbClr val="55555A"/>
                </a:solidFill>
                <a:latin typeface="Graphik"/>
              </a:rPr>
              <a:t>de surprime par contrat auto pour l'assuré honnête</a:t>
            </a:r>
          </a:p>
        </p:txBody>
      </p:sp>
      <p:sp>
        <p:nvSpPr>
          <p:cNvPr id="20" name="Rectangle 19"/>
          <p:cNvSpPr/>
          <p:nvPr/>
        </p:nvSpPr>
        <p:spPr>
          <a:xfrm>
            <a:off x="7223760" y="1481328"/>
            <a:ext cx="4416552" cy="4123944"/>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evolution_fraude_auto.png"/>
          <p:cNvPicPr>
            <a:picLocks noChangeAspect="1"/>
          </p:cNvPicPr>
          <p:nvPr/>
        </p:nvPicPr>
        <p:blipFill>
          <a:blip r:embed="rId4"/>
          <a:stretch>
            <a:fillRect/>
          </a:stretch>
        </p:blipFill>
        <p:spPr>
          <a:xfrm>
            <a:off x="7315200" y="1948292"/>
            <a:ext cx="4233672" cy="2495071"/>
          </a:xfrm>
          <a:prstGeom prst="rect">
            <a:avLst/>
          </a:prstGeom>
        </p:spPr>
      </p:pic>
      <p:sp>
        <p:nvSpPr>
          <p:cNvPr id="22" name="TextBox 21"/>
          <p:cNvSpPr txBox="1"/>
          <p:nvPr/>
        </p:nvSpPr>
        <p:spPr>
          <a:xfrm>
            <a:off x="7360920" y="4892040"/>
            <a:ext cx="4160520" cy="685800"/>
          </a:xfrm>
          <a:prstGeom prst="rect">
            <a:avLst/>
          </a:prstGeom>
          <a:noFill/>
        </p:spPr>
        <p:txBody>
          <a:bodyPr wrap="square" lIns="36576" tIns="36576" rIns="36576" bIns="36576" anchor="t">
            <a:spAutoFit/>
          </a:bodyPr>
          <a:lstStyle/>
          <a:p>
            <a:pPr algn="l"/>
            <a:r>
              <a:rPr sz="1150" b="0" i="1">
                <a:solidFill>
                  <a:srgbClr val="55555A"/>
                </a:solidFill>
                <a:latin typeface="Graphik"/>
              </a:rPr>
              <a:t>La fraude automobile identifiée progresse plus vite que les prestations versées (France Assureurs / ALFA).</a:t>
            </a:r>
          </a:p>
        </p:txBody>
      </p:sp>
      <p:sp>
        <p:nvSpPr>
          <p:cNvPr id="23" name="Rectangle 22"/>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Une part majeure de la fraude échappe aux dispositifs actuels et pèse sur la mutualité.</a:t>
            </a:r>
          </a:p>
        </p:txBody>
      </p:sp>
      <p:sp>
        <p:nvSpPr>
          <p:cNvPr id="24" name="TextBox 23"/>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4/23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1. Contexte et enjeux</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 contrôle manuel se heurte à une contrainte économique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3520440" cy="2697480"/>
          </a:xfrm>
          <a:prstGeom prst="rect">
            <a:avLst/>
          </a:prstGeom>
          <a:solidFill>
            <a:srgbClr val="F2F2F4"/>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3232" y="1645920"/>
            <a:ext cx="3191256" cy="411480"/>
          </a:xfrm>
          <a:prstGeom prst="rect">
            <a:avLst/>
          </a:prstGeom>
          <a:noFill/>
        </p:spPr>
        <p:txBody>
          <a:bodyPr wrap="square" lIns="36576" tIns="36576" rIns="36576" bIns="36576" anchor="t">
            <a:spAutoFit/>
          </a:bodyPr>
          <a:lstStyle/>
          <a:p>
            <a:pPr algn="l"/>
            <a:r>
              <a:rPr sz="1600" b="1" i="0">
                <a:solidFill>
                  <a:srgbClr val="A100FF"/>
                </a:solidFill>
                <a:latin typeface="Graphik"/>
              </a:rPr>
              <a:t>Les limites du modèle actuel</a:t>
            </a:r>
          </a:p>
        </p:txBody>
      </p:sp>
      <p:sp>
        <p:nvSpPr>
          <p:cNvPr id="8" name="TextBox 7"/>
          <p:cNvSpPr txBox="1"/>
          <p:nvPr/>
        </p:nvSpPr>
        <p:spPr>
          <a:xfrm>
            <a:off x="713232" y="2084832"/>
            <a:ext cx="3191256" cy="1995220"/>
          </a:xfrm>
          <a:prstGeom prst="rect">
            <a:avLst/>
          </a:prstGeom>
          <a:noFill/>
        </p:spPr>
        <p:txBody>
          <a:bodyPr wrap="square" lIns="36576" tIns="36576" rIns="36576" bIns="36576" anchor="t">
            <a:spAutoFit/>
          </a:bodyPr>
          <a:lstStyle/>
          <a:p>
            <a:pPr algn="l">
              <a:spcAft>
                <a:spcPts val="400"/>
              </a:spcAft>
            </a:pPr>
            <a:r>
              <a:rPr sz="1300" b="1" i="0">
                <a:solidFill>
                  <a:srgbClr val="A100FF"/>
                </a:solidFill>
                <a:latin typeface="Graphik"/>
              </a:rPr>
              <a:t>•  </a:t>
            </a:r>
            <a:r>
              <a:rPr sz="1300" b="0" i="0">
                <a:solidFill>
                  <a:srgbClr val="1A1A1A"/>
                </a:solidFill>
                <a:latin typeface="Graphik"/>
              </a:rPr>
              <a:t>Seule une fraction des dossiers est contrôlée</a:t>
            </a:r>
          </a:p>
          <a:p>
            <a:pPr algn="l">
              <a:spcAft>
                <a:spcPts val="400"/>
              </a:spcAft>
            </a:pPr>
            <a:r>
              <a:rPr sz="1300" b="1" i="0">
                <a:solidFill>
                  <a:srgbClr val="A100FF"/>
                </a:solidFill>
                <a:latin typeface="Graphik"/>
              </a:rPr>
              <a:t>•  </a:t>
            </a:r>
            <a:r>
              <a:rPr sz="1300" b="0" i="0">
                <a:solidFill>
                  <a:srgbClr val="1A1A1A"/>
                </a:solidFill>
                <a:latin typeface="Graphik"/>
              </a:rPr>
              <a:t>Forte dépendance à l'expertise individuelle</a:t>
            </a:r>
          </a:p>
          <a:p>
            <a:pPr algn="l">
              <a:spcAft>
                <a:spcPts val="400"/>
              </a:spcAft>
            </a:pPr>
            <a:r>
              <a:rPr sz="1300" b="1" i="0">
                <a:solidFill>
                  <a:srgbClr val="A100FF"/>
                </a:solidFill>
                <a:latin typeface="Graphik"/>
              </a:rPr>
              <a:t>•  </a:t>
            </a:r>
            <a:r>
              <a:rPr sz="1300" b="0" i="0">
                <a:solidFill>
                  <a:srgbClr val="1A1A1A"/>
                </a:solidFill>
                <a:latin typeface="Graphik"/>
              </a:rPr>
              <a:t>Fraude de masse de faible montant non rentable à contrôler</a:t>
            </a:r>
          </a:p>
          <a:p>
            <a:pPr algn="l">
              <a:spcAft>
                <a:spcPts val="400"/>
              </a:spcAft>
            </a:pPr>
            <a:r>
              <a:rPr sz="1300" b="1" i="0">
                <a:solidFill>
                  <a:srgbClr val="A100FF"/>
                </a:solidFill>
                <a:latin typeface="Graphik"/>
              </a:rPr>
              <a:t>•  </a:t>
            </a:r>
            <a:r>
              <a:rPr sz="1300" b="0" i="0">
                <a:solidFill>
                  <a:srgbClr val="1A1A1A"/>
                </a:solidFill>
                <a:latin typeface="Graphik"/>
              </a:rPr>
              <a:t>Hausse de la fraude documentaire (39 % des cas en IARD)</a:t>
            </a:r>
          </a:p>
        </p:txBody>
      </p:sp>
      <p:sp>
        <p:nvSpPr>
          <p:cNvPr id="9" name="Rectangle 8"/>
          <p:cNvSpPr/>
          <p:nvPr/>
        </p:nvSpPr>
        <p:spPr>
          <a:xfrm>
            <a:off x="4251960" y="1481328"/>
            <a:ext cx="7388352" cy="2697480"/>
          </a:xfrm>
          <a:prstGeom prst="rect">
            <a:avLst/>
          </a:prstGeom>
          <a:solidFill>
            <a:srgbClr val="FFFF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80560" y="1600200"/>
            <a:ext cx="6949440" cy="365760"/>
          </a:xfrm>
          <a:prstGeom prst="rect">
            <a:avLst/>
          </a:prstGeom>
          <a:noFill/>
        </p:spPr>
        <p:txBody>
          <a:bodyPr wrap="square" lIns="36576" tIns="36576" rIns="36576" bIns="36576" anchor="t">
            <a:spAutoFit/>
          </a:bodyPr>
          <a:lstStyle/>
          <a:p>
            <a:pPr algn="l"/>
            <a:r>
              <a:rPr sz="1500" b="1" i="0">
                <a:solidFill>
                  <a:srgbClr val="A100FF"/>
                </a:solidFill>
                <a:latin typeface="Graphik"/>
              </a:rPr>
              <a:t>Contrôler un dossier n'est rationnel que si :</a:t>
            </a:r>
          </a:p>
        </p:txBody>
      </p:sp>
      <p:sp>
        <p:nvSpPr>
          <p:cNvPr id="11" name="TextBox 10"/>
          <p:cNvSpPr txBox="1"/>
          <p:nvPr/>
        </p:nvSpPr>
        <p:spPr>
          <a:xfrm>
            <a:off x="4480560" y="2011680"/>
            <a:ext cx="6949440" cy="640080"/>
          </a:xfrm>
          <a:prstGeom prst="rect">
            <a:avLst/>
          </a:prstGeom>
          <a:noFill/>
        </p:spPr>
        <p:txBody>
          <a:bodyPr wrap="square" lIns="36576" tIns="36576" rIns="36576" bIns="36576" anchor="t">
            <a:spAutoFit/>
          </a:bodyPr>
          <a:lstStyle/>
          <a:p>
            <a:pPr algn="ctr"/>
            <a:r>
              <a:rPr sz="2700" b="1" i="0">
                <a:solidFill>
                  <a:srgbClr val="460073"/>
                </a:solidFill>
                <a:latin typeface="Graphik"/>
              </a:rPr>
              <a:t>M</a:t>
            </a:r>
            <a:r>
              <a:rPr sz="1600" b="1" i="0" baseline="-25000">
                <a:solidFill>
                  <a:srgbClr val="460073"/>
                </a:solidFill>
                <a:latin typeface="Graphik"/>
              </a:rPr>
              <a:t>sinistre</a:t>
            </a:r>
            <a:r>
              <a:rPr sz="2700" b="1" i="0">
                <a:solidFill>
                  <a:srgbClr val="460073"/>
                </a:solidFill>
                <a:latin typeface="Graphik"/>
              </a:rPr>
              <a:t>  ×  P(Fraude | Alerte)  &gt;  C</a:t>
            </a:r>
            <a:r>
              <a:rPr sz="1600" b="1" i="0" baseline="-25000">
                <a:solidFill>
                  <a:srgbClr val="460073"/>
                </a:solidFill>
                <a:latin typeface="Graphik"/>
              </a:rPr>
              <a:t>invest</a:t>
            </a:r>
          </a:p>
        </p:txBody>
      </p:sp>
      <p:sp>
        <p:nvSpPr>
          <p:cNvPr id="12" name="TextBox 11"/>
          <p:cNvSpPr txBox="1"/>
          <p:nvPr/>
        </p:nvSpPr>
        <p:spPr>
          <a:xfrm>
            <a:off x="4480560" y="2697480"/>
            <a:ext cx="6949440" cy="320040"/>
          </a:xfrm>
          <a:prstGeom prst="rect">
            <a:avLst/>
          </a:prstGeom>
          <a:noFill/>
        </p:spPr>
        <p:txBody>
          <a:bodyPr wrap="square" lIns="36576" tIns="36576" rIns="36576" bIns="36576" anchor="t">
            <a:spAutoFit/>
          </a:bodyPr>
          <a:lstStyle/>
          <a:p>
            <a:pPr algn="ctr"/>
            <a:r>
              <a:rPr sz="1200" b="0" i="1">
                <a:solidFill>
                  <a:srgbClr val="55555A"/>
                </a:solidFill>
                <a:latin typeface="Graphik"/>
              </a:rPr>
              <a:t>P(Fraude | Alerte) : précision du dispositif de détection</a:t>
            </a:r>
          </a:p>
        </p:txBody>
      </p:sp>
      <p:sp>
        <p:nvSpPr>
          <p:cNvPr id="13" name="Rectangle 12"/>
          <p:cNvSpPr/>
          <p:nvPr/>
        </p:nvSpPr>
        <p:spPr>
          <a:xfrm>
            <a:off x="4526280" y="3127248"/>
            <a:ext cx="3291840" cy="86868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636008" y="3172968"/>
            <a:ext cx="3108960" cy="365760"/>
          </a:xfrm>
          <a:prstGeom prst="rect">
            <a:avLst/>
          </a:prstGeom>
          <a:noFill/>
        </p:spPr>
        <p:txBody>
          <a:bodyPr wrap="square" lIns="36576" tIns="36576" rIns="36576" bIns="36576" anchor="t">
            <a:spAutoFit/>
          </a:bodyPr>
          <a:lstStyle/>
          <a:p>
            <a:pPr algn="l"/>
            <a:r>
              <a:rPr sz="1300" b="1" i="0">
                <a:solidFill>
                  <a:srgbClr val="1E8E3E"/>
                </a:solidFill>
                <a:latin typeface="Graphik"/>
              </a:rPr>
              <a:t>Sinistre matériel de 1 200 €</a:t>
            </a:r>
          </a:p>
        </p:txBody>
      </p:sp>
      <p:sp>
        <p:nvSpPr>
          <p:cNvPr id="15" name="TextBox 14"/>
          <p:cNvSpPr txBox="1"/>
          <p:nvPr/>
        </p:nvSpPr>
        <p:spPr>
          <a:xfrm>
            <a:off x="4636008" y="3520440"/>
            <a:ext cx="3108960" cy="365760"/>
          </a:xfrm>
          <a:prstGeom prst="rect">
            <a:avLst/>
          </a:prstGeom>
          <a:noFill/>
        </p:spPr>
        <p:txBody>
          <a:bodyPr wrap="square" lIns="36576" tIns="36576" rIns="36576" bIns="36576" anchor="t">
            <a:spAutoFit/>
          </a:bodyPr>
          <a:lstStyle/>
          <a:p>
            <a:pPr algn="l"/>
            <a:r>
              <a:rPr sz="1250" b="0" i="0">
                <a:solidFill>
                  <a:srgbClr val="1A1A1A"/>
                </a:solidFill>
                <a:latin typeface="Graphik"/>
              </a:rPr>
              <a:t>expertise à 250 € → rentable</a:t>
            </a:r>
          </a:p>
        </p:txBody>
      </p:sp>
      <p:sp>
        <p:nvSpPr>
          <p:cNvPr id="16" name="Rectangle 15"/>
          <p:cNvSpPr/>
          <p:nvPr/>
        </p:nvSpPr>
        <p:spPr>
          <a:xfrm>
            <a:off x="8046720" y="3127248"/>
            <a:ext cx="3291840" cy="868680"/>
          </a:xfrm>
          <a:prstGeom prst="rect">
            <a:avLst/>
          </a:prstGeom>
          <a:solidFill>
            <a:srgbClr val="FC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156448" y="3172968"/>
            <a:ext cx="3108960" cy="365760"/>
          </a:xfrm>
          <a:prstGeom prst="rect">
            <a:avLst/>
          </a:prstGeom>
          <a:noFill/>
        </p:spPr>
        <p:txBody>
          <a:bodyPr wrap="square" lIns="36576" tIns="36576" rIns="36576" bIns="36576" anchor="t">
            <a:spAutoFit/>
          </a:bodyPr>
          <a:lstStyle/>
          <a:p>
            <a:pPr algn="l"/>
            <a:r>
              <a:rPr sz="1300" b="1" i="0">
                <a:solidFill>
                  <a:srgbClr val="C62828"/>
                </a:solidFill>
                <a:latin typeface="Graphik"/>
              </a:rPr>
              <a:t>Bris de glace de 400 €</a:t>
            </a:r>
          </a:p>
        </p:txBody>
      </p:sp>
      <p:sp>
        <p:nvSpPr>
          <p:cNvPr id="18" name="TextBox 17"/>
          <p:cNvSpPr txBox="1"/>
          <p:nvPr/>
        </p:nvSpPr>
        <p:spPr>
          <a:xfrm>
            <a:off x="8156448" y="3520440"/>
            <a:ext cx="3108960" cy="365760"/>
          </a:xfrm>
          <a:prstGeom prst="rect">
            <a:avLst/>
          </a:prstGeom>
          <a:noFill/>
        </p:spPr>
        <p:txBody>
          <a:bodyPr wrap="square" lIns="36576" tIns="36576" rIns="36576" bIns="36576" anchor="t">
            <a:spAutoFit/>
          </a:bodyPr>
          <a:lstStyle/>
          <a:p>
            <a:pPr algn="l"/>
            <a:r>
              <a:rPr sz="1250" b="0" i="0">
                <a:solidFill>
                  <a:srgbClr val="1A1A1A"/>
                </a:solidFill>
                <a:latin typeface="Graphik"/>
              </a:rPr>
              <a:t>contrôle humain → irrationnel</a:t>
            </a:r>
          </a:p>
        </p:txBody>
      </p:sp>
      <p:sp>
        <p:nvSpPr>
          <p:cNvPr id="19" name="Rectangle 18"/>
          <p:cNvSpPr/>
          <p:nvPr/>
        </p:nvSpPr>
        <p:spPr>
          <a:xfrm>
            <a:off x="548640" y="4370832"/>
            <a:ext cx="11094415" cy="1261872"/>
          </a:xfrm>
          <a:prstGeom prst="rect">
            <a:avLst/>
          </a:prstGeom>
          <a:solidFill>
            <a:srgbClr val="F2F2F4"/>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7240" y="4443984"/>
            <a:ext cx="3657600" cy="320040"/>
          </a:xfrm>
          <a:prstGeom prst="rect">
            <a:avLst/>
          </a:prstGeom>
          <a:noFill/>
        </p:spPr>
        <p:txBody>
          <a:bodyPr wrap="square" lIns="36576" tIns="36576" rIns="36576" bIns="36576" anchor="t">
            <a:spAutoFit/>
          </a:bodyPr>
          <a:lstStyle/>
          <a:p>
            <a:pPr algn="l"/>
            <a:r>
              <a:rPr sz="1300" b="1" i="1">
                <a:solidFill>
                  <a:srgbClr val="A100FF"/>
                </a:solidFill>
                <a:latin typeface="Graphik"/>
              </a:rPr>
              <a:t>Problématique :</a:t>
            </a:r>
          </a:p>
        </p:txBody>
      </p:sp>
      <p:sp>
        <p:nvSpPr>
          <p:cNvPr id="21" name="TextBox 20"/>
          <p:cNvSpPr txBox="1"/>
          <p:nvPr/>
        </p:nvSpPr>
        <p:spPr>
          <a:xfrm>
            <a:off x="777240" y="4736592"/>
            <a:ext cx="10637215" cy="868680"/>
          </a:xfrm>
          <a:prstGeom prst="rect">
            <a:avLst/>
          </a:prstGeom>
          <a:noFill/>
        </p:spPr>
        <p:txBody>
          <a:bodyPr wrap="square" lIns="36576" tIns="36576" rIns="36576" bIns="36576" anchor="t">
            <a:spAutoFit/>
          </a:bodyPr>
          <a:lstStyle/>
          <a:p>
            <a:pPr algn="l"/>
            <a:r>
              <a:rPr sz="1700" b="1" i="0" dirty="0">
                <a:solidFill>
                  <a:srgbClr val="1A1A1A"/>
                </a:solidFill>
                <a:latin typeface="Graphik"/>
              </a:rPr>
              <a:t>Comment </a:t>
            </a:r>
            <a:r>
              <a:rPr sz="1700" b="1" i="0" dirty="0" err="1">
                <a:solidFill>
                  <a:srgbClr val="1A1A1A"/>
                </a:solidFill>
                <a:latin typeface="Graphik"/>
              </a:rPr>
              <a:t>concevoir</a:t>
            </a:r>
            <a:r>
              <a:rPr sz="1700" b="1" i="0" dirty="0">
                <a:solidFill>
                  <a:srgbClr val="1A1A1A"/>
                </a:solidFill>
                <a:latin typeface="Graphik"/>
              </a:rPr>
              <a:t>, à </a:t>
            </a:r>
            <a:r>
              <a:rPr sz="1700" b="1" i="0" dirty="0" err="1">
                <a:solidFill>
                  <a:srgbClr val="1A1A1A"/>
                </a:solidFill>
                <a:latin typeface="Graphik"/>
              </a:rPr>
              <a:t>l'aide</a:t>
            </a:r>
            <a:r>
              <a:rPr sz="1700" b="1" i="0" dirty="0">
                <a:solidFill>
                  <a:srgbClr val="1A1A1A"/>
                </a:solidFill>
                <a:latin typeface="Graphik"/>
              </a:rPr>
              <a:t> d'un agent </a:t>
            </a:r>
            <a:r>
              <a:rPr sz="1700" b="1" i="0" dirty="0" err="1">
                <a:solidFill>
                  <a:srgbClr val="1A1A1A"/>
                </a:solidFill>
                <a:latin typeface="Graphik"/>
              </a:rPr>
              <a:t>d'intelligence</a:t>
            </a:r>
            <a:r>
              <a:rPr sz="1700" b="1" i="0" dirty="0">
                <a:solidFill>
                  <a:srgbClr val="1A1A1A"/>
                </a:solidFill>
                <a:latin typeface="Graphik"/>
              </a:rPr>
              <a:t> </a:t>
            </a:r>
            <a:r>
              <a:rPr sz="1700" b="1" i="0" dirty="0" err="1">
                <a:solidFill>
                  <a:srgbClr val="1A1A1A"/>
                </a:solidFill>
                <a:latin typeface="Graphik"/>
              </a:rPr>
              <a:t>artificielle</a:t>
            </a:r>
            <a:r>
              <a:rPr sz="1700" b="1" i="0" dirty="0">
                <a:solidFill>
                  <a:srgbClr val="1A1A1A"/>
                </a:solidFill>
                <a:latin typeface="Graphik"/>
              </a:rPr>
              <a:t>, un processus de </a:t>
            </a:r>
            <a:r>
              <a:rPr sz="1700" b="1" i="0" dirty="0" err="1">
                <a:solidFill>
                  <a:srgbClr val="1A1A1A"/>
                </a:solidFill>
                <a:latin typeface="Graphik"/>
              </a:rPr>
              <a:t>détection</a:t>
            </a:r>
            <a:r>
              <a:rPr sz="1700" b="1" i="0" dirty="0">
                <a:solidFill>
                  <a:srgbClr val="1A1A1A"/>
                </a:solidFill>
                <a:latin typeface="Graphik"/>
              </a:rPr>
              <a:t> </a:t>
            </a:r>
            <a:r>
              <a:rPr sz="1700" b="1" i="0" dirty="0" err="1">
                <a:solidFill>
                  <a:srgbClr val="1A1A1A"/>
                </a:solidFill>
                <a:latin typeface="Graphik"/>
              </a:rPr>
              <a:t>automatisée</a:t>
            </a:r>
            <a:r>
              <a:rPr sz="1700" b="1" i="0" dirty="0">
                <a:solidFill>
                  <a:srgbClr val="1A1A1A"/>
                </a:solidFill>
                <a:latin typeface="Graphik"/>
              </a:rPr>
              <a:t> de la </a:t>
            </a:r>
            <a:r>
              <a:rPr sz="1700" b="1" i="0" dirty="0" err="1">
                <a:solidFill>
                  <a:srgbClr val="1A1A1A"/>
                </a:solidFill>
                <a:latin typeface="Graphik"/>
              </a:rPr>
              <a:t>fraude</a:t>
            </a:r>
            <a:r>
              <a:rPr sz="1700" b="1" i="0" dirty="0">
                <a:solidFill>
                  <a:srgbClr val="1A1A1A"/>
                </a:solidFill>
                <a:latin typeface="Graphik"/>
              </a:rPr>
              <a:t> automobile qui </a:t>
            </a:r>
            <a:r>
              <a:rPr sz="1700" b="1" i="0" dirty="0" err="1">
                <a:solidFill>
                  <a:srgbClr val="1A1A1A"/>
                </a:solidFill>
                <a:latin typeface="Graphik"/>
              </a:rPr>
              <a:t>concilie</a:t>
            </a:r>
            <a:r>
              <a:rPr sz="1700" b="1" i="0" dirty="0">
                <a:solidFill>
                  <a:srgbClr val="1A1A1A"/>
                </a:solidFill>
                <a:latin typeface="Graphik"/>
              </a:rPr>
              <a:t> performance, </a:t>
            </a:r>
            <a:r>
              <a:rPr sz="1700" b="1" i="0" dirty="0" err="1">
                <a:solidFill>
                  <a:srgbClr val="1A1A1A"/>
                </a:solidFill>
                <a:latin typeface="Graphik"/>
              </a:rPr>
              <a:t>interprétabilité</a:t>
            </a:r>
            <a:r>
              <a:rPr sz="1700" b="1" i="0" dirty="0">
                <a:solidFill>
                  <a:srgbClr val="1A1A1A"/>
                </a:solidFill>
                <a:latin typeface="Graphik"/>
              </a:rPr>
              <a:t> et </a:t>
            </a:r>
            <a:r>
              <a:rPr sz="1700" b="1" i="0" dirty="0" err="1">
                <a:solidFill>
                  <a:srgbClr val="1A1A1A"/>
                </a:solidFill>
                <a:latin typeface="Graphik"/>
              </a:rPr>
              <a:t>conformité</a:t>
            </a:r>
            <a:r>
              <a:rPr sz="1700" b="1" i="0" dirty="0">
                <a:solidFill>
                  <a:srgbClr val="1A1A1A"/>
                </a:solidFill>
                <a:latin typeface="Graphik"/>
              </a:rPr>
              <a:t>, au service d'un arbitrage </a:t>
            </a:r>
            <a:r>
              <a:rPr sz="1700" b="1" i="0" dirty="0" err="1">
                <a:solidFill>
                  <a:srgbClr val="1A1A1A"/>
                </a:solidFill>
                <a:latin typeface="Graphik"/>
              </a:rPr>
              <a:t>coût-bénéfice</a:t>
            </a:r>
            <a:r>
              <a:rPr sz="1700" b="1" i="0" dirty="0">
                <a:solidFill>
                  <a:srgbClr val="1A1A1A"/>
                </a:solidFill>
                <a:latin typeface="Graphik"/>
              </a:rPr>
              <a:t> ?</a:t>
            </a:r>
          </a:p>
        </p:txBody>
      </p:sp>
      <p:sp>
        <p:nvSpPr>
          <p:cNvPr id="22" name="Rectangle 21"/>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Automatiser le ciblage fait baisser le coût marginal du contrôle : la fraude de masse devient contrôlable.</a:t>
            </a:r>
          </a:p>
        </p:txBody>
      </p:sp>
      <p:sp>
        <p:nvSpPr>
          <p:cNvPr id="23" name="TextBox 22"/>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5/23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02</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Données et conception
de l'outil</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Une base publique enrichie et un processus automatisé en deux temps</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9A80B8"/>
                </a:solidFill>
                <a:latin typeface="Graphik"/>
              </a:rPr>
              <a:t>6/23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2. Données et conception de l'outil</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Une base publique enrichie à l'image des données d'un assureur</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3246120" cy="4114800"/>
          </a:xfrm>
          <a:prstGeom prst="rect">
            <a:avLst/>
          </a:prstGeom>
          <a:solidFill>
            <a:srgbClr val="F2F2F4"/>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3232" y="1645920"/>
            <a:ext cx="2916936" cy="411480"/>
          </a:xfrm>
          <a:prstGeom prst="rect">
            <a:avLst/>
          </a:prstGeom>
          <a:noFill/>
        </p:spPr>
        <p:txBody>
          <a:bodyPr wrap="square" lIns="36576" tIns="36576" rIns="36576" bIns="36576" anchor="t">
            <a:spAutoFit/>
          </a:bodyPr>
          <a:lstStyle/>
          <a:p>
            <a:pPr algn="l"/>
            <a:r>
              <a:rPr sz="1700" b="1" i="0">
                <a:solidFill>
                  <a:srgbClr val="A100FF"/>
                </a:solidFill>
                <a:latin typeface="Graphik"/>
              </a:rPr>
              <a:t>Base source (Kaggle)</a:t>
            </a:r>
          </a:p>
        </p:txBody>
      </p:sp>
      <p:sp>
        <p:nvSpPr>
          <p:cNvPr id="8" name="TextBox 7"/>
          <p:cNvSpPr txBox="1"/>
          <p:nvPr/>
        </p:nvSpPr>
        <p:spPr>
          <a:xfrm>
            <a:off x="713232" y="2157984"/>
            <a:ext cx="2916936" cy="3339388"/>
          </a:xfrm>
          <a:prstGeom prst="rect">
            <a:avLst/>
          </a:prstGeom>
          <a:noFill/>
        </p:spPr>
        <p:txBody>
          <a:bodyPr wrap="square" lIns="36576" tIns="36576" rIns="36576" bIns="36576" anchor="t">
            <a:spAutoFit/>
          </a:bodyPr>
          <a:lstStyle/>
          <a:p>
            <a:pPr algn="l">
              <a:spcAft>
                <a:spcPts val="0"/>
              </a:spcAft>
            </a:pPr>
            <a:r>
              <a:rPr sz="3000" b="1" i="0">
                <a:solidFill>
                  <a:srgbClr val="A100FF"/>
                </a:solidFill>
                <a:latin typeface="Graphik Black"/>
              </a:rPr>
              <a:t>30 000</a:t>
            </a:r>
          </a:p>
          <a:p>
            <a:pPr algn="l">
              <a:spcAft>
                <a:spcPts val="0"/>
              </a:spcAft>
            </a:pPr>
            <a:r>
              <a:rPr sz="1400" b="0" i="0">
                <a:solidFill>
                  <a:srgbClr val="1A1A1A"/>
                </a:solidFill>
                <a:latin typeface="Graphik"/>
              </a:rPr>
              <a:t>sinistres automobiles</a:t>
            </a:r>
          </a:p>
          <a:p>
            <a:pPr algn="l">
              <a:spcAft>
                <a:spcPts val="0"/>
              </a:spcAft>
            </a:pPr>
            <a:endParaRPr sz="1400" b="0" i="0">
              <a:solidFill>
                <a:srgbClr val="1A1A1A"/>
              </a:solidFill>
              <a:latin typeface="Graphik"/>
            </a:endParaRPr>
          </a:p>
          <a:p>
            <a:pPr algn="l">
              <a:spcAft>
                <a:spcPts val="0"/>
              </a:spcAft>
            </a:pPr>
            <a:r>
              <a:rPr sz="3000" b="1" i="0">
                <a:solidFill>
                  <a:srgbClr val="A100FF"/>
                </a:solidFill>
                <a:latin typeface="Graphik Black"/>
              </a:rPr>
              <a:t>24</a:t>
            </a:r>
          </a:p>
          <a:p>
            <a:pPr algn="l">
              <a:spcAft>
                <a:spcPts val="0"/>
              </a:spcAft>
            </a:pPr>
            <a:r>
              <a:rPr sz="1400" b="0" i="0">
                <a:solidFill>
                  <a:srgbClr val="1A1A1A"/>
                </a:solidFill>
                <a:latin typeface="Graphik"/>
              </a:rPr>
              <a:t>variables d'origine</a:t>
            </a:r>
          </a:p>
          <a:p>
            <a:pPr algn="l">
              <a:spcAft>
                <a:spcPts val="0"/>
              </a:spcAft>
            </a:pPr>
            <a:endParaRPr sz="1400" b="0" i="0">
              <a:solidFill>
                <a:srgbClr val="1A1A1A"/>
              </a:solidFill>
              <a:latin typeface="Graphik"/>
            </a:endParaRPr>
          </a:p>
          <a:p>
            <a:pPr algn="l">
              <a:spcAft>
                <a:spcPts val="0"/>
              </a:spcAft>
            </a:pPr>
            <a:r>
              <a:rPr sz="3000" b="1" i="0">
                <a:solidFill>
                  <a:srgbClr val="A100FF"/>
                </a:solidFill>
                <a:latin typeface="Graphik Black"/>
              </a:rPr>
              <a:t>11,5 %</a:t>
            </a:r>
          </a:p>
          <a:p>
            <a:pPr algn="l">
              <a:spcAft>
                <a:spcPts val="0"/>
              </a:spcAft>
            </a:pPr>
            <a:r>
              <a:rPr sz="1400" b="0" i="0">
                <a:solidFill>
                  <a:srgbClr val="1A1A1A"/>
                </a:solidFill>
                <a:latin typeface="Graphik"/>
              </a:rPr>
              <a:t>de fraude </a:t>
            </a:r>
            <a:r>
              <a:rPr sz="1400" b="0" i="1">
                <a:solidFill>
                  <a:srgbClr val="55555A"/>
                </a:solidFill>
                <a:latin typeface="Graphik"/>
              </a:rPr>
              <a:t>(≈ 5 % sur le marché)</a:t>
            </a:r>
          </a:p>
        </p:txBody>
      </p:sp>
      <p:sp>
        <p:nvSpPr>
          <p:cNvPr id="9" name="TextBox 8"/>
          <p:cNvSpPr txBox="1"/>
          <p:nvPr/>
        </p:nvSpPr>
        <p:spPr>
          <a:xfrm>
            <a:off x="3840480" y="3246120"/>
            <a:ext cx="457200" cy="548640"/>
          </a:xfrm>
          <a:prstGeom prst="rect">
            <a:avLst/>
          </a:prstGeom>
          <a:noFill/>
        </p:spPr>
        <p:txBody>
          <a:bodyPr wrap="square" lIns="36576" tIns="36576" rIns="36576" bIns="36576" anchor="t">
            <a:spAutoFit/>
          </a:bodyPr>
          <a:lstStyle/>
          <a:p>
            <a:pPr algn="ctr"/>
            <a:r>
              <a:rPr sz="2600" b="0" i="0">
                <a:solidFill>
                  <a:srgbClr val="A100FF"/>
                </a:solidFill>
                <a:latin typeface="Graphik"/>
              </a:rPr>
              <a:t>▶</a:t>
            </a:r>
          </a:p>
        </p:txBody>
      </p:sp>
      <p:sp>
        <p:nvSpPr>
          <p:cNvPr id="10" name="Rectangle 9"/>
          <p:cNvSpPr/>
          <p:nvPr/>
        </p:nvSpPr>
        <p:spPr>
          <a:xfrm>
            <a:off x="4297680" y="1481328"/>
            <a:ext cx="4251960" cy="4114800"/>
          </a:xfrm>
          <a:prstGeom prst="rect">
            <a:avLst/>
          </a:prstGeom>
          <a:solidFill>
            <a:srgbClr val="C26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480560" y="1600200"/>
            <a:ext cx="3931920" cy="411480"/>
          </a:xfrm>
          <a:prstGeom prst="rect">
            <a:avLst/>
          </a:prstGeom>
          <a:noFill/>
        </p:spPr>
        <p:txBody>
          <a:bodyPr wrap="square" lIns="36576" tIns="36576" rIns="36576" bIns="36576" anchor="t">
            <a:spAutoFit/>
          </a:bodyPr>
          <a:lstStyle/>
          <a:p>
            <a:pPr algn="l"/>
            <a:r>
              <a:rPr sz="1700" b="1" i="0">
                <a:solidFill>
                  <a:srgbClr val="FFFFFF"/>
                </a:solidFill>
                <a:latin typeface="Graphik"/>
              </a:rPr>
              <a:t>Enrichissement simulé par l'IA</a:t>
            </a:r>
          </a:p>
        </p:txBody>
      </p:sp>
      <p:sp>
        <p:nvSpPr>
          <p:cNvPr id="12" name="TextBox 11"/>
          <p:cNvSpPr txBox="1"/>
          <p:nvPr/>
        </p:nvSpPr>
        <p:spPr>
          <a:xfrm>
            <a:off x="4480560" y="2011680"/>
            <a:ext cx="3931920" cy="502920"/>
          </a:xfrm>
          <a:prstGeom prst="rect">
            <a:avLst/>
          </a:prstGeom>
          <a:noFill/>
        </p:spPr>
        <p:txBody>
          <a:bodyPr wrap="square" lIns="36576" tIns="36576" rIns="36576" bIns="36576" anchor="t">
            <a:spAutoFit/>
          </a:bodyPr>
          <a:lstStyle/>
          <a:p>
            <a:pPr algn="l"/>
            <a:r>
              <a:rPr sz="3000" b="0" i="0">
                <a:solidFill>
                  <a:srgbClr val="FFFFFF"/>
                </a:solidFill>
                <a:latin typeface="Graphik Black"/>
              </a:rPr>
              <a:t>+29 variables</a:t>
            </a:r>
          </a:p>
        </p:txBody>
      </p:sp>
      <p:sp>
        <p:nvSpPr>
          <p:cNvPr id="13" name="Rectangle 12"/>
          <p:cNvSpPr/>
          <p:nvPr/>
        </p:nvSpPr>
        <p:spPr>
          <a:xfrm>
            <a:off x="4526280" y="2651760"/>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617720" y="2651760"/>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Historique de l'assuré</a:t>
            </a:r>
          </a:p>
        </p:txBody>
      </p:sp>
      <p:sp>
        <p:nvSpPr>
          <p:cNvPr id="15" name="Rectangle 14"/>
          <p:cNvSpPr/>
          <p:nvPr/>
        </p:nvSpPr>
        <p:spPr>
          <a:xfrm>
            <a:off x="4526280" y="3054096"/>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17720" y="3054096"/>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Contrat enrichi</a:t>
            </a:r>
          </a:p>
        </p:txBody>
      </p:sp>
      <p:sp>
        <p:nvSpPr>
          <p:cNvPr id="17" name="Rectangle 16"/>
          <p:cNvSpPr/>
          <p:nvPr/>
        </p:nvSpPr>
        <p:spPr>
          <a:xfrm>
            <a:off x="4526280" y="3456432"/>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17720" y="3456432"/>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Réseau garagiste</a:t>
            </a:r>
          </a:p>
        </p:txBody>
      </p:sp>
      <p:sp>
        <p:nvSpPr>
          <p:cNvPr id="19" name="Rectangle 18"/>
          <p:cNvSpPr/>
          <p:nvPr/>
        </p:nvSpPr>
        <p:spPr>
          <a:xfrm>
            <a:off x="4526280" y="3858768"/>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617720" y="3858768"/>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Tiers impliqué</a:t>
            </a:r>
          </a:p>
        </p:txBody>
      </p:sp>
      <p:sp>
        <p:nvSpPr>
          <p:cNvPr id="21" name="Rectangle 20"/>
          <p:cNvSpPr/>
          <p:nvPr/>
        </p:nvSpPr>
        <p:spPr>
          <a:xfrm>
            <a:off x="4526280" y="4261104"/>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617720" y="4261104"/>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Véhicule</a:t>
            </a:r>
          </a:p>
        </p:txBody>
      </p:sp>
      <p:sp>
        <p:nvSpPr>
          <p:cNvPr id="23" name="Rectangle 22"/>
          <p:cNvSpPr/>
          <p:nvPr/>
        </p:nvSpPr>
        <p:spPr>
          <a:xfrm>
            <a:off x="4526280" y="4663440"/>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17720" y="4663440"/>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Comportement déclaratif</a:t>
            </a:r>
          </a:p>
        </p:txBody>
      </p:sp>
      <p:sp>
        <p:nvSpPr>
          <p:cNvPr id="25" name="Rectangle 24"/>
          <p:cNvSpPr/>
          <p:nvPr/>
        </p:nvSpPr>
        <p:spPr>
          <a:xfrm>
            <a:off x="4526280" y="5065776"/>
            <a:ext cx="37947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617720" y="5065776"/>
            <a:ext cx="3657600" cy="329184"/>
          </a:xfrm>
          <a:prstGeom prst="rect">
            <a:avLst/>
          </a:prstGeom>
          <a:noFill/>
        </p:spPr>
        <p:txBody>
          <a:bodyPr wrap="square" lIns="36576" tIns="36576" rIns="36576" bIns="36576" anchor="ctr">
            <a:spAutoFit/>
          </a:bodyPr>
          <a:lstStyle/>
          <a:p>
            <a:pPr algn="l"/>
            <a:r>
              <a:rPr sz="1250" b="1" i="0">
                <a:solidFill>
                  <a:srgbClr val="460073"/>
                </a:solidFill>
                <a:latin typeface="Graphik"/>
              </a:rPr>
              <a:t>Géographie &amp; temporalité</a:t>
            </a:r>
          </a:p>
        </p:txBody>
      </p:sp>
      <p:sp>
        <p:nvSpPr>
          <p:cNvPr id="27" name="TextBox 26"/>
          <p:cNvSpPr txBox="1"/>
          <p:nvPr/>
        </p:nvSpPr>
        <p:spPr>
          <a:xfrm>
            <a:off x="8595360" y="3246120"/>
            <a:ext cx="457200" cy="548640"/>
          </a:xfrm>
          <a:prstGeom prst="rect">
            <a:avLst/>
          </a:prstGeom>
          <a:noFill/>
        </p:spPr>
        <p:txBody>
          <a:bodyPr wrap="square" lIns="36576" tIns="36576" rIns="36576" bIns="36576" anchor="t">
            <a:spAutoFit/>
          </a:bodyPr>
          <a:lstStyle/>
          <a:p>
            <a:pPr algn="ctr"/>
            <a:r>
              <a:rPr sz="2600" b="0" i="0">
                <a:solidFill>
                  <a:srgbClr val="A100FF"/>
                </a:solidFill>
                <a:latin typeface="Graphik"/>
              </a:rPr>
              <a:t>▶</a:t>
            </a:r>
          </a:p>
        </p:txBody>
      </p:sp>
      <p:sp>
        <p:nvSpPr>
          <p:cNvPr id="28" name="Rectangle 27"/>
          <p:cNvSpPr/>
          <p:nvPr/>
        </p:nvSpPr>
        <p:spPr>
          <a:xfrm>
            <a:off x="9052560" y="1481328"/>
            <a:ext cx="2587752" cy="4114800"/>
          </a:xfrm>
          <a:prstGeom prst="rect">
            <a:avLst/>
          </a:prstGeom>
          <a:solidFill>
            <a:srgbClr val="F2F2F4"/>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217152" y="1645920"/>
            <a:ext cx="2258568" cy="411480"/>
          </a:xfrm>
          <a:prstGeom prst="rect">
            <a:avLst/>
          </a:prstGeom>
          <a:noFill/>
        </p:spPr>
        <p:txBody>
          <a:bodyPr wrap="square" lIns="36576" tIns="36576" rIns="36576" bIns="36576" anchor="t">
            <a:spAutoFit/>
          </a:bodyPr>
          <a:lstStyle/>
          <a:p>
            <a:pPr algn="l"/>
            <a:r>
              <a:rPr sz="1700" b="1" i="0">
                <a:solidFill>
                  <a:srgbClr val="A100FF"/>
                </a:solidFill>
                <a:latin typeface="Graphik"/>
              </a:rPr>
              <a:t>Base d'étude</a:t>
            </a:r>
          </a:p>
        </p:txBody>
      </p:sp>
      <p:sp>
        <p:nvSpPr>
          <p:cNvPr id="30" name="TextBox 29"/>
          <p:cNvSpPr txBox="1"/>
          <p:nvPr/>
        </p:nvSpPr>
        <p:spPr>
          <a:xfrm>
            <a:off x="9217152" y="2157984"/>
            <a:ext cx="2258568" cy="3339388"/>
          </a:xfrm>
          <a:prstGeom prst="rect">
            <a:avLst/>
          </a:prstGeom>
          <a:noFill/>
        </p:spPr>
        <p:txBody>
          <a:bodyPr wrap="square" lIns="36576" tIns="36576" rIns="36576" bIns="36576" anchor="t">
            <a:spAutoFit/>
          </a:bodyPr>
          <a:lstStyle/>
          <a:p>
            <a:pPr algn="l">
              <a:spcAft>
                <a:spcPts val="0"/>
              </a:spcAft>
            </a:pPr>
            <a:r>
              <a:rPr sz="3000" b="1" i="0">
                <a:solidFill>
                  <a:srgbClr val="A100FF"/>
                </a:solidFill>
                <a:latin typeface="Graphik Black"/>
              </a:rPr>
              <a:t>53</a:t>
            </a:r>
          </a:p>
          <a:p>
            <a:pPr algn="l">
              <a:spcAft>
                <a:spcPts val="0"/>
              </a:spcAft>
            </a:pPr>
            <a:r>
              <a:rPr sz="1300" b="0" i="0">
                <a:solidFill>
                  <a:srgbClr val="1A1A1A"/>
                </a:solidFill>
                <a:latin typeface="Graphik"/>
              </a:rPr>
              <a:t>variables, dont la cible et 6 identifiants</a:t>
            </a:r>
          </a:p>
          <a:p>
            <a:pPr algn="l">
              <a:spcAft>
                <a:spcPts val="0"/>
              </a:spcAft>
            </a:pPr>
            <a:endParaRPr sz="1300" b="0" i="0">
              <a:solidFill>
                <a:srgbClr val="1A1A1A"/>
              </a:solidFill>
              <a:latin typeface="Graphik"/>
            </a:endParaRPr>
          </a:p>
          <a:p>
            <a:pPr algn="l">
              <a:spcAft>
                <a:spcPts val="0"/>
              </a:spcAft>
            </a:pPr>
            <a:r>
              <a:rPr sz="2400" b="1" i="0">
                <a:solidFill>
                  <a:srgbClr val="A100FF"/>
                </a:solidFill>
                <a:latin typeface="Graphik Black"/>
              </a:rPr>
              <a:t>80 / 20</a:t>
            </a:r>
          </a:p>
          <a:p>
            <a:pPr algn="l">
              <a:spcAft>
                <a:spcPts val="0"/>
              </a:spcAft>
            </a:pPr>
            <a:r>
              <a:rPr sz="1300" b="0" i="0">
                <a:solidFill>
                  <a:srgbClr val="1A1A1A"/>
                </a:solidFill>
                <a:latin typeface="Graphik"/>
              </a:rPr>
              <a:t>découpage stratifié sur la cible</a:t>
            </a:r>
          </a:p>
          <a:p>
            <a:pPr algn="l">
              <a:spcAft>
                <a:spcPts val="0"/>
              </a:spcAft>
            </a:pPr>
            <a:endParaRPr sz="1300" b="0" i="0">
              <a:solidFill>
                <a:srgbClr val="1A1A1A"/>
              </a:solidFill>
              <a:latin typeface="Graphik"/>
            </a:endParaRPr>
          </a:p>
          <a:p>
            <a:pPr algn="l">
              <a:spcAft>
                <a:spcPts val="0"/>
              </a:spcAft>
            </a:pPr>
            <a:r>
              <a:rPr sz="1500" b="1" i="0">
                <a:solidFill>
                  <a:srgbClr val="460073"/>
                </a:solidFill>
                <a:latin typeface="Graphik"/>
              </a:rPr>
              <a:t>24 000 / 6 000</a:t>
            </a:r>
          </a:p>
          <a:p>
            <a:pPr algn="l">
              <a:spcAft>
                <a:spcPts val="0"/>
              </a:spcAft>
            </a:pPr>
            <a:r>
              <a:rPr sz="1300" b="0" i="0">
                <a:solidFill>
                  <a:srgbClr val="1A1A1A"/>
                </a:solidFill>
                <a:latin typeface="Graphik"/>
              </a:rPr>
              <a:t>apprentissage / test</a:t>
            </a:r>
          </a:p>
        </p:txBody>
      </p:sp>
      <p:sp>
        <p:nvSpPr>
          <p:cNvPr id="31" name="Rectangle 30"/>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Des données construites, dont les biais sont explicités et discutés dans le mémoire.</a:t>
            </a:r>
          </a:p>
        </p:txBody>
      </p:sp>
      <p:sp>
        <p:nvSpPr>
          <p:cNvPr id="32" name="TextBox 31"/>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7/23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2. Données et conception de l'outil</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L'analyse descriptive fait émerger les déterminants de la fraude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TextBox 5"/>
          <p:cNvSpPr txBox="1"/>
          <p:nvPr/>
        </p:nvSpPr>
        <p:spPr>
          <a:xfrm>
            <a:off x="548640" y="1444752"/>
            <a:ext cx="6949440" cy="320040"/>
          </a:xfrm>
          <a:prstGeom prst="rect">
            <a:avLst/>
          </a:prstGeom>
          <a:noFill/>
        </p:spPr>
        <p:txBody>
          <a:bodyPr wrap="square" lIns="36576" tIns="36576" rIns="36576" bIns="36576" anchor="t">
            <a:spAutoFit/>
          </a:bodyPr>
          <a:lstStyle/>
          <a:p>
            <a:pPr algn="l"/>
            <a:r>
              <a:rPr sz="1300" b="0" i="1">
                <a:solidFill>
                  <a:srgbClr val="55555A"/>
                </a:solidFill>
                <a:latin typeface="Graphik"/>
              </a:rPr>
              <a:t>Taux de fraude observé selon la modalité (base d'apprentissage)</a:t>
            </a:r>
          </a:p>
        </p:txBody>
      </p:sp>
      <p:sp>
        <p:nvSpPr>
          <p:cNvPr id="7" name="Rectangle 6"/>
          <p:cNvSpPr/>
          <p:nvPr/>
        </p:nvSpPr>
        <p:spPr>
          <a:xfrm>
            <a:off x="548640" y="1810512"/>
            <a:ext cx="6949440" cy="1133856"/>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713232" y="2176272"/>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1</a:t>
            </a:r>
          </a:p>
        </p:txBody>
      </p:sp>
      <p:sp>
        <p:nvSpPr>
          <p:cNvPr id="9" name="TextBox 8"/>
          <p:cNvSpPr txBox="1"/>
          <p:nvPr/>
        </p:nvSpPr>
        <p:spPr>
          <a:xfrm>
            <a:off x="1261872" y="1920240"/>
            <a:ext cx="3291840" cy="914400"/>
          </a:xfrm>
          <a:prstGeom prst="rect">
            <a:avLst/>
          </a:prstGeom>
          <a:noFill/>
        </p:spPr>
        <p:txBody>
          <a:bodyPr wrap="square" lIns="36576" tIns="36576" rIns="36576" bIns="36576" anchor="ctr">
            <a:spAutoFit/>
          </a:bodyPr>
          <a:lstStyle/>
          <a:p>
            <a:pPr algn="l"/>
            <a:r>
              <a:rPr sz="1400" b="1" i="0">
                <a:solidFill>
                  <a:srgbClr val="1A1A1A"/>
                </a:solidFill>
                <a:latin typeface="Graphik"/>
              </a:rPr>
              <a:t>Ratio facture / prix du marché du réparateur &gt; 1,15</a:t>
            </a:r>
          </a:p>
        </p:txBody>
      </p:sp>
      <p:sp>
        <p:nvSpPr>
          <p:cNvPr id="10" name="TextBox 9"/>
          <p:cNvSpPr txBox="1"/>
          <p:nvPr/>
        </p:nvSpPr>
        <p:spPr>
          <a:xfrm>
            <a:off x="4572000" y="1901952"/>
            <a:ext cx="1417320" cy="548640"/>
          </a:xfrm>
          <a:prstGeom prst="rect">
            <a:avLst/>
          </a:prstGeom>
          <a:noFill/>
        </p:spPr>
        <p:txBody>
          <a:bodyPr wrap="square" lIns="36576" tIns="36576" rIns="36576" bIns="36576" anchor="t">
            <a:spAutoFit/>
          </a:bodyPr>
          <a:lstStyle/>
          <a:p>
            <a:pPr algn="ctr"/>
            <a:r>
              <a:rPr sz="2800" b="0" i="0">
                <a:solidFill>
                  <a:srgbClr val="C62828"/>
                </a:solidFill>
                <a:latin typeface="Graphik Black"/>
              </a:rPr>
              <a:t>48,0 %</a:t>
            </a:r>
          </a:p>
        </p:txBody>
      </p:sp>
      <p:sp>
        <p:nvSpPr>
          <p:cNvPr id="11" name="TextBox 10"/>
          <p:cNvSpPr txBox="1"/>
          <p:nvPr/>
        </p:nvSpPr>
        <p:spPr>
          <a:xfrm>
            <a:off x="4572000" y="2468880"/>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 oui</a:t>
            </a:r>
          </a:p>
        </p:txBody>
      </p:sp>
      <p:sp>
        <p:nvSpPr>
          <p:cNvPr id="12" name="TextBox 11"/>
          <p:cNvSpPr txBox="1"/>
          <p:nvPr/>
        </p:nvSpPr>
        <p:spPr>
          <a:xfrm>
            <a:off x="5989320" y="1901952"/>
            <a:ext cx="1417320" cy="548640"/>
          </a:xfrm>
          <a:prstGeom prst="rect">
            <a:avLst/>
          </a:prstGeom>
          <a:noFill/>
        </p:spPr>
        <p:txBody>
          <a:bodyPr wrap="square" lIns="36576" tIns="36576" rIns="36576" bIns="36576" anchor="t">
            <a:spAutoFit/>
          </a:bodyPr>
          <a:lstStyle/>
          <a:p>
            <a:pPr algn="ctr"/>
            <a:r>
              <a:rPr sz="2800" b="0" i="0">
                <a:solidFill>
                  <a:srgbClr val="1E8E3E"/>
                </a:solidFill>
                <a:latin typeface="Graphik Black"/>
              </a:rPr>
              <a:t>8,2 %</a:t>
            </a:r>
          </a:p>
        </p:txBody>
      </p:sp>
      <p:sp>
        <p:nvSpPr>
          <p:cNvPr id="13" name="TextBox 12"/>
          <p:cNvSpPr txBox="1"/>
          <p:nvPr/>
        </p:nvSpPr>
        <p:spPr>
          <a:xfrm>
            <a:off x="5989320" y="2468880"/>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sinon</a:t>
            </a:r>
          </a:p>
        </p:txBody>
      </p:sp>
      <p:sp>
        <p:nvSpPr>
          <p:cNvPr id="14" name="Rectangle 13"/>
          <p:cNvSpPr/>
          <p:nvPr/>
        </p:nvSpPr>
        <p:spPr>
          <a:xfrm>
            <a:off x="548640" y="3072384"/>
            <a:ext cx="6949440" cy="1133856"/>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13232" y="3438144"/>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2</a:t>
            </a:r>
          </a:p>
        </p:txBody>
      </p:sp>
      <p:sp>
        <p:nvSpPr>
          <p:cNvPr id="16" name="TextBox 15"/>
          <p:cNvSpPr txBox="1"/>
          <p:nvPr/>
        </p:nvSpPr>
        <p:spPr>
          <a:xfrm>
            <a:off x="1261872" y="3182112"/>
            <a:ext cx="3291840" cy="914400"/>
          </a:xfrm>
          <a:prstGeom prst="rect">
            <a:avLst/>
          </a:prstGeom>
          <a:noFill/>
        </p:spPr>
        <p:txBody>
          <a:bodyPr wrap="square" lIns="36576" tIns="36576" rIns="36576" bIns="36576" anchor="ctr">
            <a:spAutoFit/>
          </a:bodyPr>
          <a:lstStyle/>
          <a:p>
            <a:pPr algn="l"/>
            <a:r>
              <a:rPr sz="1400" b="1" i="0">
                <a:solidFill>
                  <a:srgbClr val="1A1A1A"/>
                </a:solidFill>
                <a:latin typeface="Graphik"/>
              </a:rPr>
              <a:t>Montant réclamé cumulé sur 3 ans &gt; 30 000 USD</a:t>
            </a:r>
          </a:p>
        </p:txBody>
      </p:sp>
      <p:sp>
        <p:nvSpPr>
          <p:cNvPr id="17" name="TextBox 16"/>
          <p:cNvSpPr txBox="1"/>
          <p:nvPr/>
        </p:nvSpPr>
        <p:spPr>
          <a:xfrm>
            <a:off x="4572000" y="3163824"/>
            <a:ext cx="1417320" cy="548640"/>
          </a:xfrm>
          <a:prstGeom prst="rect">
            <a:avLst/>
          </a:prstGeom>
          <a:noFill/>
        </p:spPr>
        <p:txBody>
          <a:bodyPr wrap="square" lIns="36576" tIns="36576" rIns="36576" bIns="36576" anchor="t">
            <a:spAutoFit/>
          </a:bodyPr>
          <a:lstStyle/>
          <a:p>
            <a:pPr algn="ctr"/>
            <a:r>
              <a:rPr sz="2800" b="0" i="0">
                <a:solidFill>
                  <a:srgbClr val="C62828"/>
                </a:solidFill>
                <a:latin typeface="Graphik Black"/>
              </a:rPr>
              <a:t>39,0 %</a:t>
            </a:r>
          </a:p>
        </p:txBody>
      </p:sp>
      <p:sp>
        <p:nvSpPr>
          <p:cNvPr id="18" name="TextBox 17"/>
          <p:cNvSpPr txBox="1"/>
          <p:nvPr/>
        </p:nvSpPr>
        <p:spPr>
          <a:xfrm>
            <a:off x="4572000" y="3730752"/>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 oui</a:t>
            </a:r>
          </a:p>
        </p:txBody>
      </p:sp>
      <p:sp>
        <p:nvSpPr>
          <p:cNvPr id="19" name="TextBox 18"/>
          <p:cNvSpPr txBox="1"/>
          <p:nvPr/>
        </p:nvSpPr>
        <p:spPr>
          <a:xfrm>
            <a:off x="5989320" y="3163824"/>
            <a:ext cx="1417320" cy="548640"/>
          </a:xfrm>
          <a:prstGeom prst="rect">
            <a:avLst/>
          </a:prstGeom>
          <a:noFill/>
        </p:spPr>
        <p:txBody>
          <a:bodyPr wrap="square" lIns="36576" tIns="36576" rIns="36576" bIns="36576" anchor="t">
            <a:spAutoFit/>
          </a:bodyPr>
          <a:lstStyle/>
          <a:p>
            <a:pPr algn="ctr"/>
            <a:r>
              <a:rPr sz="2800" b="0" i="0">
                <a:solidFill>
                  <a:srgbClr val="1E8E3E"/>
                </a:solidFill>
                <a:latin typeface="Graphik Black"/>
              </a:rPr>
              <a:t>8,6 %</a:t>
            </a:r>
          </a:p>
        </p:txBody>
      </p:sp>
      <p:sp>
        <p:nvSpPr>
          <p:cNvPr id="20" name="TextBox 19"/>
          <p:cNvSpPr txBox="1"/>
          <p:nvPr/>
        </p:nvSpPr>
        <p:spPr>
          <a:xfrm>
            <a:off x="5989320" y="3730752"/>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sinon</a:t>
            </a:r>
          </a:p>
        </p:txBody>
      </p:sp>
      <p:sp>
        <p:nvSpPr>
          <p:cNvPr id="21" name="Rectangle 20"/>
          <p:cNvSpPr/>
          <p:nvPr/>
        </p:nvSpPr>
        <p:spPr>
          <a:xfrm>
            <a:off x="548640" y="4334256"/>
            <a:ext cx="6949440" cy="1133856"/>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13232" y="4700016"/>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3</a:t>
            </a:r>
          </a:p>
        </p:txBody>
      </p:sp>
      <p:sp>
        <p:nvSpPr>
          <p:cNvPr id="23" name="TextBox 22"/>
          <p:cNvSpPr txBox="1"/>
          <p:nvPr/>
        </p:nvSpPr>
        <p:spPr>
          <a:xfrm>
            <a:off x="1261872" y="4443984"/>
            <a:ext cx="3291840" cy="914400"/>
          </a:xfrm>
          <a:prstGeom prst="rect">
            <a:avLst/>
          </a:prstGeom>
          <a:noFill/>
        </p:spPr>
        <p:txBody>
          <a:bodyPr wrap="square" lIns="36576" tIns="36576" rIns="36576" bIns="36576" anchor="ctr">
            <a:spAutoFit/>
          </a:bodyPr>
          <a:lstStyle/>
          <a:p>
            <a:pPr algn="l"/>
            <a:r>
              <a:rPr sz="1400" b="1" i="0">
                <a:solidFill>
                  <a:srgbClr val="1A1A1A"/>
                </a:solidFill>
                <a:latin typeface="Graphik"/>
              </a:rPr>
              <a:t>Au moins une fraude passée confirmée</a:t>
            </a:r>
          </a:p>
        </p:txBody>
      </p:sp>
      <p:sp>
        <p:nvSpPr>
          <p:cNvPr id="24" name="TextBox 23"/>
          <p:cNvSpPr txBox="1"/>
          <p:nvPr/>
        </p:nvSpPr>
        <p:spPr>
          <a:xfrm>
            <a:off x="4572000" y="4425696"/>
            <a:ext cx="1417320" cy="548640"/>
          </a:xfrm>
          <a:prstGeom prst="rect">
            <a:avLst/>
          </a:prstGeom>
          <a:noFill/>
        </p:spPr>
        <p:txBody>
          <a:bodyPr wrap="square" lIns="36576" tIns="36576" rIns="36576" bIns="36576" anchor="t">
            <a:spAutoFit/>
          </a:bodyPr>
          <a:lstStyle/>
          <a:p>
            <a:pPr algn="ctr"/>
            <a:r>
              <a:rPr sz="2800" b="0" i="0">
                <a:solidFill>
                  <a:srgbClr val="C62828"/>
                </a:solidFill>
                <a:latin typeface="Graphik Black"/>
              </a:rPr>
              <a:t>32,1 %</a:t>
            </a:r>
          </a:p>
        </p:txBody>
      </p:sp>
      <p:sp>
        <p:nvSpPr>
          <p:cNvPr id="25" name="TextBox 24"/>
          <p:cNvSpPr txBox="1"/>
          <p:nvPr/>
        </p:nvSpPr>
        <p:spPr>
          <a:xfrm>
            <a:off x="4572000" y="4992624"/>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 oui</a:t>
            </a:r>
          </a:p>
        </p:txBody>
      </p:sp>
      <p:sp>
        <p:nvSpPr>
          <p:cNvPr id="26" name="TextBox 25"/>
          <p:cNvSpPr txBox="1"/>
          <p:nvPr/>
        </p:nvSpPr>
        <p:spPr>
          <a:xfrm>
            <a:off x="5989320" y="4425696"/>
            <a:ext cx="1417320" cy="548640"/>
          </a:xfrm>
          <a:prstGeom prst="rect">
            <a:avLst/>
          </a:prstGeom>
          <a:noFill/>
        </p:spPr>
        <p:txBody>
          <a:bodyPr wrap="square" lIns="36576" tIns="36576" rIns="36576" bIns="36576" anchor="t">
            <a:spAutoFit/>
          </a:bodyPr>
          <a:lstStyle/>
          <a:p>
            <a:pPr algn="ctr"/>
            <a:r>
              <a:rPr sz="2800" b="0" i="0">
                <a:solidFill>
                  <a:srgbClr val="1E8E3E"/>
                </a:solidFill>
                <a:latin typeface="Graphik Black"/>
              </a:rPr>
              <a:t>8,5 %</a:t>
            </a:r>
          </a:p>
        </p:txBody>
      </p:sp>
      <p:sp>
        <p:nvSpPr>
          <p:cNvPr id="27" name="TextBox 26"/>
          <p:cNvSpPr txBox="1"/>
          <p:nvPr/>
        </p:nvSpPr>
        <p:spPr>
          <a:xfrm>
            <a:off x="5989320" y="4992624"/>
            <a:ext cx="1417320" cy="320040"/>
          </a:xfrm>
          <a:prstGeom prst="rect">
            <a:avLst/>
          </a:prstGeom>
          <a:noFill/>
        </p:spPr>
        <p:txBody>
          <a:bodyPr wrap="square" lIns="36576" tIns="36576" rIns="36576" bIns="36576" anchor="t">
            <a:spAutoFit/>
          </a:bodyPr>
          <a:lstStyle/>
          <a:p>
            <a:pPr algn="ctr"/>
            <a:r>
              <a:rPr sz="1100" b="0" i="1">
                <a:solidFill>
                  <a:srgbClr val="55555A"/>
                </a:solidFill>
                <a:latin typeface="Graphik"/>
              </a:rPr>
              <a:t>sinon</a:t>
            </a:r>
          </a:p>
        </p:txBody>
      </p:sp>
      <p:sp>
        <p:nvSpPr>
          <p:cNvPr id="28" name="Rectangle 27"/>
          <p:cNvSpPr/>
          <p:nvPr/>
        </p:nvSpPr>
        <p:spPr>
          <a:xfrm>
            <a:off x="7726679" y="1810512"/>
            <a:ext cx="3913632" cy="3657600"/>
          </a:xfrm>
          <a:prstGeom prst="rect">
            <a:avLst/>
          </a:prstGeom>
          <a:solidFill>
            <a:srgbClr val="EEE0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955279" y="1920240"/>
            <a:ext cx="3566160" cy="411480"/>
          </a:xfrm>
          <a:prstGeom prst="rect">
            <a:avLst/>
          </a:prstGeom>
          <a:noFill/>
        </p:spPr>
        <p:txBody>
          <a:bodyPr wrap="square" lIns="36576" tIns="36576" rIns="36576" bIns="36576" anchor="t">
            <a:spAutoFit/>
          </a:bodyPr>
          <a:lstStyle/>
          <a:p>
            <a:pPr algn="l"/>
            <a:r>
              <a:rPr sz="1700" b="1" i="0">
                <a:solidFill>
                  <a:srgbClr val="A100FF"/>
                </a:solidFill>
                <a:latin typeface="Graphik"/>
              </a:rPr>
              <a:t>Un constat contre-intuitif</a:t>
            </a:r>
          </a:p>
        </p:txBody>
      </p:sp>
      <p:sp>
        <p:nvSpPr>
          <p:cNvPr id="30" name="TextBox 29"/>
          <p:cNvSpPr txBox="1"/>
          <p:nvPr/>
        </p:nvSpPr>
        <p:spPr>
          <a:xfrm>
            <a:off x="7955279" y="2377440"/>
            <a:ext cx="3566160" cy="365760"/>
          </a:xfrm>
          <a:prstGeom prst="rect">
            <a:avLst/>
          </a:prstGeom>
          <a:noFill/>
        </p:spPr>
        <p:txBody>
          <a:bodyPr wrap="square" lIns="36576" tIns="36576" rIns="36576" bIns="36576" anchor="t">
            <a:spAutoFit/>
          </a:bodyPr>
          <a:lstStyle/>
          <a:p>
            <a:pPr algn="l"/>
            <a:r>
              <a:rPr sz="1300" b="0" i="1">
                <a:solidFill>
                  <a:srgbClr val="55555A"/>
                </a:solidFill>
                <a:latin typeface="Graphik"/>
              </a:rPr>
              <a:t>Coût moyen par dossier</a:t>
            </a:r>
          </a:p>
        </p:txBody>
      </p:sp>
      <p:sp>
        <p:nvSpPr>
          <p:cNvPr id="31" name="TextBox 30"/>
          <p:cNvSpPr txBox="1"/>
          <p:nvPr/>
        </p:nvSpPr>
        <p:spPr>
          <a:xfrm>
            <a:off x="7955279" y="2743200"/>
            <a:ext cx="1783080" cy="457200"/>
          </a:xfrm>
          <a:prstGeom prst="rect">
            <a:avLst/>
          </a:prstGeom>
          <a:noFill/>
        </p:spPr>
        <p:txBody>
          <a:bodyPr wrap="square" lIns="36576" tIns="36576" rIns="36576" bIns="36576" anchor="t">
            <a:spAutoFit/>
          </a:bodyPr>
          <a:lstStyle/>
          <a:p>
            <a:pPr algn="l"/>
            <a:r>
              <a:rPr sz="2600" b="0" i="0">
                <a:solidFill>
                  <a:srgbClr val="460073"/>
                </a:solidFill>
                <a:latin typeface="Graphik Black"/>
              </a:rPr>
              <a:t>12 675</a:t>
            </a:r>
          </a:p>
        </p:txBody>
      </p:sp>
      <p:sp>
        <p:nvSpPr>
          <p:cNvPr id="32" name="TextBox 31"/>
          <p:cNvSpPr txBox="1"/>
          <p:nvPr/>
        </p:nvSpPr>
        <p:spPr>
          <a:xfrm>
            <a:off x="7955279" y="3200400"/>
            <a:ext cx="1783080" cy="320040"/>
          </a:xfrm>
          <a:prstGeom prst="rect">
            <a:avLst/>
          </a:prstGeom>
          <a:noFill/>
        </p:spPr>
        <p:txBody>
          <a:bodyPr wrap="square" lIns="36576" tIns="36576" rIns="36576" bIns="36576" anchor="t">
            <a:spAutoFit/>
          </a:bodyPr>
          <a:lstStyle/>
          <a:p>
            <a:pPr algn="l"/>
            <a:r>
              <a:rPr sz="1200" b="0" i="0">
                <a:solidFill>
                  <a:srgbClr val="55555A"/>
                </a:solidFill>
                <a:latin typeface="Graphik"/>
              </a:rPr>
              <a:t>USD · fraudeurs</a:t>
            </a:r>
          </a:p>
        </p:txBody>
      </p:sp>
      <p:sp>
        <p:nvSpPr>
          <p:cNvPr id="33" name="TextBox 32"/>
          <p:cNvSpPr txBox="1"/>
          <p:nvPr/>
        </p:nvSpPr>
        <p:spPr>
          <a:xfrm>
            <a:off x="9784080" y="2743200"/>
            <a:ext cx="1783080" cy="457200"/>
          </a:xfrm>
          <a:prstGeom prst="rect">
            <a:avLst/>
          </a:prstGeom>
          <a:noFill/>
        </p:spPr>
        <p:txBody>
          <a:bodyPr wrap="square" lIns="36576" tIns="36576" rIns="36576" bIns="36576" anchor="t">
            <a:spAutoFit/>
          </a:bodyPr>
          <a:lstStyle/>
          <a:p>
            <a:pPr algn="l"/>
            <a:r>
              <a:rPr sz="2600" b="0" i="0">
                <a:solidFill>
                  <a:srgbClr val="55555A"/>
                </a:solidFill>
                <a:latin typeface="Graphik Black"/>
              </a:rPr>
              <a:t>12 768</a:t>
            </a:r>
          </a:p>
        </p:txBody>
      </p:sp>
      <p:sp>
        <p:nvSpPr>
          <p:cNvPr id="34" name="TextBox 33"/>
          <p:cNvSpPr txBox="1"/>
          <p:nvPr/>
        </p:nvSpPr>
        <p:spPr>
          <a:xfrm>
            <a:off x="9784080" y="3200400"/>
            <a:ext cx="1783080" cy="320040"/>
          </a:xfrm>
          <a:prstGeom prst="rect">
            <a:avLst/>
          </a:prstGeom>
          <a:noFill/>
        </p:spPr>
        <p:txBody>
          <a:bodyPr wrap="square" lIns="36576" tIns="36576" rIns="36576" bIns="36576" anchor="t">
            <a:spAutoFit/>
          </a:bodyPr>
          <a:lstStyle/>
          <a:p>
            <a:pPr algn="l"/>
            <a:r>
              <a:rPr sz="1200" b="0" i="0">
                <a:solidFill>
                  <a:srgbClr val="55555A"/>
                </a:solidFill>
                <a:latin typeface="Graphik"/>
              </a:rPr>
              <a:t>USD · non-fraudeurs</a:t>
            </a:r>
          </a:p>
        </p:txBody>
      </p:sp>
      <p:sp>
        <p:nvSpPr>
          <p:cNvPr id="35" name="TextBox 34"/>
          <p:cNvSpPr txBox="1"/>
          <p:nvPr/>
        </p:nvSpPr>
        <p:spPr>
          <a:xfrm>
            <a:off x="7955279" y="3703320"/>
            <a:ext cx="3566160" cy="1691640"/>
          </a:xfrm>
          <a:prstGeom prst="rect">
            <a:avLst/>
          </a:prstGeom>
          <a:noFill/>
        </p:spPr>
        <p:txBody>
          <a:bodyPr wrap="square" lIns="36576" tIns="36576" rIns="36576" bIns="36576" anchor="t">
            <a:spAutoFit/>
          </a:bodyPr>
          <a:lstStyle/>
          <a:p>
            <a:pPr algn="l"/>
            <a:r>
              <a:rPr sz="1350" b="0" i="0">
                <a:solidFill>
                  <a:srgbClr val="1A1A1A"/>
                </a:solidFill>
                <a:latin typeface="Graphik"/>
              </a:rPr>
              <a:t>La fraude ne se cache pas dans les sinistres les plus coûteux : un filtre sur le montant serait inopérant. Les signaux viennent de l'environnement du dossier (réparateur, historique, cohérence de la déclaration).</a:t>
            </a:r>
          </a:p>
        </p:txBody>
      </p:sp>
      <p:sp>
        <p:nvSpPr>
          <p:cNvPr id="36" name="Rectangle 35"/>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Aucune variable isolée ne suffit : une approche multivariée s'impose.</a:t>
            </a:r>
          </a:p>
        </p:txBody>
      </p:sp>
      <p:sp>
        <p:nvSpPr>
          <p:cNvPr id="37" name="TextBox 36"/>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8/23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2. Données et conception de l'outil</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Un processus « clé en main », en deux temps et deux profils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4206240" cy="4133087"/>
          </a:xfrm>
          <a:prstGeom prst="rect">
            <a:avLst/>
          </a:prstGeom>
          <a:solidFill>
            <a:srgbClr val="F6EF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81328"/>
            <a:ext cx="4206240"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13232" y="1527048"/>
            <a:ext cx="3931920" cy="329184"/>
          </a:xfrm>
          <a:prstGeom prst="rect">
            <a:avLst/>
          </a:prstGeom>
          <a:noFill/>
        </p:spPr>
        <p:txBody>
          <a:bodyPr wrap="square" lIns="36576" tIns="36576" rIns="36576" bIns="36576" anchor="t">
            <a:spAutoFit/>
          </a:bodyPr>
          <a:lstStyle/>
          <a:p>
            <a:pPr algn="l"/>
            <a:r>
              <a:rPr sz="1500" b="1" i="0">
                <a:solidFill>
                  <a:srgbClr val="FFFFFF"/>
                </a:solidFill>
                <a:latin typeface="Graphik"/>
              </a:rPr>
              <a:t>TEMPS 1 · Module actuaires</a:t>
            </a:r>
          </a:p>
        </p:txBody>
      </p:sp>
      <p:sp>
        <p:nvSpPr>
          <p:cNvPr id="9" name="TextBox 8"/>
          <p:cNvSpPr txBox="1"/>
          <p:nvPr/>
        </p:nvSpPr>
        <p:spPr>
          <a:xfrm>
            <a:off x="713232" y="1810512"/>
            <a:ext cx="3931920" cy="274320"/>
          </a:xfrm>
          <a:prstGeom prst="rect">
            <a:avLst/>
          </a:prstGeom>
          <a:noFill/>
        </p:spPr>
        <p:txBody>
          <a:bodyPr wrap="square" lIns="36576" tIns="36576" rIns="36576" bIns="36576" anchor="t">
            <a:spAutoFit/>
          </a:bodyPr>
          <a:lstStyle/>
          <a:p>
            <a:pPr algn="l"/>
            <a:r>
              <a:rPr sz="1150" b="0" i="1">
                <a:solidFill>
                  <a:srgbClr val="C9A6F2"/>
                </a:solidFill>
                <a:latin typeface="Graphik"/>
              </a:rPr>
              <a:t>Construction et calibrage du modèle</a:t>
            </a:r>
          </a:p>
        </p:txBody>
      </p:sp>
      <p:sp>
        <p:nvSpPr>
          <p:cNvPr id="10" name="Rectangle 9"/>
          <p:cNvSpPr/>
          <p:nvPr/>
        </p:nvSpPr>
        <p:spPr>
          <a:xfrm>
            <a:off x="749808" y="2286000"/>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59" y="2286000"/>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Ingestion standardisée des données</a:t>
            </a:r>
          </a:p>
        </p:txBody>
      </p:sp>
      <p:cxnSp>
        <p:nvCxnSpPr>
          <p:cNvPr id="12" name="Connector 11"/>
          <p:cNvCxnSpPr/>
          <p:nvPr/>
        </p:nvCxnSpPr>
        <p:spPr>
          <a:xfrm>
            <a:off x="2651760" y="2779776"/>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49808" y="2944368"/>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59" y="2944368"/>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Audit automatisé de la qualité</a:t>
            </a:r>
          </a:p>
        </p:txBody>
      </p:sp>
      <p:cxnSp>
        <p:nvCxnSpPr>
          <p:cNvPr id="15" name="Connector 14"/>
          <p:cNvCxnSpPr/>
          <p:nvPr/>
        </p:nvCxnSpPr>
        <p:spPr>
          <a:xfrm>
            <a:off x="2651760" y="3438144"/>
            <a:ext cx="0" cy="164591"/>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49808" y="3602736"/>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2959" y="3602736"/>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Analyses statistiques descriptives</a:t>
            </a:r>
          </a:p>
        </p:txBody>
      </p:sp>
      <p:cxnSp>
        <p:nvCxnSpPr>
          <p:cNvPr id="18" name="Connector 17"/>
          <p:cNvCxnSpPr/>
          <p:nvPr/>
        </p:nvCxnSpPr>
        <p:spPr>
          <a:xfrm>
            <a:off x="2651760" y="4096512"/>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49808" y="4261104"/>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2959" y="4261104"/>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Entraînement et comparaison des modèles</a:t>
            </a:r>
          </a:p>
        </p:txBody>
      </p:sp>
      <p:cxnSp>
        <p:nvCxnSpPr>
          <p:cNvPr id="21" name="Connector 20"/>
          <p:cNvCxnSpPr/>
          <p:nvPr/>
        </p:nvCxnSpPr>
        <p:spPr>
          <a:xfrm>
            <a:off x="2651760" y="4754880"/>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49808" y="4919472"/>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59" y="4919472"/>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Sélection du modèle le plus performant</a:t>
            </a:r>
          </a:p>
        </p:txBody>
      </p:sp>
      <p:sp>
        <p:nvSpPr>
          <p:cNvPr id="24" name="Rectangle 23"/>
          <p:cNvSpPr/>
          <p:nvPr/>
        </p:nvSpPr>
        <p:spPr>
          <a:xfrm>
            <a:off x="7434072" y="1481328"/>
            <a:ext cx="4206240" cy="4133087"/>
          </a:xfrm>
          <a:prstGeom prst="rect">
            <a:avLst/>
          </a:prstGeom>
          <a:solidFill>
            <a:srgbClr val="F6EF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434072" y="1481328"/>
            <a:ext cx="4206240"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598664" y="1527048"/>
            <a:ext cx="3931920" cy="329184"/>
          </a:xfrm>
          <a:prstGeom prst="rect">
            <a:avLst/>
          </a:prstGeom>
          <a:noFill/>
        </p:spPr>
        <p:txBody>
          <a:bodyPr wrap="square" lIns="36576" tIns="36576" rIns="36576" bIns="36576" anchor="t">
            <a:spAutoFit/>
          </a:bodyPr>
          <a:lstStyle/>
          <a:p>
            <a:pPr algn="l"/>
            <a:r>
              <a:rPr sz="1500" b="1" i="0">
                <a:solidFill>
                  <a:srgbClr val="FFFFFF"/>
                </a:solidFill>
                <a:latin typeface="Graphik"/>
              </a:rPr>
              <a:t>TEMPS 2 · Module gestionnaires</a:t>
            </a:r>
          </a:p>
        </p:txBody>
      </p:sp>
      <p:sp>
        <p:nvSpPr>
          <p:cNvPr id="27" name="TextBox 26"/>
          <p:cNvSpPr txBox="1"/>
          <p:nvPr/>
        </p:nvSpPr>
        <p:spPr>
          <a:xfrm>
            <a:off x="7598664" y="1810512"/>
            <a:ext cx="3931920" cy="274320"/>
          </a:xfrm>
          <a:prstGeom prst="rect">
            <a:avLst/>
          </a:prstGeom>
          <a:noFill/>
        </p:spPr>
        <p:txBody>
          <a:bodyPr wrap="square" lIns="36576" tIns="36576" rIns="36576" bIns="36576" anchor="t">
            <a:spAutoFit/>
          </a:bodyPr>
          <a:lstStyle/>
          <a:p>
            <a:pPr algn="l"/>
            <a:r>
              <a:rPr sz="1150" b="0" i="1">
                <a:solidFill>
                  <a:srgbClr val="C9A6F2"/>
                </a:solidFill>
                <a:latin typeface="Graphik"/>
              </a:rPr>
              <a:t>Exploitation au quotidien</a:t>
            </a:r>
          </a:p>
        </p:txBody>
      </p:sp>
      <p:sp>
        <p:nvSpPr>
          <p:cNvPr id="28" name="Rectangle 27"/>
          <p:cNvSpPr/>
          <p:nvPr/>
        </p:nvSpPr>
        <p:spPr>
          <a:xfrm>
            <a:off x="7635240" y="2286000"/>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08392" y="2286000"/>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Saisie du sinistre (CSV ou manuelle)</a:t>
            </a:r>
          </a:p>
        </p:txBody>
      </p:sp>
      <p:cxnSp>
        <p:nvCxnSpPr>
          <p:cNvPr id="30" name="Connector 29"/>
          <p:cNvCxnSpPr/>
          <p:nvPr/>
        </p:nvCxnSpPr>
        <p:spPr>
          <a:xfrm>
            <a:off x="9537192" y="2779776"/>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635240" y="2944368"/>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08392" y="2944368"/>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Probabilité de fraude restituée</a:t>
            </a:r>
          </a:p>
        </p:txBody>
      </p:sp>
      <p:cxnSp>
        <p:nvCxnSpPr>
          <p:cNvPr id="33" name="Connector 32"/>
          <p:cNvCxnSpPr/>
          <p:nvPr/>
        </p:nvCxnSpPr>
        <p:spPr>
          <a:xfrm>
            <a:off x="9537192" y="3438144"/>
            <a:ext cx="0" cy="164591"/>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635240" y="3602736"/>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708392" y="3602736"/>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Orientation vers une zone de risque</a:t>
            </a:r>
          </a:p>
        </p:txBody>
      </p:sp>
      <p:cxnSp>
        <p:nvCxnSpPr>
          <p:cNvPr id="36" name="Connector 35"/>
          <p:cNvCxnSpPr/>
          <p:nvPr/>
        </p:nvCxnSpPr>
        <p:spPr>
          <a:xfrm>
            <a:off x="9537192" y="4096512"/>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635240" y="4261104"/>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708392" y="4261104"/>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Investigation ciblée des dossiers</a:t>
            </a:r>
          </a:p>
        </p:txBody>
      </p:sp>
      <p:cxnSp>
        <p:nvCxnSpPr>
          <p:cNvPr id="39" name="Connector 38"/>
          <p:cNvCxnSpPr/>
          <p:nvPr/>
        </p:nvCxnSpPr>
        <p:spPr>
          <a:xfrm>
            <a:off x="9537192" y="4754880"/>
            <a:ext cx="0" cy="164592"/>
          </a:xfrm>
          <a:prstGeom prst="line">
            <a:avLst/>
          </a:prstGeom>
          <a:ln w="190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7635240" y="4919472"/>
            <a:ext cx="3803904" cy="493776"/>
          </a:xfrm>
          <a:prstGeom prst="rect">
            <a:avLst/>
          </a:prstGeom>
          <a:solidFill>
            <a:srgbClr val="FFFF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708392" y="4919472"/>
            <a:ext cx="3657600" cy="493776"/>
          </a:xfrm>
          <a:prstGeom prst="rect">
            <a:avLst/>
          </a:prstGeom>
          <a:noFill/>
        </p:spPr>
        <p:txBody>
          <a:bodyPr wrap="square" lIns="36576" tIns="36576" rIns="36576" bIns="36576" anchor="ctr">
            <a:spAutoFit/>
          </a:bodyPr>
          <a:lstStyle/>
          <a:p>
            <a:pPr algn="ctr"/>
            <a:r>
              <a:rPr sz="1250" b="1" i="0">
                <a:solidFill>
                  <a:srgbClr val="460073"/>
                </a:solidFill>
                <a:latin typeface="Graphik"/>
              </a:rPr>
              <a:t>Issue renseignée : fraude 1 / sans suite 0</a:t>
            </a:r>
          </a:p>
        </p:txBody>
      </p:sp>
      <p:sp>
        <p:nvSpPr>
          <p:cNvPr id="42" name="Rounded Rectangle 41"/>
          <p:cNvSpPr/>
          <p:nvPr/>
        </p:nvSpPr>
        <p:spPr>
          <a:xfrm>
            <a:off x="5074920" y="2788920"/>
            <a:ext cx="2039112" cy="1097280"/>
          </a:xfrm>
          <a:prstGeom prst="roundRect">
            <a:avLst>
              <a:gd name="adj" fmla="val 12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500" b="1" i="0">
                <a:solidFill>
                  <a:srgbClr val="FFFFFF"/>
                </a:solidFill>
                <a:latin typeface="Graphik"/>
              </a:rPr>
              <a:t>Modèle calibré</a:t>
            </a:r>
          </a:p>
          <a:p>
            <a:pPr algn="ctr"/>
            <a:r>
              <a:rPr sz="1250" b="0" i="0">
                <a:solidFill>
                  <a:srgbClr val="FFFFFF"/>
                </a:solidFill>
                <a:latin typeface="Graphik"/>
              </a:rPr>
              <a:t>&amp; sauvegardé</a:t>
            </a:r>
          </a:p>
        </p:txBody>
      </p:sp>
      <p:cxnSp>
        <p:nvCxnSpPr>
          <p:cNvPr id="43" name="Connector 42"/>
          <p:cNvCxnSpPr/>
          <p:nvPr/>
        </p:nvCxnSpPr>
        <p:spPr>
          <a:xfrm>
            <a:off x="4754880" y="3337560"/>
            <a:ext cx="320040" cy="0"/>
          </a:xfrm>
          <a:prstGeom prst="line">
            <a:avLst/>
          </a:prstGeom>
          <a:ln w="2540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14032" y="3337560"/>
            <a:ext cx="320040" cy="0"/>
          </a:xfrm>
          <a:prstGeom prst="line">
            <a:avLst/>
          </a:prstGeom>
          <a:ln w="2540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800600" y="4023360"/>
            <a:ext cx="2606040" cy="1554480"/>
          </a:xfrm>
          <a:prstGeom prst="rect">
            <a:avLst/>
          </a:prstGeom>
          <a:noFill/>
        </p:spPr>
        <p:txBody>
          <a:bodyPr wrap="square" lIns="36576" tIns="36576" rIns="36576" bIns="36576" anchor="t">
            <a:spAutoFit/>
          </a:bodyPr>
          <a:lstStyle/>
          <a:p>
            <a:pPr algn="ctr"/>
            <a:r>
              <a:rPr sz="1150" b="1" i="0">
                <a:solidFill>
                  <a:srgbClr val="A100FF"/>
                </a:solidFill>
                <a:latin typeface="Graphik"/>
              </a:rPr>
              <a:t>Agent d'IA</a:t>
            </a:r>
          </a:p>
          <a:p>
            <a:pPr algn="ctr"/>
            <a:r>
              <a:rPr sz="1150" b="0" i="0">
                <a:solidFill>
                  <a:srgbClr val="1A1A1A"/>
                </a:solidFill>
                <a:latin typeface="Graphik"/>
              </a:rPr>
              <a:t>piloté par un prompt décomposé en étapes : il reproduit la démarche actuarielle et trace chaque maillon.</a:t>
            </a:r>
          </a:p>
        </p:txBody>
      </p:sp>
      <p:sp>
        <p:nvSpPr>
          <p:cNvPr id="46" name="TextBox 45"/>
          <p:cNvSpPr txBox="1"/>
          <p:nvPr/>
        </p:nvSpPr>
        <p:spPr>
          <a:xfrm>
            <a:off x="4800600" y="1572768"/>
            <a:ext cx="2606040" cy="1097280"/>
          </a:xfrm>
          <a:prstGeom prst="rect">
            <a:avLst/>
          </a:prstGeom>
          <a:noFill/>
        </p:spPr>
        <p:txBody>
          <a:bodyPr wrap="square" lIns="36576" tIns="36576" rIns="36576" bIns="36576" anchor="t">
            <a:spAutoFit/>
          </a:bodyPr>
          <a:lstStyle/>
          <a:p>
            <a:pPr algn="ctr"/>
            <a:r>
              <a:rPr sz="1150" b="1" i="0">
                <a:solidFill>
                  <a:srgbClr val="A100FF"/>
                </a:solidFill>
                <a:latin typeface="Graphik"/>
              </a:rPr>
              <a:t>Boucle d'enrichissement</a:t>
            </a:r>
          </a:p>
          <a:p>
            <a:pPr algn="ctr"/>
            <a:r>
              <a:rPr sz="1150" b="0" i="0">
                <a:solidFill>
                  <a:srgbClr val="1A1A1A"/>
                </a:solidFill>
                <a:latin typeface="Graphik"/>
              </a:rPr>
              <a:t>les dossiers qualifiés reviennent nourrir la base d'apprentissage.</a:t>
            </a:r>
          </a:p>
        </p:txBody>
      </p:sp>
      <p:sp>
        <p:nvSpPr>
          <p:cNvPr id="47" name="Rectangle 46"/>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Deux modules, deux profils d'utilisateurs, deux temporalités : un seul modèle partagé.</a:t>
            </a:r>
          </a:p>
        </p:txBody>
      </p:sp>
      <p:sp>
        <p:nvSpPr>
          <p:cNvPr id="48" name="TextBox 47"/>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9/23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03</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Modélisation et résultats</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Trois modèles, un arbitrage entre interprétabilité et pouvoir prédictif</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9A80B8"/>
                </a:solidFill>
                <a:latin typeface="Graphik"/>
              </a:rPr>
              <a:t>10/23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3. Modélisation et résultats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Trois modèles pour arbitrer entre transparence et performance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3584448" cy="3035808"/>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13232" y="1554480"/>
            <a:ext cx="3255264" cy="329184"/>
          </a:xfrm>
          <a:prstGeom prst="rect">
            <a:avLst/>
          </a:prstGeom>
          <a:noFill/>
        </p:spPr>
        <p:txBody>
          <a:bodyPr wrap="square" lIns="36576" tIns="36576" rIns="36576" bIns="36576" anchor="t">
            <a:spAutoFit/>
          </a:bodyPr>
          <a:lstStyle/>
          <a:p>
            <a:pPr algn="l"/>
            <a:r>
              <a:rPr sz="1600" b="1" i="0">
                <a:solidFill>
                  <a:srgbClr val="FFFFFF"/>
                </a:solidFill>
                <a:latin typeface="Graphik"/>
              </a:rPr>
              <a:t>Scoring en points</a:t>
            </a:r>
          </a:p>
        </p:txBody>
      </p:sp>
      <p:sp>
        <p:nvSpPr>
          <p:cNvPr id="9" name="TextBox 8"/>
          <p:cNvSpPr txBox="1"/>
          <p:nvPr/>
        </p:nvSpPr>
        <p:spPr>
          <a:xfrm>
            <a:off x="713232" y="1847088"/>
            <a:ext cx="3255264" cy="274320"/>
          </a:xfrm>
          <a:prstGeom prst="rect">
            <a:avLst/>
          </a:prstGeom>
          <a:noFill/>
        </p:spPr>
        <p:txBody>
          <a:bodyPr wrap="square" lIns="36576" tIns="36576" rIns="36576" bIns="36576" anchor="t">
            <a:spAutoFit/>
          </a:bodyPr>
          <a:lstStyle/>
          <a:p>
            <a:pPr algn="l"/>
            <a:r>
              <a:rPr sz="1150" b="0" i="1">
                <a:solidFill>
                  <a:srgbClr val="C9A6F2"/>
                </a:solidFill>
                <a:latin typeface="Graphik"/>
              </a:rPr>
              <a:t>Approche actuarielle classique</a:t>
            </a:r>
          </a:p>
        </p:txBody>
      </p:sp>
      <p:sp>
        <p:nvSpPr>
          <p:cNvPr id="10" name="TextBox 9"/>
          <p:cNvSpPr txBox="1"/>
          <p:nvPr/>
        </p:nvSpPr>
        <p:spPr>
          <a:xfrm>
            <a:off x="731520" y="2276856"/>
            <a:ext cx="3218688" cy="1645919"/>
          </a:xfrm>
          <a:prstGeom prst="rect">
            <a:avLst/>
          </a:prstGeom>
          <a:noFill/>
        </p:spPr>
        <p:txBody>
          <a:bodyPr wrap="square" lIns="36576" tIns="36576" rIns="36576" bIns="36576" anchor="t">
            <a:spAutoFit/>
          </a:bodyPr>
          <a:lstStyle/>
          <a:p>
            <a:pPr algn="l">
              <a:spcAft>
                <a:spcPts val="500"/>
              </a:spcAft>
            </a:pPr>
            <a:r>
              <a:rPr sz="1250" b="1" i="0">
                <a:solidFill>
                  <a:srgbClr val="A100FF"/>
                </a:solidFill>
                <a:latin typeface="Graphik"/>
              </a:rPr>
              <a:t>•  </a:t>
            </a:r>
            <a:r>
              <a:rPr sz="1250" b="0" i="0">
                <a:solidFill>
                  <a:srgbClr val="1A1A1A"/>
                </a:solidFill>
                <a:latin typeface="Graphik"/>
              </a:rPr>
              <a:t>Discrétisation (arbre CART univarié)</a:t>
            </a:r>
          </a:p>
          <a:p>
            <a:pPr algn="l">
              <a:spcAft>
                <a:spcPts val="500"/>
              </a:spcAft>
            </a:pPr>
            <a:r>
              <a:rPr sz="1250" b="1" i="0">
                <a:solidFill>
                  <a:srgbClr val="A100FF"/>
                </a:solidFill>
                <a:latin typeface="Graphik"/>
              </a:rPr>
              <a:t>•  </a:t>
            </a:r>
            <a:r>
              <a:rPr sz="1250" b="0" i="0">
                <a:solidFill>
                  <a:srgbClr val="1A1A1A"/>
                </a:solidFill>
                <a:latin typeface="Graphik"/>
              </a:rPr>
              <a:t>Poids de la preuve (WOE) et valeur informative (IV)</a:t>
            </a:r>
          </a:p>
          <a:p>
            <a:pPr algn="l">
              <a:spcAft>
                <a:spcPts val="500"/>
              </a:spcAft>
            </a:pPr>
            <a:r>
              <a:rPr sz="1250" b="1" i="0">
                <a:solidFill>
                  <a:srgbClr val="A100FF"/>
                </a:solidFill>
                <a:latin typeface="Graphik"/>
              </a:rPr>
              <a:t>•  </a:t>
            </a:r>
            <a:r>
              <a:rPr sz="1250" b="0" i="0">
                <a:solidFill>
                  <a:srgbClr val="1A1A1A"/>
                </a:solidFill>
                <a:latin typeface="Graphik"/>
              </a:rPr>
              <a:t>Régression logistique convertie en points</a:t>
            </a:r>
          </a:p>
          <a:p>
            <a:pPr algn="l">
              <a:spcAft>
                <a:spcPts val="500"/>
              </a:spcAft>
            </a:pPr>
            <a:r>
              <a:rPr sz="1250" b="1" i="0">
                <a:solidFill>
                  <a:srgbClr val="A100FF"/>
                </a:solidFill>
                <a:latin typeface="Graphik"/>
              </a:rPr>
              <a:t>•  </a:t>
            </a:r>
            <a:r>
              <a:rPr sz="1250" b="0" i="0">
                <a:solidFill>
                  <a:srgbClr val="1A1A1A"/>
                </a:solidFill>
                <a:latin typeface="Graphik"/>
              </a:rPr>
              <a:t>20 variables retenues sur 39</a:t>
            </a:r>
          </a:p>
        </p:txBody>
      </p:sp>
      <p:sp>
        <p:nvSpPr>
          <p:cNvPr id="11" name="Rectangle 10"/>
          <p:cNvSpPr/>
          <p:nvPr/>
        </p:nvSpPr>
        <p:spPr>
          <a:xfrm>
            <a:off x="685800" y="4059935"/>
            <a:ext cx="3310128" cy="329184"/>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Graphik"/>
              </a:rPr>
              <a:t>Lisible, auditable, additif</a:t>
            </a:r>
          </a:p>
        </p:txBody>
      </p:sp>
      <p:sp>
        <p:nvSpPr>
          <p:cNvPr id="12" name="Rectangle 11"/>
          <p:cNvSpPr/>
          <p:nvPr/>
        </p:nvSpPr>
        <p:spPr>
          <a:xfrm>
            <a:off x="4297679" y="1481328"/>
            <a:ext cx="3584448" cy="3035808"/>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297679"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62271" y="1554480"/>
            <a:ext cx="3255264" cy="329184"/>
          </a:xfrm>
          <a:prstGeom prst="rect">
            <a:avLst/>
          </a:prstGeom>
          <a:noFill/>
        </p:spPr>
        <p:txBody>
          <a:bodyPr wrap="square" lIns="36576" tIns="36576" rIns="36576" bIns="36576" anchor="t">
            <a:spAutoFit/>
          </a:bodyPr>
          <a:lstStyle/>
          <a:p>
            <a:pPr algn="l"/>
            <a:r>
              <a:rPr sz="1600" b="1" i="0">
                <a:solidFill>
                  <a:srgbClr val="FFFFFF"/>
                </a:solidFill>
                <a:latin typeface="Graphik"/>
              </a:rPr>
              <a:t>Arbre de décision (CART)</a:t>
            </a:r>
          </a:p>
        </p:txBody>
      </p:sp>
      <p:sp>
        <p:nvSpPr>
          <p:cNvPr id="15" name="TextBox 14"/>
          <p:cNvSpPr txBox="1"/>
          <p:nvPr/>
        </p:nvSpPr>
        <p:spPr>
          <a:xfrm>
            <a:off x="4462271" y="1847088"/>
            <a:ext cx="3255264" cy="274320"/>
          </a:xfrm>
          <a:prstGeom prst="rect">
            <a:avLst/>
          </a:prstGeom>
          <a:noFill/>
        </p:spPr>
        <p:txBody>
          <a:bodyPr wrap="square" lIns="36576" tIns="36576" rIns="36576" bIns="36576" anchor="t">
            <a:spAutoFit/>
          </a:bodyPr>
          <a:lstStyle/>
          <a:p>
            <a:pPr algn="l"/>
            <a:r>
              <a:rPr sz="1150" b="0" i="1">
                <a:solidFill>
                  <a:srgbClr val="C9A6F2"/>
                </a:solidFill>
                <a:latin typeface="Graphik"/>
              </a:rPr>
              <a:t>Partitionnement récursif</a:t>
            </a:r>
          </a:p>
        </p:txBody>
      </p:sp>
      <p:sp>
        <p:nvSpPr>
          <p:cNvPr id="16" name="TextBox 15"/>
          <p:cNvSpPr txBox="1"/>
          <p:nvPr/>
        </p:nvSpPr>
        <p:spPr>
          <a:xfrm>
            <a:off x="4480559" y="2276856"/>
            <a:ext cx="3218688" cy="1228028"/>
          </a:xfrm>
          <a:prstGeom prst="rect">
            <a:avLst/>
          </a:prstGeom>
          <a:noFill/>
        </p:spPr>
        <p:txBody>
          <a:bodyPr wrap="square" lIns="36576" tIns="36576" rIns="36576" bIns="36576" anchor="t">
            <a:spAutoFit/>
          </a:bodyPr>
          <a:lstStyle/>
          <a:p>
            <a:pPr algn="l">
              <a:spcAft>
                <a:spcPts val="500"/>
              </a:spcAft>
            </a:pPr>
            <a:r>
              <a:rPr sz="1250" b="1" i="0" dirty="0">
                <a:solidFill>
                  <a:srgbClr val="A100FF"/>
                </a:solidFill>
                <a:latin typeface="Graphik"/>
              </a:rPr>
              <a:t>•  </a:t>
            </a:r>
            <a:r>
              <a:rPr sz="1250" b="0" i="0" dirty="0" err="1">
                <a:solidFill>
                  <a:srgbClr val="1A1A1A"/>
                </a:solidFill>
                <a:latin typeface="Graphik"/>
              </a:rPr>
              <a:t>Coupures</a:t>
            </a:r>
            <a:r>
              <a:rPr sz="1250" b="0" i="0" dirty="0">
                <a:solidFill>
                  <a:srgbClr val="1A1A1A"/>
                </a:solidFill>
                <a:latin typeface="Graphik"/>
              </a:rPr>
              <a:t> </a:t>
            </a:r>
            <a:r>
              <a:rPr sz="1250" b="0" i="0" dirty="0" err="1">
                <a:solidFill>
                  <a:srgbClr val="1A1A1A"/>
                </a:solidFill>
                <a:latin typeface="Graphik"/>
              </a:rPr>
              <a:t>successives</a:t>
            </a:r>
            <a:r>
              <a:rPr sz="1250" b="0" i="0" dirty="0">
                <a:solidFill>
                  <a:srgbClr val="1A1A1A"/>
                </a:solidFill>
                <a:latin typeface="Graphik"/>
              </a:rPr>
              <a:t> </a:t>
            </a:r>
            <a:r>
              <a:rPr sz="1250" b="0" i="0" dirty="0" err="1">
                <a:solidFill>
                  <a:srgbClr val="1A1A1A"/>
                </a:solidFill>
                <a:latin typeface="Graphik"/>
              </a:rPr>
              <a:t>selon</a:t>
            </a:r>
            <a:r>
              <a:rPr sz="1250" b="0" i="0" dirty="0">
                <a:solidFill>
                  <a:srgbClr val="1A1A1A"/>
                </a:solidFill>
                <a:latin typeface="Graphik"/>
              </a:rPr>
              <a:t> </a:t>
            </a:r>
            <a:r>
              <a:rPr sz="1250" b="0" i="0" dirty="0" err="1">
                <a:solidFill>
                  <a:srgbClr val="1A1A1A"/>
                </a:solidFill>
                <a:latin typeface="Graphik"/>
              </a:rPr>
              <a:t>l'indice</a:t>
            </a:r>
            <a:r>
              <a:rPr sz="1250" b="0" i="0" dirty="0">
                <a:solidFill>
                  <a:srgbClr val="1A1A1A"/>
                </a:solidFill>
                <a:latin typeface="Graphik"/>
              </a:rPr>
              <a:t> de Gini</a:t>
            </a:r>
          </a:p>
          <a:p>
            <a:pPr algn="l">
              <a:spcAft>
                <a:spcPts val="500"/>
              </a:spcAft>
            </a:pPr>
            <a:r>
              <a:rPr sz="1250" b="1" i="0" dirty="0">
                <a:solidFill>
                  <a:srgbClr val="A100FF"/>
                </a:solidFill>
                <a:latin typeface="Graphik"/>
              </a:rPr>
              <a:t>•  </a:t>
            </a:r>
            <a:r>
              <a:rPr sz="1250" b="0" i="0" dirty="0" err="1">
                <a:solidFill>
                  <a:srgbClr val="1A1A1A"/>
                </a:solidFill>
                <a:latin typeface="Graphik"/>
              </a:rPr>
              <a:t>Profondeur</a:t>
            </a:r>
            <a:r>
              <a:rPr sz="1250" b="0" i="0" dirty="0">
                <a:solidFill>
                  <a:srgbClr val="1A1A1A"/>
                </a:solidFill>
                <a:latin typeface="Graphik"/>
              </a:rPr>
              <a:t> 7 </a:t>
            </a:r>
            <a:r>
              <a:rPr lang="fr-FR" sz="1250" b="0" i="0" dirty="0">
                <a:solidFill>
                  <a:srgbClr val="1A1A1A"/>
                </a:solidFill>
                <a:latin typeface="Graphik"/>
              </a:rPr>
              <a:t>;</a:t>
            </a:r>
            <a:r>
              <a:rPr sz="1250" b="0" i="0" dirty="0">
                <a:solidFill>
                  <a:srgbClr val="1A1A1A"/>
                </a:solidFill>
                <a:latin typeface="Graphik"/>
              </a:rPr>
              <a:t> 68 </a:t>
            </a:r>
            <a:r>
              <a:rPr sz="1250" b="0" i="0" dirty="0" err="1">
                <a:solidFill>
                  <a:srgbClr val="1A1A1A"/>
                </a:solidFill>
                <a:latin typeface="Graphik"/>
              </a:rPr>
              <a:t>feuilles</a:t>
            </a:r>
            <a:endParaRPr sz="1250" b="0" i="0" dirty="0">
              <a:solidFill>
                <a:srgbClr val="1A1A1A"/>
              </a:solidFill>
              <a:latin typeface="Graphik"/>
            </a:endParaRPr>
          </a:p>
          <a:p>
            <a:pPr algn="l">
              <a:spcAft>
                <a:spcPts val="500"/>
              </a:spcAft>
            </a:pPr>
            <a:r>
              <a:rPr sz="1250" b="1" i="0" dirty="0">
                <a:solidFill>
                  <a:srgbClr val="A100FF"/>
                </a:solidFill>
                <a:latin typeface="Graphik"/>
              </a:rPr>
              <a:t>•  </a:t>
            </a:r>
            <a:r>
              <a:rPr sz="1250" b="0" i="0" dirty="0" err="1">
                <a:solidFill>
                  <a:srgbClr val="1A1A1A"/>
                </a:solidFill>
                <a:latin typeface="Graphik"/>
              </a:rPr>
              <a:t>Chaque</a:t>
            </a:r>
            <a:r>
              <a:rPr sz="1250" b="0" i="0" dirty="0">
                <a:solidFill>
                  <a:srgbClr val="1A1A1A"/>
                </a:solidFill>
                <a:latin typeface="Graphik"/>
              </a:rPr>
              <a:t> </a:t>
            </a:r>
            <a:r>
              <a:rPr sz="1250" b="0" i="0" dirty="0" err="1">
                <a:solidFill>
                  <a:srgbClr val="1A1A1A"/>
                </a:solidFill>
                <a:latin typeface="Graphik"/>
              </a:rPr>
              <a:t>feuille</a:t>
            </a:r>
            <a:r>
              <a:rPr sz="1250" b="0" i="0" dirty="0">
                <a:solidFill>
                  <a:srgbClr val="1A1A1A"/>
                </a:solidFill>
                <a:latin typeface="Graphik"/>
              </a:rPr>
              <a:t> = un </a:t>
            </a:r>
            <a:r>
              <a:rPr sz="1250" b="0" i="0" dirty="0" err="1">
                <a:solidFill>
                  <a:srgbClr val="1A1A1A"/>
                </a:solidFill>
                <a:latin typeface="Graphik"/>
              </a:rPr>
              <a:t>profil</a:t>
            </a:r>
            <a:r>
              <a:rPr sz="1250" b="0" i="0" dirty="0">
                <a:solidFill>
                  <a:srgbClr val="1A1A1A"/>
                </a:solidFill>
                <a:latin typeface="Graphik"/>
              </a:rPr>
              <a:t> de </a:t>
            </a:r>
            <a:r>
              <a:rPr sz="1250" b="0" i="0" dirty="0" err="1">
                <a:solidFill>
                  <a:srgbClr val="1A1A1A"/>
                </a:solidFill>
                <a:latin typeface="Graphik"/>
              </a:rPr>
              <a:t>risque</a:t>
            </a:r>
            <a:endParaRPr sz="1250" b="0" i="0" dirty="0">
              <a:solidFill>
                <a:srgbClr val="1A1A1A"/>
              </a:solidFill>
              <a:latin typeface="Graphik"/>
            </a:endParaRPr>
          </a:p>
          <a:p>
            <a:pPr algn="l">
              <a:spcAft>
                <a:spcPts val="500"/>
              </a:spcAft>
            </a:pPr>
            <a:r>
              <a:rPr sz="1250" b="1" i="0" dirty="0">
                <a:solidFill>
                  <a:srgbClr val="A100FF"/>
                </a:solidFill>
                <a:latin typeface="Graphik"/>
              </a:rPr>
              <a:t>•  </a:t>
            </a:r>
            <a:r>
              <a:rPr sz="1250" b="0" i="0" dirty="0">
                <a:solidFill>
                  <a:srgbClr val="1A1A1A"/>
                </a:solidFill>
                <a:latin typeface="Graphik"/>
              </a:rPr>
              <a:t>Lecture </a:t>
            </a:r>
            <a:r>
              <a:rPr sz="1250" b="0" i="0" dirty="0" err="1">
                <a:solidFill>
                  <a:srgbClr val="1A1A1A"/>
                </a:solidFill>
                <a:latin typeface="Graphik"/>
              </a:rPr>
              <a:t>directe</a:t>
            </a:r>
            <a:r>
              <a:rPr sz="1250" b="0" i="0" dirty="0">
                <a:solidFill>
                  <a:srgbClr val="1A1A1A"/>
                </a:solidFill>
                <a:latin typeface="Graphik"/>
              </a:rPr>
              <a:t> des </a:t>
            </a:r>
            <a:r>
              <a:rPr sz="1250" b="0" i="0" dirty="0" err="1">
                <a:solidFill>
                  <a:srgbClr val="1A1A1A"/>
                </a:solidFill>
                <a:latin typeface="Graphik"/>
              </a:rPr>
              <a:t>règles</a:t>
            </a:r>
            <a:endParaRPr sz="1250" b="0" i="0" dirty="0">
              <a:solidFill>
                <a:srgbClr val="1A1A1A"/>
              </a:solidFill>
              <a:latin typeface="Graphik"/>
            </a:endParaRPr>
          </a:p>
        </p:txBody>
      </p:sp>
      <p:sp>
        <p:nvSpPr>
          <p:cNvPr id="17" name="Rectangle 16"/>
          <p:cNvSpPr/>
          <p:nvPr/>
        </p:nvSpPr>
        <p:spPr>
          <a:xfrm>
            <a:off x="4434840" y="4059935"/>
            <a:ext cx="3310128" cy="329184"/>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Graphik"/>
              </a:rPr>
              <a:t>Intuitif mais instable</a:t>
            </a:r>
          </a:p>
        </p:txBody>
      </p:sp>
      <p:sp>
        <p:nvSpPr>
          <p:cNvPr id="18" name="Rectangle 17"/>
          <p:cNvSpPr/>
          <p:nvPr/>
        </p:nvSpPr>
        <p:spPr>
          <a:xfrm>
            <a:off x="8046719" y="1481328"/>
            <a:ext cx="3584448" cy="3035808"/>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046719"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11311" y="1554480"/>
            <a:ext cx="3255264" cy="329184"/>
          </a:xfrm>
          <a:prstGeom prst="rect">
            <a:avLst/>
          </a:prstGeom>
          <a:noFill/>
        </p:spPr>
        <p:txBody>
          <a:bodyPr wrap="square" lIns="36576" tIns="36576" rIns="36576" bIns="36576" anchor="t">
            <a:spAutoFit/>
          </a:bodyPr>
          <a:lstStyle/>
          <a:p>
            <a:pPr algn="l"/>
            <a:r>
              <a:rPr sz="1600" b="1" i="0">
                <a:solidFill>
                  <a:srgbClr val="FFFFFF"/>
                </a:solidFill>
                <a:latin typeface="Graphik"/>
              </a:rPr>
              <a:t>Gradient Boosting</a:t>
            </a:r>
          </a:p>
        </p:txBody>
      </p:sp>
      <p:sp>
        <p:nvSpPr>
          <p:cNvPr id="21" name="TextBox 20"/>
          <p:cNvSpPr txBox="1"/>
          <p:nvPr/>
        </p:nvSpPr>
        <p:spPr>
          <a:xfrm>
            <a:off x="8211311" y="1847088"/>
            <a:ext cx="3255264" cy="274320"/>
          </a:xfrm>
          <a:prstGeom prst="rect">
            <a:avLst/>
          </a:prstGeom>
          <a:noFill/>
        </p:spPr>
        <p:txBody>
          <a:bodyPr wrap="square" lIns="36576" tIns="36576" rIns="36576" bIns="36576" anchor="t">
            <a:spAutoFit/>
          </a:bodyPr>
          <a:lstStyle/>
          <a:p>
            <a:pPr algn="l"/>
            <a:r>
              <a:rPr sz="1150" b="0" i="1">
                <a:solidFill>
                  <a:srgbClr val="C9A6F2"/>
                </a:solidFill>
                <a:latin typeface="Graphik"/>
              </a:rPr>
              <a:t>Méthode d'ensemble séquentielle</a:t>
            </a:r>
          </a:p>
        </p:txBody>
      </p:sp>
      <p:sp>
        <p:nvSpPr>
          <p:cNvPr id="22" name="TextBox 21"/>
          <p:cNvSpPr txBox="1"/>
          <p:nvPr/>
        </p:nvSpPr>
        <p:spPr>
          <a:xfrm>
            <a:off x="8229599" y="2276856"/>
            <a:ext cx="3218688" cy="1645919"/>
          </a:xfrm>
          <a:prstGeom prst="rect">
            <a:avLst/>
          </a:prstGeom>
          <a:noFill/>
        </p:spPr>
        <p:txBody>
          <a:bodyPr wrap="square" lIns="36576" tIns="36576" rIns="36576" bIns="36576" anchor="t">
            <a:spAutoFit/>
          </a:bodyPr>
          <a:lstStyle/>
          <a:p>
            <a:pPr algn="l">
              <a:spcAft>
                <a:spcPts val="500"/>
              </a:spcAft>
            </a:pPr>
            <a:r>
              <a:rPr sz="1250" b="1" i="0">
                <a:solidFill>
                  <a:srgbClr val="A100FF"/>
                </a:solidFill>
                <a:latin typeface="Graphik"/>
              </a:rPr>
              <a:t>•  </a:t>
            </a:r>
            <a:r>
              <a:rPr sz="1250" b="0" i="0">
                <a:solidFill>
                  <a:srgbClr val="1A1A1A"/>
                </a:solidFill>
                <a:latin typeface="Graphik"/>
              </a:rPr>
              <a:t>200 arbres de profondeur 3</a:t>
            </a:r>
          </a:p>
          <a:p>
            <a:pPr algn="l">
              <a:spcAft>
                <a:spcPts val="500"/>
              </a:spcAft>
            </a:pPr>
            <a:r>
              <a:rPr sz="1250" b="1" i="0">
                <a:solidFill>
                  <a:srgbClr val="A100FF"/>
                </a:solidFill>
                <a:latin typeface="Graphik"/>
              </a:rPr>
              <a:t>•  </a:t>
            </a:r>
            <a:r>
              <a:rPr sz="1250" b="0" i="0">
                <a:solidFill>
                  <a:srgbClr val="1A1A1A"/>
                </a:solidFill>
                <a:latin typeface="Graphik"/>
              </a:rPr>
              <a:t>Chaque arbre corrige les erreurs résiduelles</a:t>
            </a:r>
          </a:p>
          <a:p>
            <a:pPr algn="l">
              <a:spcAft>
                <a:spcPts val="500"/>
              </a:spcAft>
            </a:pPr>
            <a:r>
              <a:rPr sz="1250" b="1" i="0">
                <a:solidFill>
                  <a:srgbClr val="A100FF"/>
                </a:solidFill>
                <a:latin typeface="Graphik"/>
              </a:rPr>
              <a:t>•  </a:t>
            </a:r>
            <a:r>
              <a:rPr sz="1250" b="0" i="0">
                <a:solidFill>
                  <a:srgbClr val="1A1A1A"/>
                </a:solidFill>
                <a:latin typeface="Graphik"/>
              </a:rPr>
              <a:t>Taux d'apprentissage 0,1 · sous-échantillonnage 0,8</a:t>
            </a:r>
          </a:p>
          <a:p>
            <a:pPr algn="l">
              <a:spcAft>
                <a:spcPts val="500"/>
              </a:spcAft>
            </a:pPr>
            <a:r>
              <a:rPr sz="1250" b="1" i="0">
                <a:solidFill>
                  <a:srgbClr val="A100FF"/>
                </a:solidFill>
                <a:latin typeface="Graphik"/>
              </a:rPr>
              <a:t>•  </a:t>
            </a:r>
            <a:r>
              <a:rPr sz="1250" b="0" i="0">
                <a:solidFill>
                  <a:srgbClr val="1A1A1A"/>
                </a:solidFill>
                <a:latin typeface="Graphik"/>
              </a:rPr>
              <a:t>45 variables en entrée</a:t>
            </a:r>
          </a:p>
        </p:txBody>
      </p:sp>
      <p:sp>
        <p:nvSpPr>
          <p:cNvPr id="23" name="Rectangle 22"/>
          <p:cNvSpPr/>
          <p:nvPr/>
        </p:nvSpPr>
        <p:spPr>
          <a:xfrm>
            <a:off x="8183879" y="4059935"/>
            <a:ext cx="3310128" cy="329184"/>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200" b="1" i="0">
                <a:solidFill>
                  <a:srgbClr val="FFFFFF"/>
                </a:solidFill>
                <a:latin typeface="Graphik"/>
              </a:rPr>
              <a:t>Performant, moins explicable</a:t>
            </a:r>
          </a:p>
        </p:txBody>
      </p:sp>
      <p:sp>
        <p:nvSpPr>
          <p:cNvPr id="24" name="Rectangle 23"/>
          <p:cNvSpPr/>
          <p:nvPr/>
        </p:nvSpPr>
        <p:spPr>
          <a:xfrm>
            <a:off x="548640" y="4645152"/>
            <a:ext cx="11094415" cy="987552"/>
          </a:xfrm>
          <a:prstGeom prst="rect">
            <a:avLst/>
          </a:prstGeom>
          <a:solidFill>
            <a:srgbClr val="EEE0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77240" y="4700016"/>
            <a:ext cx="10637215" cy="329184"/>
          </a:xfrm>
          <a:prstGeom prst="rect">
            <a:avLst/>
          </a:prstGeom>
          <a:noFill/>
        </p:spPr>
        <p:txBody>
          <a:bodyPr wrap="square" lIns="36576" tIns="36576" rIns="36576" bIns="36576" anchor="t">
            <a:spAutoFit/>
          </a:bodyPr>
          <a:lstStyle/>
          <a:p>
            <a:pPr algn="l"/>
            <a:r>
              <a:rPr sz="1350" b="1" i="0">
                <a:solidFill>
                  <a:srgbClr val="A100FF"/>
                </a:solidFill>
                <a:latin typeface="Graphik"/>
              </a:rPr>
              <a:t>Critères adaptés à une fraude rare (11,5 %) : l'accuracy est trompeuse</a:t>
            </a:r>
          </a:p>
        </p:txBody>
      </p:sp>
      <p:sp>
        <p:nvSpPr>
          <p:cNvPr id="26" name="TextBox 25"/>
          <p:cNvSpPr txBox="1"/>
          <p:nvPr/>
        </p:nvSpPr>
        <p:spPr>
          <a:xfrm>
            <a:off x="777240" y="5029200"/>
            <a:ext cx="10637215" cy="266227"/>
          </a:xfrm>
          <a:prstGeom prst="rect">
            <a:avLst/>
          </a:prstGeom>
          <a:noFill/>
        </p:spPr>
        <p:txBody>
          <a:bodyPr wrap="square" lIns="36576" tIns="36576" rIns="36576" bIns="36576" anchor="t">
            <a:spAutoFit/>
          </a:bodyPr>
          <a:lstStyle/>
          <a:p>
            <a:pPr algn="l"/>
            <a:r>
              <a:rPr sz="1250" b="1" i="0" dirty="0">
                <a:solidFill>
                  <a:srgbClr val="460073"/>
                </a:solidFill>
                <a:latin typeface="Graphik"/>
              </a:rPr>
              <a:t>AUC-ROC  </a:t>
            </a:r>
            <a:r>
              <a:rPr lang="fr-FR" sz="1250" b="1" i="0" dirty="0">
                <a:solidFill>
                  <a:srgbClr val="460073"/>
                </a:solidFill>
                <a:latin typeface="Graphik"/>
              </a:rPr>
              <a:t>;</a:t>
            </a:r>
            <a:r>
              <a:rPr sz="1250" b="1" i="0" dirty="0">
                <a:solidFill>
                  <a:srgbClr val="460073"/>
                </a:solidFill>
                <a:latin typeface="Graphik"/>
              </a:rPr>
              <a:t>  Gini  </a:t>
            </a:r>
            <a:r>
              <a:rPr lang="fr-FR" sz="1250" b="1" i="0" dirty="0">
                <a:solidFill>
                  <a:srgbClr val="460073"/>
                </a:solidFill>
                <a:latin typeface="Graphik"/>
              </a:rPr>
              <a:t>;</a:t>
            </a:r>
            <a:r>
              <a:rPr sz="1250" b="1" i="0" dirty="0">
                <a:solidFill>
                  <a:srgbClr val="460073"/>
                </a:solidFill>
                <a:latin typeface="Graphik"/>
              </a:rPr>
              <a:t>  Kolmogorov-Smirnov  </a:t>
            </a:r>
            <a:r>
              <a:rPr lang="fr-FR" sz="1250" b="1" i="0" dirty="0">
                <a:solidFill>
                  <a:srgbClr val="460073"/>
                </a:solidFill>
                <a:latin typeface="Graphik"/>
              </a:rPr>
              <a:t>;</a:t>
            </a:r>
            <a:r>
              <a:rPr sz="1250" b="1" i="0" dirty="0">
                <a:solidFill>
                  <a:srgbClr val="460073"/>
                </a:solidFill>
                <a:latin typeface="Graphik"/>
              </a:rPr>
              <a:t>  PR-AUC  </a:t>
            </a:r>
            <a:r>
              <a:rPr lang="fr-FR" sz="1250" b="1" i="0" dirty="0">
                <a:solidFill>
                  <a:srgbClr val="460073"/>
                </a:solidFill>
                <a:latin typeface="Graphik"/>
              </a:rPr>
              <a:t>;</a:t>
            </a:r>
            <a:r>
              <a:rPr sz="1250" b="1" i="0" dirty="0">
                <a:solidFill>
                  <a:srgbClr val="460073"/>
                </a:solidFill>
                <a:latin typeface="Graphik"/>
              </a:rPr>
              <a:t>  Lift @10 %  </a:t>
            </a:r>
            <a:r>
              <a:rPr lang="fr-FR" sz="1250" b="1" dirty="0">
                <a:solidFill>
                  <a:srgbClr val="460073"/>
                </a:solidFill>
                <a:latin typeface="Graphik"/>
              </a:rPr>
              <a:t>; </a:t>
            </a:r>
            <a:r>
              <a:rPr sz="1250" b="1" i="0" dirty="0" err="1">
                <a:solidFill>
                  <a:srgbClr val="460073"/>
                </a:solidFill>
                <a:latin typeface="Graphik"/>
              </a:rPr>
              <a:t>Précision</a:t>
            </a:r>
            <a:r>
              <a:rPr sz="1250" b="1" i="0" dirty="0">
                <a:solidFill>
                  <a:srgbClr val="460073"/>
                </a:solidFill>
                <a:latin typeface="Graphik"/>
              </a:rPr>
              <a:t> / Rappel </a:t>
            </a:r>
            <a:r>
              <a:rPr lang="fr-FR" sz="1250" b="1" i="0" dirty="0">
                <a:solidFill>
                  <a:srgbClr val="460073"/>
                </a:solidFill>
                <a:latin typeface="Graphik"/>
              </a:rPr>
              <a:t> ;</a:t>
            </a:r>
            <a:r>
              <a:rPr sz="1250" b="1" i="0" dirty="0">
                <a:solidFill>
                  <a:srgbClr val="460073"/>
                </a:solidFill>
                <a:latin typeface="Graphik"/>
              </a:rPr>
              <a:t>  PSI (</a:t>
            </a:r>
            <a:r>
              <a:rPr sz="1250" b="1" i="0" dirty="0" err="1">
                <a:solidFill>
                  <a:srgbClr val="460073"/>
                </a:solidFill>
                <a:latin typeface="Graphik"/>
              </a:rPr>
              <a:t>stabilité</a:t>
            </a:r>
            <a:r>
              <a:rPr sz="1250" b="1" i="0" dirty="0">
                <a:solidFill>
                  <a:srgbClr val="460073"/>
                </a:solidFill>
                <a:latin typeface="Graphik"/>
              </a:rPr>
              <a:t>)  </a:t>
            </a:r>
            <a:r>
              <a:rPr lang="fr-FR" sz="1250" b="1" i="0" dirty="0">
                <a:solidFill>
                  <a:srgbClr val="460073"/>
                </a:solidFill>
                <a:latin typeface="Graphik"/>
              </a:rPr>
              <a:t>;</a:t>
            </a:r>
            <a:r>
              <a:rPr sz="1250" b="1" i="0" dirty="0">
                <a:solidFill>
                  <a:srgbClr val="460073"/>
                </a:solidFill>
                <a:latin typeface="Graphik"/>
              </a:rPr>
              <a:t>  </a:t>
            </a:r>
            <a:r>
              <a:rPr sz="1250" b="1" i="0" dirty="0" err="1">
                <a:solidFill>
                  <a:srgbClr val="460073"/>
                </a:solidFill>
                <a:latin typeface="Graphik"/>
              </a:rPr>
              <a:t>Écart</a:t>
            </a:r>
            <a:r>
              <a:rPr sz="1250" b="1" i="0" dirty="0">
                <a:solidFill>
                  <a:srgbClr val="460073"/>
                </a:solidFill>
                <a:latin typeface="Graphik"/>
              </a:rPr>
              <a:t> AUC train / test</a:t>
            </a:r>
          </a:p>
        </p:txBody>
      </p:sp>
      <p:sp>
        <p:nvSpPr>
          <p:cNvPr id="27" name="Rectangle 26"/>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Les trois modèles sont évalués sur le même jeu de test de 6 000 sinistres.</a:t>
            </a:r>
          </a:p>
        </p:txBody>
      </p:sp>
      <p:sp>
        <p:nvSpPr>
          <p:cNvPr id="28" name="TextBox 27"/>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11/23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3. Modélisation et résultats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 scoring en points : une grille actuarielle transparente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4892040" cy="4133087"/>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49808" y="1572768"/>
            <a:ext cx="4572000" cy="365760"/>
          </a:xfrm>
          <a:prstGeom prst="rect">
            <a:avLst/>
          </a:prstGeom>
          <a:noFill/>
        </p:spPr>
        <p:txBody>
          <a:bodyPr wrap="square" lIns="36576" tIns="36576" rIns="36576" bIns="36576" anchor="t">
            <a:spAutoFit/>
          </a:bodyPr>
          <a:lstStyle/>
          <a:p>
            <a:pPr algn="l"/>
            <a:r>
              <a:rPr sz="1600" b="1" i="0">
                <a:solidFill>
                  <a:srgbClr val="A100FF"/>
                </a:solidFill>
                <a:latin typeface="Graphik"/>
              </a:rPr>
              <a:t>Construction de la grille</a:t>
            </a:r>
          </a:p>
        </p:txBody>
      </p:sp>
      <p:sp>
        <p:nvSpPr>
          <p:cNvPr id="8" name="Rectangle 7"/>
          <p:cNvSpPr/>
          <p:nvPr/>
        </p:nvSpPr>
        <p:spPr>
          <a:xfrm>
            <a:off x="777240" y="2075688"/>
            <a:ext cx="347472" cy="34747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Graphik"/>
              </a:rPr>
              <a:t>1</a:t>
            </a:r>
          </a:p>
        </p:txBody>
      </p:sp>
      <p:sp>
        <p:nvSpPr>
          <p:cNvPr id="9" name="TextBox 8"/>
          <p:cNvSpPr txBox="1"/>
          <p:nvPr/>
        </p:nvSpPr>
        <p:spPr>
          <a:xfrm>
            <a:off x="1261872" y="2029968"/>
            <a:ext cx="4069080" cy="822960"/>
          </a:xfrm>
          <a:prstGeom prst="rect">
            <a:avLst/>
          </a:prstGeom>
          <a:noFill/>
        </p:spPr>
        <p:txBody>
          <a:bodyPr wrap="square" lIns="36576" tIns="36576" rIns="36576" bIns="36576" anchor="t">
            <a:spAutoFit/>
          </a:bodyPr>
          <a:lstStyle/>
          <a:p>
            <a:pPr algn="l"/>
            <a:r>
              <a:rPr sz="1250" b="1" i="0">
                <a:solidFill>
                  <a:srgbClr val="460073"/>
                </a:solidFill>
                <a:latin typeface="Graphik"/>
              </a:rPr>
              <a:t>Discrétiser </a:t>
            </a:r>
            <a:r>
              <a:rPr sz="1250" b="0" i="0">
                <a:solidFill>
                  <a:srgbClr val="1A1A1A"/>
                </a:solidFill>
                <a:latin typeface="Graphik"/>
              </a:rPr>
              <a:t>chaque variable en classes peuplées, au risque monotone</a:t>
            </a:r>
          </a:p>
        </p:txBody>
      </p:sp>
      <p:sp>
        <p:nvSpPr>
          <p:cNvPr id="10" name="Rectangle 9"/>
          <p:cNvSpPr/>
          <p:nvPr/>
        </p:nvSpPr>
        <p:spPr>
          <a:xfrm>
            <a:off x="777240" y="2944368"/>
            <a:ext cx="347472" cy="34747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Graphik"/>
              </a:rPr>
              <a:t>2</a:t>
            </a:r>
          </a:p>
        </p:txBody>
      </p:sp>
      <p:sp>
        <p:nvSpPr>
          <p:cNvPr id="11" name="TextBox 10"/>
          <p:cNvSpPr txBox="1"/>
          <p:nvPr/>
        </p:nvSpPr>
        <p:spPr>
          <a:xfrm>
            <a:off x="1261872" y="2898648"/>
            <a:ext cx="4069080" cy="822960"/>
          </a:xfrm>
          <a:prstGeom prst="rect">
            <a:avLst/>
          </a:prstGeom>
          <a:noFill/>
        </p:spPr>
        <p:txBody>
          <a:bodyPr wrap="square" lIns="36576" tIns="36576" rIns="36576" bIns="36576" anchor="t">
            <a:spAutoFit/>
          </a:bodyPr>
          <a:lstStyle/>
          <a:p>
            <a:pPr algn="l"/>
            <a:r>
              <a:rPr sz="1250" b="1" i="0" dirty="0" err="1">
                <a:solidFill>
                  <a:srgbClr val="460073"/>
                </a:solidFill>
                <a:latin typeface="Graphik"/>
              </a:rPr>
              <a:t>Mesurer</a:t>
            </a:r>
            <a:r>
              <a:rPr sz="1250" b="1" i="0" dirty="0">
                <a:solidFill>
                  <a:srgbClr val="460073"/>
                </a:solidFill>
                <a:latin typeface="Graphik"/>
              </a:rPr>
              <a:t> </a:t>
            </a:r>
            <a:r>
              <a:rPr sz="1250" b="1" i="0" dirty="0">
                <a:solidFill>
                  <a:srgbClr val="1A1A1A"/>
                </a:solidFill>
                <a:latin typeface="Graphik"/>
              </a:rPr>
              <a:t>WOE</a:t>
            </a:r>
            <a:r>
              <a:rPr sz="1250" b="0" i="0" dirty="0">
                <a:solidFill>
                  <a:srgbClr val="1A1A1A"/>
                </a:solidFill>
                <a:latin typeface="Graphik"/>
              </a:rPr>
              <a:t> = ln(%</a:t>
            </a:r>
            <a:r>
              <a:rPr sz="1250" b="0" i="0" dirty="0" err="1">
                <a:solidFill>
                  <a:srgbClr val="1A1A1A"/>
                </a:solidFill>
                <a:latin typeface="Graphik"/>
              </a:rPr>
              <a:t>fraude</a:t>
            </a:r>
            <a:r>
              <a:rPr sz="1250" b="0" i="0" dirty="0">
                <a:solidFill>
                  <a:srgbClr val="1A1A1A"/>
                </a:solidFill>
                <a:latin typeface="Graphik"/>
              </a:rPr>
              <a:t> / %non-</a:t>
            </a:r>
            <a:r>
              <a:rPr sz="1250" b="0" i="0" dirty="0" err="1">
                <a:solidFill>
                  <a:srgbClr val="1A1A1A"/>
                </a:solidFill>
                <a:latin typeface="Graphik"/>
              </a:rPr>
              <a:t>fraude</a:t>
            </a:r>
            <a:r>
              <a:rPr sz="1250" b="0" i="0" dirty="0">
                <a:solidFill>
                  <a:srgbClr val="1A1A1A"/>
                </a:solidFill>
                <a:latin typeface="Graphik"/>
              </a:rPr>
              <a:t>) par </a:t>
            </a:r>
            <a:r>
              <a:rPr sz="1250" b="0" i="0" dirty="0" err="1">
                <a:solidFill>
                  <a:srgbClr val="1A1A1A"/>
                </a:solidFill>
                <a:latin typeface="Graphik"/>
              </a:rPr>
              <a:t>classe</a:t>
            </a:r>
            <a:r>
              <a:rPr sz="1250" b="0" i="0" dirty="0">
                <a:solidFill>
                  <a:srgbClr val="1A1A1A"/>
                </a:solidFill>
                <a:latin typeface="Graphik"/>
              </a:rPr>
              <a:t> ; </a:t>
            </a:r>
            <a:r>
              <a:rPr sz="1250" b="1" i="0" dirty="0">
                <a:solidFill>
                  <a:srgbClr val="1A1A1A"/>
                </a:solidFill>
                <a:latin typeface="Graphik"/>
              </a:rPr>
              <a:t>IV</a:t>
            </a:r>
            <a:r>
              <a:rPr sz="1250" b="0" i="0" dirty="0">
                <a:solidFill>
                  <a:srgbClr val="1A1A1A"/>
                </a:solidFill>
                <a:latin typeface="Graphik"/>
              </a:rPr>
              <a:t> = Σ (%</a:t>
            </a:r>
            <a:r>
              <a:rPr sz="1250" b="0" i="0" dirty="0" err="1">
                <a:solidFill>
                  <a:srgbClr val="1A1A1A"/>
                </a:solidFill>
                <a:latin typeface="Graphik"/>
              </a:rPr>
              <a:t>fraude</a:t>
            </a:r>
            <a:r>
              <a:rPr sz="1250" b="0" i="0" dirty="0">
                <a:solidFill>
                  <a:srgbClr val="1A1A1A"/>
                </a:solidFill>
                <a:latin typeface="Graphik"/>
              </a:rPr>
              <a:t> − %non-</a:t>
            </a:r>
            <a:r>
              <a:rPr sz="1250" b="0" i="0" dirty="0" err="1">
                <a:solidFill>
                  <a:srgbClr val="1A1A1A"/>
                </a:solidFill>
                <a:latin typeface="Graphik"/>
              </a:rPr>
              <a:t>fraude</a:t>
            </a:r>
            <a:r>
              <a:rPr sz="1250" b="0" i="0" dirty="0">
                <a:solidFill>
                  <a:srgbClr val="1A1A1A"/>
                </a:solidFill>
                <a:latin typeface="Graphik"/>
              </a:rPr>
              <a:t>) × WOE</a:t>
            </a:r>
          </a:p>
        </p:txBody>
      </p:sp>
      <p:sp>
        <p:nvSpPr>
          <p:cNvPr id="12" name="Rectangle 11"/>
          <p:cNvSpPr/>
          <p:nvPr/>
        </p:nvSpPr>
        <p:spPr>
          <a:xfrm>
            <a:off x="777240" y="3813048"/>
            <a:ext cx="347472" cy="34747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Graphik"/>
              </a:rPr>
              <a:t>3</a:t>
            </a:r>
          </a:p>
        </p:txBody>
      </p:sp>
      <p:sp>
        <p:nvSpPr>
          <p:cNvPr id="13" name="TextBox 12"/>
          <p:cNvSpPr txBox="1"/>
          <p:nvPr/>
        </p:nvSpPr>
        <p:spPr>
          <a:xfrm>
            <a:off x="1261872" y="3767328"/>
            <a:ext cx="4069080" cy="822960"/>
          </a:xfrm>
          <a:prstGeom prst="rect">
            <a:avLst/>
          </a:prstGeom>
          <a:noFill/>
        </p:spPr>
        <p:txBody>
          <a:bodyPr wrap="square" lIns="36576" tIns="36576" rIns="36576" bIns="36576" anchor="t">
            <a:spAutoFit/>
          </a:bodyPr>
          <a:lstStyle/>
          <a:p>
            <a:pPr algn="l"/>
            <a:r>
              <a:rPr sz="1250" b="1" i="0">
                <a:solidFill>
                  <a:srgbClr val="460073"/>
                </a:solidFill>
                <a:latin typeface="Graphik"/>
              </a:rPr>
              <a:t>Ajuster </a:t>
            </a:r>
            <a:r>
              <a:rPr sz="1250" b="0" i="0">
                <a:solidFill>
                  <a:srgbClr val="1A1A1A"/>
                </a:solidFill>
                <a:latin typeface="Graphik"/>
              </a:rPr>
              <a:t>une régression logistique sur les variables transformées en WOE</a:t>
            </a:r>
          </a:p>
        </p:txBody>
      </p:sp>
      <p:sp>
        <p:nvSpPr>
          <p:cNvPr id="14" name="Rectangle 13"/>
          <p:cNvSpPr/>
          <p:nvPr/>
        </p:nvSpPr>
        <p:spPr>
          <a:xfrm>
            <a:off x="777240" y="4681728"/>
            <a:ext cx="347472" cy="34747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i="0">
                <a:solidFill>
                  <a:srgbClr val="FFFFFF"/>
                </a:solidFill>
                <a:latin typeface="Graphik"/>
              </a:rPr>
              <a:t>4</a:t>
            </a:r>
          </a:p>
        </p:txBody>
      </p:sp>
      <p:sp>
        <p:nvSpPr>
          <p:cNvPr id="15" name="TextBox 14"/>
          <p:cNvSpPr txBox="1"/>
          <p:nvPr/>
        </p:nvSpPr>
        <p:spPr>
          <a:xfrm>
            <a:off x="1261872" y="4636008"/>
            <a:ext cx="4069080" cy="822960"/>
          </a:xfrm>
          <a:prstGeom prst="rect">
            <a:avLst/>
          </a:prstGeom>
          <a:noFill/>
        </p:spPr>
        <p:txBody>
          <a:bodyPr wrap="square" lIns="36576" tIns="36576" rIns="36576" bIns="36576" anchor="t">
            <a:spAutoFit/>
          </a:bodyPr>
          <a:lstStyle/>
          <a:p>
            <a:pPr algn="l"/>
            <a:r>
              <a:rPr sz="1250" b="1" i="0">
                <a:solidFill>
                  <a:srgbClr val="460073"/>
                </a:solidFill>
                <a:latin typeface="Graphik"/>
              </a:rPr>
              <a:t>Convertir </a:t>
            </a:r>
            <a:r>
              <a:rPr sz="1250" b="0" i="0">
                <a:solidFill>
                  <a:srgbClr val="1A1A1A"/>
                </a:solidFill>
                <a:latin typeface="Graphik"/>
              </a:rPr>
              <a:t>les coefficients en points entiers (transformation affine calée par le PDO)</a:t>
            </a:r>
          </a:p>
        </p:txBody>
      </p:sp>
      <p:sp>
        <p:nvSpPr>
          <p:cNvPr id="16" name="Rectangle 15"/>
          <p:cNvSpPr/>
          <p:nvPr/>
        </p:nvSpPr>
        <p:spPr>
          <a:xfrm>
            <a:off x="5623560" y="1481328"/>
            <a:ext cx="6016752" cy="4133087"/>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grille_points.png"/>
          <p:cNvPicPr>
            <a:picLocks noChangeAspect="1"/>
          </p:cNvPicPr>
          <p:nvPr/>
        </p:nvPicPr>
        <p:blipFill>
          <a:blip r:embed="rId4"/>
          <a:stretch>
            <a:fillRect/>
          </a:stretch>
        </p:blipFill>
        <p:spPr>
          <a:xfrm>
            <a:off x="6462748" y="1554480"/>
            <a:ext cx="4338374" cy="3986784"/>
          </a:xfrm>
          <a:prstGeom prst="rect">
            <a:avLst/>
          </a:prstGeom>
        </p:spPr>
      </p:pic>
      <p:sp>
        <p:nvSpPr>
          <p:cNvPr id="18" name="Rectangle 17"/>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Chaque alerte est explicable : on sait précisément quels critères ont fait monter le score.</a:t>
            </a:r>
          </a:p>
        </p:txBody>
      </p:sp>
      <p:sp>
        <p:nvSpPr>
          <p:cNvPr id="19" name="TextBox 1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12/23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3. Modélisation et résultats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Comparaison des trois modèles sur le jeu de test</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481328"/>
          <a:ext cx="7223760" cy="3803904"/>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475488">
                <a:tc>
                  <a:txBody>
                    <a:bodyPr/>
                    <a:lstStyle/>
                    <a:p>
                      <a:pPr algn="l"/>
                      <a:r>
                        <a:rPr sz="1300" b="1" i="0" dirty="0" err="1">
                          <a:solidFill>
                            <a:srgbClr val="FFFFFF"/>
                          </a:solidFill>
                          <a:latin typeface="Graphik"/>
                        </a:rPr>
                        <a:t>Indicateur</a:t>
                      </a:r>
                      <a:endParaRPr sz="1300" b="1" i="0" dirty="0">
                        <a:solidFill>
                          <a:srgbClr val="FFFFFF"/>
                        </a:solidFill>
                        <a:latin typeface="Graphik"/>
                      </a:endParaRPr>
                    </a:p>
                  </a:txBody>
                  <a:tcPr marT="36576" marB="36576" anchor="ctr">
                    <a:solidFill>
                      <a:srgbClr val="460073"/>
                    </a:solidFill>
                  </a:tcPr>
                </a:tc>
                <a:tc>
                  <a:txBody>
                    <a:bodyPr/>
                    <a:lstStyle/>
                    <a:p>
                      <a:pPr algn="ctr"/>
                      <a:r>
                        <a:rPr sz="1300" b="1" i="0">
                          <a:solidFill>
                            <a:srgbClr val="FFFFFF"/>
                          </a:solidFill>
                          <a:latin typeface="Graphik"/>
                        </a:rPr>
                        <a:t>Scoring en points</a:t>
                      </a:r>
                    </a:p>
                  </a:txBody>
                  <a:tcPr marT="36576" marB="36576" anchor="ctr">
                    <a:solidFill>
                      <a:srgbClr val="460073"/>
                    </a:solidFill>
                  </a:tcPr>
                </a:tc>
                <a:tc>
                  <a:txBody>
                    <a:bodyPr/>
                    <a:lstStyle/>
                    <a:p>
                      <a:pPr algn="ctr"/>
                      <a:r>
                        <a:rPr sz="1300" b="1" i="0">
                          <a:solidFill>
                            <a:srgbClr val="FFFFFF"/>
                          </a:solidFill>
                          <a:latin typeface="Graphik"/>
                        </a:rPr>
                        <a:t>Arbre de décision</a:t>
                      </a:r>
                    </a:p>
                  </a:txBody>
                  <a:tcPr marT="36576" marB="36576" anchor="ctr">
                    <a:solidFill>
                      <a:srgbClr val="460073"/>
                    </a:solidFill>
                  </a:tcPr>
                </a:tc>
                <a:tc>
                  <a:txBody>
                    <a:bodyPr/>
                    <a:lstStyle/>
                    <a:p>
                      <a:pPr algn="ctr"/>
                      <a:r>
                        <a:rPr sz="1300" b="1" i="0">
                          <a:solidFill>
                            <a:srgbClr val="FFFFFF"/>
                          </a:solidFill>
                          <a:latin typeface="Graphik"/>
                        </a:rPr>
                        <a:t>Gradient Boosting</a:t>
                      </a:r>
                    </a:p>
                  </a:txBody>
                  <a:tcPr marT="36576" marB="36576" anchor="ctr">
                    <a:solidFill>
                      <a:srgbClr val="460073"/>
                    </a:solidFill>
                  </a:tcPr>
                </a:tc>
                <a:extLst>
                  <a:ext uri="{0D108BD9-81ED-4DB2-BD59-A6C34878D82A}">
                    <a16:rowId xmlns:a16="http://schemas.microsoft.com/office/drawing/2014/main" val="10000"/>
                  </a:ext>
                </a:extLst>
              </a:tr>
              <a:tr h="475488">
                <a:tc>
                  <a:txBody>
                    <a:bodyPr/>
                    <a:lstStyle/>
                    <a:p>
                      <a:pPr algn="l"/>
                      <a:r>
                        <a:rPr sz="1300" b="1" i="0">
                          <a:solidFill>
                            <a:srgbClr val="1A1A1A"/>
                          </a:solidFill>
                          <a:latin typeface="Graphik"/>
                        </a:rPr>
                        <a:t>AUC-ROC</a:t>
                      </a:r>
                    </a:p>
                  </a:txBody>
                  <a:tcPr marT="36576" marB="36576" anchor="ctr">
                    <a:solidFill>
                      <a:srgbClr val="EEE0FF"/>
                    </a:solidFill>
                  </a:tcPr>
                </a:tc>
                <a:tc>
                  <a:txBody>
                    <a:bodyPr/>
                    <a:lstStyle/>
                    <a:p>
                      <a:pPr algn="ctr"/>
                      <a:r>
                        <a:rPr sz="1300" b="0" i="0">
                          <a:solidFill>
                            <a:srgbClr val="1A1A1A"/>
                          </a:solidFill>
                          <a:latin typeface="Graphik"/>
                        </a:rPr>
                        <a:t>0,917</a:t>
                      </a:r>
                    </a:p>
                  </a:txBody>
                  <a:tcPr marT="36576" marB="36576" anchor="ctr">
                    <a:solidFill>
                      <a:srgbClr val="EEE0FF"/>
                    </a:solidFill>
                  </a:tcPr>
                </a:tc>
                <a:tc>
                  <a:txBody>
                    <a:bodyPr/>
                    <a:lstStyle/>
                    <a:p>
                      <a:pPr algn="ctr"/>
                      <a:r>
                        <a:rPr sz="1300" b="0" i="0">
                          <a:solidFill>
                            <a:srgbClr val="1A1A1A"/>
                          </a:solidFill>
                          <a:latin typeface="Graphik"/>
                        </a:rPr>
                        <a:t>0,845</a:t>
                      </a:r>
                    </a:p>
                  </a:txBody>
                  <a:tcPr marT="36576" marB="36576" anchor="ctr">
                    <a:solidFill>
                      <a:srgbClr val="EEE0FF"/>
                    </a:solidFill>
                  </a:tcPr>
                </a:tc>
                <a:tc>
                  <a:txBody>
                    <a:bodyPr/>
                    <a:lstStyle/>
                    <a:p>
                      <a:pPr algn="ctr"/>
                      <a:r>
                        <a:rPr sz="1300" b="1" i="0">
                          <a:solidFill>
                            <a:srgbClr val="1A1A1A"/>
                          </a:solidFill>
                          <a:latin typeface="Graphik"/>
                        </a:rPr>
                        <a:t>0,933</a:t>
                      </a:r>
                    </a:p>
                  </a:txBody>
                  <a:tcPr marT="36576" marB="36576" anchor="ctr">
                    <a:solidFill>
                      <a:srgbClr val="C26EFF"/>
                    </a:solidFill>
                  </a:tcPr>
                </a:tc>
                <a:extLst>
                  <a:ext uri="{0D108BD9-81ED-4DB2-BD59-A6C34878D82A}">
                    <a16:rowId xmlns:a16="http://schemas.microsoft.com/office/drawing/2014/main" val="10001"/>
                  </a:ext>
                </a:extLst>
              </a:tr>
              <a:tr h="475488">
                <a:tc>
                  <a:txBody>
                    <a:bodyPr/>
                    <a:lstStyle/>
                    <a:p>
                      <a:pPr algn="l"/>
                      <a:r>
                        <a:rPr sz="1300" b="1" i="0">
                          <a:solidFill>
                            <a:srgbClr val="1A1A1A"/>
                          </a:solidFill>
                          <a:latin typeface="Graphik"/>
                        </a:rPr>
                        <a:t>Gini</a:t>
                      </a:r>
                    </a:p>
                  </a:txBody>
                  <a:tcPr marT="36576" marB="36576" anchor="ctr">
                    <a:solidFill>
                      <a:srgbClr val="FFFFFF"/>
                    </a:solidFill>
                  </a:tcPr>
                </a:tc>
                <a:tc>
                  <a:txBody>
                    <a:bodyPr/>
                    <a:lstStyle/>
                    <a:p>
                      <a:pPr algn="ctr"/>
                      <a:r>
                        <a:rPr sz="1300" b="0" i="0">
                          <a:solidFill>
                            <a:srgbClr val="1A1A1A"/>
                          </a:solidFill>
                          <a:latin typeface="Graphik"/>
                        </a:rPr>
                        <a:t>0,835</a:t>
                      </a:r>
                    </a:p>
                  </a:txBody>
                  <a:tcPr marT="36576" marB="36576" anchor="ctr">
                    <a:solidFill>
                      <a:srgbClr val="FFFFFF"/>
                    </a:solidFill>
                  </a:tcPr>
                </a:tc>
                <a:tc>
                  <a:txBody>
                    <a:bodyPr/>
                    <a:lstStyle/>
                    <a:p>
                      <a:pPr algn="ctr"/>
                      <a:r>
                        <a:rPr sz="1300" b="0" i="0">
                          <a:solidFill>
                            <a:srgbClr val="1A1A1A"/>
                          </a:solidFill>
                          <a:latin typeface="Graphik"/>
                        </a:rPr>
                        <a:t>0,690</a:t>
                      </a:r>
                    </a:p>
                  </a:txBody>
                  <a:tcPr marT="36576" marB="36576" anchor="ctr">
                    <a:solidFill>
                      <a:srgbClr val="FFFFFF"/>
                    </a:solidFill>
                  </a:tcPr>
                </a:tc>
                <a:tc>
                  <a:txBody>
                    <a:bodyPr/>
                    <a:lstStyle/>
                    <a:p>
                      <a:pPr algn="ctr"/>
                      <a:r>
                        <a:rPr sz="1300" b="1" i="0">
                          <a:solidFill>
                            <a:srgbClr val="1A1A1A"/>
                          </a:solidFill>
                          <a:latin typeface="Graphik"/>
                        </a:rPr>
                        <a:t>0,867</a:t>
                      </a:r>
                    </a:p>
                  </a:txBody>
                  <a:tcPr marT="36576" marB="36576" anchor="ctr">
                    <a:solidFill>
                      <a:srgbClr val="C26EFF"/>
                    </a:solidFill>
                  </a:tcPr>
                </a:tc>
                <a:extLst>
                  <a:ext uri="{0D108BD9-81ED-4DB2-BD59-A6C34878D82A}">
                    <a16:rowId xmlns:a16="http://schemas.microsoft.com/office/drawing/2014/main" val="10002"/>
                  </a:ext>
                </a:extLst>
              </a:tr>
              <a:tr h="475488">
                <a:tc>
                  <a:txBody>
                    <a:bodyPr/>
                    <a:lstStyle/>
                    <a:p>
                      <a:pPr algn="l"/>
                      <a:r>
                        <a:rPr sz="1300" b="1" i="0">
                          <a:solidFill>
                            <a:srgbClr val="1A1A1A"/>
                          </a:solidFill>
                          <a:latin typeface="Graphik"/>
                        </a:rPr>
                        <a:t>Kolmogorov-Smirnov</a:t>
                      </a:r>
                    </a:p>
                  </a:txBody>
                  <a:tcPr marT="36576" marB="36576" anchor="ctr">
                    <a:solidFill>
                      <a:srgbClr val="EEE0FF"/>
                    </a:solidFill>
                  </a:tcPr>
                </a:tc>
                <a:tc>
                  <a:txBody>
                    <a:bodyPr/>
                    <a:lstStyle/>
                    <a:p>
                      <a:pPr algn="ctr"/>
                      <a:r>
                        <a:rPr sz="1300" b="0" i="0">
                          <a:solidFill>
                            <a:srgbClr val="1A1A1A"/>
                          </a:solidFill>
                          <a:latin typeface="Graphik"/>
                        </a:rPr>
                        <a:t>0,666</a:t>
                      </a:r>
                    </a:p>
                  </a:txBody>
                  <a:tcPr marT="36576" marB="36576" anchor="ctr">
                    <a:solidFill>
                      <a:srgbClr val="EEE0FF"/>
                    </a:solidFill>
                  </a:tcPr>
                </a:tc>
                <a:tc>
                  <a:txBody>
                    <a:bodyPr/>
                    <a:lstStyle/>
                    <a:p>
                      <a:pPr algn="ctr"/>
                      <a:r>
                        <a:rPr sz="1300" b="0" i="0">
                          <a:solidFill>
                            <a:srgbClr val="1A1A1A"/>
                          </a:solidFill>
                          <a:latin typeface="Graphik"/>
                        </a:rPr>
                        <a:t>0,564</a:t>
                      </a:r>
                    </a:p>
                  </a:txBody>
                  <a:tcPr marT="36576" marB="36576" anchor="ctr">
                    <a:solidFill>
                      <a:srgbClr val="EEE0FF"/>
                    </a:solidFill>
                  </a:tcPr>
                </a:tc>
                <a:tc>
                  <a:txBody>
                    <a:bodyPr/>
                    <a:lstStyle/>
                    <a:p>
                      <a:pPr algn="ctr"/>
                      <a:r>
                        <a:rPr sz="1300" b="1" i="0">
                          <a:solidFill>
                            <a:srgbClr val="1A1A1A"/>
                          </a:solidFill>
                          <a:latin typeface="Graphik"/>
                        </a:rPr>
                        <a:t>0,724</a:t>
                      </a:r>
                    </a:p>
                  </a:txBody>
                  <a:tcPr marT="36576" marB="36576" anchor="ctr">
                    <a:solidFill>
                      <a:srgbClr val="C26EFF"/>
                    </a:solidFill>
                  </a:tcPr>
                </a:tc>
                <a:extLst>
                  <a:ext uri="{0D108BD9-81ED-4DB2-BD59-A6C34878D82A}">
                    <a16:rowId xmlns:a16="http://schemas.microsoft.com/office/drawing/2014/main" val="10003"/>
                  </a:ext>
                </a:extLst>
              </a:tr>
              <a:tr h="475488">
                <a:tc>
                  <a:txBody>
                    <a:bodyPr/>
                    <a:lstStyle/>
                    <a:p>
                      <a:pPr algn="l"/>
                      <a:r>
                        <a:rPr sz="1300" b="1" i="0">
                          <a:solidFill>
                            <a:srgbClr val="1A1A1A"/>
                          </a:solidFill>
                          <a:latin typeface="Graphik"/>
                        </a:rPr>
                        <a:t>PR-AUC</a:t>
                      </a:r>
                    </a:p>
                  </a:txBody>
                  <a:tcPr marT="36576" marB="36576" anchor="ctr">
                    <a:solidFill>
                      <a:srgbClr val="FFFFFF"/>
                    </a:solidFill>
                  </a:tcPr>
                </a:tc>
                <a:tc>
                  <a:txBody>
                    <a:bodyPr/>
                    <a:lstStyle/>
                    <a:p>
                      <a:pPr algn="ctr"/>
                      <a:r>
                        <a:rPr lang="fr-FR" sz="1300" b="0" i="0" dirty="0">
                          <a:solidFill>
                            <a:srgbClr val="1A1A1A"/>
                          </a:solidFill>
                          <a:latin typeface="Graphik"/>
                        </a:rPr>
                        <a:t>-</a:t>
                      </a:r>
                      <a:endParaRPr sz="1300" b="0" i="0" dirty="0">
                        <a:solidFill>
                          <a:srgbClr val="1A1A1A"/>
                        </a:solidFill>
                        <a:latin typeface="Graphik"/>
                      </a:endParaRPr>
                    </a:p>
                  </a:txBody>
                  <a:tcPr marT="36576" marB="36576" anchor="ctr">
                    <a:solidFill>
                      <a:srgbClr val="FFFFFF"/>
                    </a:solidFill>
                  </a:tcPr>
                </a:tc>
                <a:tc>
                  <a:txBody>
                    <a:bodyPr/>
                    <a:lstStyle/>
                    <a:p>
                      <a:pPr algn="ctr"/>
                      <a:r>
                        <a:rPr sz="1300" b="0" i="0">
                          <a:solidFill>
                            <a:srgbClr val="1A1A1A"/>
                          </a:solidFill>
                          <a:latin typeface="Graphik"/>
                        </a:rPr>
                        <a:t>0,518</a:t>
                      </a:r>
                    </a:p>
                  </a:txBody>
                  <a:tcPr marT="36576" marB="36576" anchor="ctr">
                    <a:solidFill>
                      <a:srgbClr val="FFFFFF"/>
                    </a:solidFill>
                  </a:tcPr>
                </a:tc>
                <a:tc>
                  <a:txBody>
                    <a:bodyPr/>
                    <a:lstStyle/>
                    <a:p>
                      <a:pPr algn="ctr"/>
                      <a:r>
                        <a:rPr sz="1300" b="1" i="0">
                          <a:solidFill>
                            <a:srgbClr val="1A1A1A"/>
                          </a:solidFill>
                          <a:latin typeface="Graphik"/>
                        </a:rPr>
                        <a:t>0,744</a:t>
                      </a:r>
                    </a:p>
                  </a:txBody>
                  <a:tcPr marT="36576" marB="36576" anchor="ctr">
                    <a:solidFill>
                      <a:srgbClr val="C26EFF"/>
                    </a:solidFill>
                  </a:tcPr>
                </a:tc>
                <a:extLst>
                  <a:ext uri="{0D108BD9-81ED-4DB2-BD59-A6C34878D82A}">
                    <a16:rowId xmlns:a16="http://schemas.microsoft.com/office/drawing/2014/main" val="10004"/>
                  </a:ext>
                </a:extLst>
              </a:tr>
              <a:tr h="475488">
                <a:tc>
                  <a:txBody>
                    <a:bodyPr/>
                    <a:lstStyle/>
                    <a:p>
                      <a:pPr algn="l"/>
                      <a:r>
                        <a:rPr sz="1300" b="1" i="0">
                          <a:solidFill>
                            <a:srgbClr val="1A1A1A"/>
                          </a:solidFill>
                          <a:latin typeface="Graphik"/>
                        </a:rPr>
                        <a:t>Lift @10 %</a:t>
                      </a:r>
                    </a:p>
                  </a:txBody>
                  <a:tcPr marT="36576" marB="36576" anchor="ctr">
                    <a:solidFill>
                      <a:srgbClr val="EEE0FF"/>
                    </a:solidFill>
                  </a:tcPr>
                </a:tc>
                <a:tc>
                  <a:txBody>
                    <a:bodyPr/>
                    <a:lstStyle/>
                    <a:p>
                      <a:pPr algn="ctr"/>
                      <a:r>
                        <a:rPr sz="1300" b="0" i="0">
                          <a:solidFill>
                            <a:srgbClr val="1A1A1A"/>
                          </a:solidFill>
                          <a:latin typeface="Graphik"/>
                        </a:rPr>
                        <a:t>≈ ×5,4 à ×7,1 *</a:t>
                      </a:r>
                    </a:p>
                  </a:txBody>
                  <a:tcPr marT="36576" marB="36576" anchor="ctr">
                    <a:solidFill>
                      <a:srgbClr val="EEE0FF"/>
                    </a:solidFill>
                  </a:tcPr>
                </a:tc>
                <a:tc>
                  <a:txBody>
                    <a:bodyPr/>
                    <a:lstStyle/>
                    <a:p>
                      <a:pPr algn="ctr"/>
                      <a:r>
                        <a:rPr sz="1300" b="0" i="0">
                          <a:solidFill>
                            <a:srgbClr val="1A1A1A"/>
                          </a:solidFill>
                          <a:latin typeface="Graphik"/>
                        </a:rPr>
                        <a:t>×4,83</a:t>
                      </a:r>
                    </a:p>
                  </a:txBody>
                  <a:tcPr marT="36576" marB="36576" anchor="ctr">
                    <a:solidFill>
                      <a:srgbClr val="EEE0FF"/>
                    </a:solidFill>
                  </a:tcPr>
                </a:tc>
                <a:tc>
                  <a:txBody>
                    <a:bodyPr/>
                    <a:lstStyle/>
                    <a:p>
                      <a:pPr algn="ctr"/>
                      <a:r>
                        <a:rPr sz="1300" b="1" i="0">
                          <a:solidFill>
                            <a:srgbClr val="1A1A1A"/>
                          </a:solidFill>
                          <a:latin typeface="Graphik"/>
                        </a:rPr>
                        <a:t>×6,37</a:t>
                      </a:r>
                    </a:p>
                  </a:txBody>
                  <a:tcPr marT="36576" marB="36576" anchor="ctr">
                    <a:solidFill>
                      <a:srgbClr val="C26EFF"/>
                    </a:solidFill>
                  </a:tcPr>
                </a:tc>
                <a:extLst>
                  <a:ext uri="{0D108BD9-81ED-4DB2-BD59-A6C34878D82A}">
                    <a16:rowId xmlns:a16="http://schemas.microsoft.com/office/drawing/2014/main" val="10005"/>
                  </a:ext>
                </a:extLst>
              </a:tr>
              <a:tr h="475488">
                <a:tc>
                  <a:txBody>
                    <a:bodyPr/>
                    <a:lstStyle/>
                    <a:p>
                      <a:pPr algn="l"/>
                      <a:r>
                        <a:rPr sz="1300" b="1" i="0">
                          <a:solidFill>
                            <a:srgbClr val="1A1A1A"/>
                          </a:solidFill>
                          <a:latin typeface="Graphik"/>
                        </a:rPr>
                        <a:t>PSI (stabilité)</a:t>
                      </a:r>
                    </a:p>
                  </a:txBody>
                  <a:tcPr marT="36576" marB="36576" anchor="ctr">
                    <a:solidFill>
                      <a:srgbClr val="FFFFFF"/>
                    </a:solidFill>
                  </a:tcPr>
                </a:tc>
                <a:tc>
                  <a:txBody>
                    <a:bodyPr/>
                    <a:lstStyle/>
                    <a:p>
                      <a:pPr algn="ctr"/>
                      <a:r>
                        <a:rPr sz="1300" b="0" i="0">
                          <a:solidFill>
                            <a:srgbClr val="1A1A1A"/>
                          </a:solidFill>
                          <a:latin typeface="Graphik"/>
                        </a:rPr>
                        <a:t>0,0026</a:t>
                      </a:r>
                    </a:p>
                  </a:txBody>
                  <a:tcPr marT="36576" marB="36576" anchor="ctr">
                    <a:solidFill>
                      <a:srgbClr val="FFFFFF"/>
                    </a:solidFill>
                  </a:tcPr>
                </a:tc>
                <a:tc>
                  <a:txBody>
                    <a:bodyPr/>
                    <a:lstStyle/>
                    <a:p>
                      <a:pPr algn="ctr"/>
                      <a:r>
                        <a:rPr sz="1300" b="0" i="0">
                          <a:solidFill>
                            <a:srgbClr val="1A1A1A"/>
                          </a:solidFill>
                          <a:latin typeface="Graphik"/>
                        </a:rPr>
                        <a:t>0,0026</a:t>
                      </a:r>
                    </a:p>
                  </a:txBody>
                  <a:tcPr marT="36576" marB="36576" anchor="ctr">
                    <a:solidFill>
                      <a:srgbClr val="FFFFFF"/>
                    </a:solidFill>
                  </a:tcPr>
                </a:tc>
                <a:tc>
                  <a:txBody>
                    <a:bodyPr/>
                    <a:lstStyle/>
                    <a:p>
                      <a:pPr algn="ctr"/>
                      <a:r>
                        <a:rPr sz="1300" b="1" i="0">
                          <a:solidFill>
                            <a:srgbClr val="1A1A1A"/>
                          </a:solidFill>
                          <a:latin typeface="Graphik"/>
                        </a:rPr>
                        <a:t>0,0023</a:t>
                      </a:r>
                    </a:p>
                  </a:txBody>
                  <a:tcPr marT="36576" marB="36576" anchor="ctr">
                    <a:solidFill>
                      <a:srgbClr val="C26EFF"/>
                    </a:solidFill>
                  </a:tcPr>
                </a:tc>
                <a:extLst>
                  <a:ext uri="{0D108BD9-81ED-4DB2-BD59-A6C34878D82A}">
                    <a16:rowId xmlns:a16="http://schemas.microsoft.com/office/drawing/2014/main" val="10006"/>
                  </a:ext>
                </a:extLst>
              </a:tr>
              <a:tr h="475488">
                <a:tc>
                  <a:txBody>
                    <a:bodyPr/>
                    <a:lstStyle/>
                    <a:p>
                      <a:pPr algn="l"/>
                      <a:r>
                        <a:rPr sz="1300" b="1" i="0">
                          <a:solidFill>
                            <a:srgbClr val="1A1A1A"/>
                          </a:solidFill>
                          <a:latin typeface="Graphik"/>
                        </a:rPr>
                        <a:t>Écart AUC train / test</a:t>
                      </a:r>
                    </a:p>
                  </a:txBody>
                  <a:tcPr marT="36576" marB="36576" anchor="ctr">
                    <a:solidFill>
                      <a:srgbClr val="EEE0FF"/>
                    </a:solidFill>
                  </a:tcPr>
                </a:tc>
                <a:tc>
                  <a:txBody>
                    <a:bodyPr/>
                    <a:lstStyle/>
                    <a:p>
                      <a:pPr algn="ctr"/>
                      <a:r>
                        <a:rPr sz="1300" b="0" i="0">
                          <a:solidFill>
                            <a:srgbClr val="1A1A1A"/>
                          </a:solidFill>
                          <a:latin typeface="Graphik"/>
                        </a:rPr>
                        <a:t>0,003</a:t>
                      </a:r>
                    </a:p>
                  </a:txBody>
                  <a:tcPr marT="36576" marB="36576" anchor="ctr">
                    <a:solidFill>
                      <a:srgbClr val="EEE0FF"/>
                    </a:solidFill>
                  </a:tcPr>
                </a:tc>
                <a:tc>
                  <a:txBody>
                    <a:bodyPr/>
                    <a:lstStyle/>
                    <a:p>
                      <a:pPr algn="ctr"/>
                      <a:r>
                        <a:rPr sz="1300" b="0" i="0">
                          <a:solidFill>
                            <a:srgbClr val="1A1A1A"/>
                          </a:solidFill>
                          <a:latin typeface="Graphik"/>
                        </a:rPr>
                        <a:t>0,039</a:t>
                      </a:r>
                    </a:p>
                  </a:txBody>
                  <a:tcPr marT="36576" marB="36576" anchor="ctr">
                    <a:solidFill>
                      <a:srgbClr val="EEE0FF"/>
                    </a:solidFill>
                  </a:tcPr>
                </a:tc>
                <a:tc>
                  <a:txBody>
                    <a:bodyPr/>
                    <a:lstStyle/>
                    <a:p>
                      <a:pPr algn="ctr"/>
                      <a:r>
                        <a:rPr sz="1300" b="1" i="0">
                          <a:solidFill>
                            <a:srgbClr val="1A1A1A"/>
                          </a:solidFill>
                          <a:latin typeface="Graphik"/>
                        </a:rPr>
                        <a:t>0,016</a:t>
                      </a:r>
                    </a:p>
                  </a:txBody>
                  <a:tcPr marT="36576" marB="36576" anchor="ctr">
                    <a:solidFill>
                      <a:srgbClr val="C26E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358384"/>
            <a:ext cx="7223760" cy="365760"/>
          </a:xfrm>
          <a:prstGeom prst="rect">
            <a:avLst/>
          </a:prstGeom>
          <a:noFill/>
        </p:spPr>
        <p:txBody>
          <a:bodyPr wrap="square" lIns="36576" tIns="36576" rIns="36576" bIns="36576" anchor="t">
            <a:spAutoFit/>
          </a:bodyPr>
          <a:lstStyle/>
          <a:p>
            <a:pPr algn="l"/>
            <a:r>
              <a:rPr sz="1050" b="0" i="1">
                <a:solidFill>
                  <a:srgbClr val="55555A"/>
                </a:solidFill>
                <a:latin typeface="Graphik"/>
              </a:rPr>
              <a:t>* non restitué par l'agent ; encadrement déduit des deux matrices de confusion (cf. annexe).</a:t>
            </a:r>
          </a:p>
        </p:txBody>
      </p:sp>
      <p:sp>
        <p:nvSpPr>
          <p:cNvPr id="8" name="Rectangle 7"/>
          <p:cNvSpPr/>
          <p:nvPr/>
        </p:nvSpPr>
        <p:spPr>
          <a:xfrm>
            <a:off x="8001000" y="1481328"/>
            <a:ext cx="3639312" cy="118872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001000" y="1481328"/>
            <a:ext cx="82296" cy="11887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0" y="1554480"/>
            <a:ext cx="3337560" cy="365760"/>
          </a:xfrm>
          <a:prstGeom prst="rect">
            <a:avLst/>
          </a:prstGeom>
          <a:noFill/>
        </p:spPr>
        <p:txBody>
          <a:bodyPr wrap="square" lIns="36576" tIns="36576" rIns="36576" bIns="36576" anchor="t">
            <a:spAutoFit/>
          </a:bodyPr>
          <a:lstStyle/>
          <a:p>
            <a:pPr algn="l"/>
            <a:r>
              <a:rPr sz="1400" b="1" i="0">
                <a:solidFill>
                  <a:srgbClr val="1E8E3E"/>
                </a:solidFill>
                <a:latin typeface="Graphik"/>
              </a:rPr>
              <a:t>Gradient Boosting retenu</a:t>
            </a:r>
          </a:p>
        </p:txBody>
      </p:sp>
      <p:sp>
        <p:nvSpPr>
          <p:cNvPr id="11" name="TextBox 10"/>
          <p:cNvSpPr txBox="1"/>
          <p:nvPr/>
        </p:nvSpPr>
        <p:spPr>
          <a:xfrm>
            <a:off x="8229600" y="1920240"/>
            <a:ext cx="3337560" cy="731520"/>
          </a:xfrm>
          <a:prstGeom prst="rect">
            <a:avLst/>
          </a:prstGeom>
          <a:noFill/>
        </p:spPr>
        <p:txBody>
          <a:bodyPr wrap="square" lIns="36576" tIns="36576" rIns="36576" bIns="36576" anchor="t">
            <a:spAutoFit/>
          </a:bodyPr>
          <a:lstStyle/>
          <a:p>
            <a:pPr algn="l"/>
            <a:r>
              <a:rPr sz="1200" b="0" i="0">
                <a:solidFill>
                  <a:srgbClr val="1A1A1A"/>
                </a:solidFill>
                <a:latin typeface="Graphik"/>
              </a:rPr>
              <a:t>Meilleur pouvoir discriminant sur tous les indicateurs de discrimination.</a:t>
            </a:r>
          </a:p>
        </p:txBody>
      </p:sp>
      <p:sp>
        <p:nvSpPr>
          <p:cNvPr id="12" name="Rectangle 11"/>
          <p:cNvSpPr/>
          <p:nvPr/>
        </p:nvSpPr>
        <p:spPr>
          <a:xfrm>
            <a:off x="8001000" y="2788920"/>
            <a:ext cx="3639312" cy="1188720"/>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001000" y="2788920"/>
            <a:ext cx="82296" cy="11887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600" y="2862072"/>
            <a:ext cx="3337560" cy="365760"/>
          </a:xfrm>
          <a:prstGeom prst="rect">
            <a:avLst/>
          </a:prstGeom>
          <a:noFill/>
        </p:spPr>
        <p:txBody>
          <a:bodyPr wrap="square" lIns="36576" tIns="36576" rIns="36576" bIns="36576" anchor="t">
            <a:spAutoFit/>
          </a:bodyPr>
          <a:lstStyle/>
          <a:p>
            <a:pPr algn="l"/>
            <a:r>
              <a:rPr sz="1400" b="1" i="0">
                <a:solidFill>
                  <a:srgbClr val="A100FF"/>
                </a:solidFill>
                <a:latin typeface="Graphik"/>
              </a:rPr>
              <a:t>Scoring : alternative crédible</a:t>
            </a:r>
          </a:p>
        </p:txBody>
      </p:sp>
      <p:sp>
        <p:nvSpPr>
          <p:cNvPr id="15" name="TextBox 14"/>
          <p:cNvSpPr txBox="1"/>
          <p:nvPr/>
        </p:nvSpPr>
        <p:spPr>
          <a:xfrm>
            <a:off x="8229600" y="3227832"/>
            <a:ext cx="3337560" cy="731520"/>
          </a:xfrm>
          <a:prstGeom prst="rect">
            <a:avLst/>
          </a:prstGeom>
          <a:noFill/>
        </p:spPr>
        <p:txBody>
          <a:bodyPr wrap="square" lIns="36576" tIns="36576" rIns="36576" bIns="36576" anchor="t">
            <a:spAutoFit/>
          </a:bodyPr>
          <a:lstStyle/>
          <a:p>
            <a:pPr algn="l"/>
            <a:r>
              <a:rPr sz="1200" b="0" i="0">
                <a:solidFill>
                  <a:srgbClr val="1A1A1A"/>
                </a:solidFill>
                <a:latin typeface="Graphik"/>
              </a:rPr>
              <a:t>AUC de 0,917, très proche, avec une transparence totale : à privilégier si l'explicabilité prime.</a:t>
            </a:r>
          </a:p>
        </p:txBody>
      </p:sp>
      <p:sp>
        <p:nvSpPr>
          <p:cNvPr id="16" name="Rectangle 15"/>
          <p:cNvSpPr/>
          <p:nvPr/>
        </p:nvSpPr>
        <p:spPr>
          <a:xfrm>
            <a:off x="8001000" y="4096512"/>
            <a:ext cx="3639312" cy="1188720"/>
          </a:xfrm>
          <a:prstGeom prst="rect">
            <a:avLst/>
          </a:prstGeom>
          <a:solidFill>
            <a:srgbClr val="FC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001000" y="4096512"/>
            <a:ext cx="82296"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229600" y="4169664"/>
            <a:ext cx="3337560" cy="365760"/>
          </a:xfrm>
          <a:prstGeom prst="rect">
            <a:avLst/>
          </a:prstGeom>
          <a:noFill/>
        </p:spPr>
        <p:txBody>
          <a:bodyPr wrap="square" lIns="36576" tIns="36576" rIns="36576" bIns="36576" anchor="t">
            <a:spAutoFit/>
          </a:bodyPr>
          <a:lstStyle/>
          <a:p>
            <a:pPr algn="l"/>
            <a:r>
              <a:rPr sz="1400" b="1" i="0">
                <a:solidFill>
                  <a:srgbClr val="C62828"/>
                </a:solidFill>
                <a:latin typeface="Graphik"/>
              </a:rPr>
              <a:t>Arbre de décision écarté</a:t>
            </a:r>
          </a:p>
        </p:txBody>
      </p:sp>
      <p:sp>
        <p:nvSpPr>
          <p:cNvPr id="19" name="TextBox 18"/>
          <p:cNvSpPr txBox="1"/>
          <p:nvPr/>
        </p:nvSpPr>
        <p:spPr>
          <a:xfrm>
            <a:off x="8229600" y="4535424"/>
            <a:ext cx="3337560" cy="731520"/>
          </a:xfrm>
          <a:prstGeom prst="rect">
            <a:avLst/>
          </a:prstGeom>
          <a:noFill/>
        </p:spPr>
        <p:txBody>
          <a:bodyPr wrap="square" lIns="36576" tIns="36576" rIns="36576" bIns="36576" anchor="t">
            <a:spAutoFit/>
          </a:bodyPr>
          <a:lstStyle/>
          <a:p>
            <a:pPr algn="l"/>
            <a:r>
              <a:rPr sz="1200" b="0" i="0">
                <a:solidFill>
                  <a:srgbClr val="1A1A1A"/>
                </a:solidFill>
                <a:latin typeface="Graphik"/>
              </a:rPr>
              <a:t>Dominé sur l'ensemble des critères et le plus sujet au surapprentissage.</a:t>
            </a:r>
          </a:p>
        </p:txBody>
      </p:sp>
      <p:sp>
        <p:nvSpPr>
          <p:cNvPr id="20" name="Rectangle 19"/>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Les trois modèles sont stables (PSI ≪ 0,10) ; le Gradient Boosting est retenu.</a:t>
            </a:r>
          </a:p>
        </p:txBody>
      </p:sp>
      <p:sp>
        <p:nvSpPr>
          <p:cNvPr id="21" name="TextBox 20"/>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13/23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3. Modélisation et résultats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 Gradient Boosting au seuil optimal : cibler pour mieux détecter</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4846320" cy="301752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courbe_roc_auc_boost.png"/>
          <p:cNvPicPr>
            <a:picLocks noChangeAspect="1"/>
          </p:cNvPicPr>
          <p:nvPr/>
        </p:nvPicPr>
        <p:blipFill>
          <a:blip r:embed="rId4"/>
          <a:stretch>
            <a:fillRect/>
          </a:stretch>
        </p:blipFill>
        <p:spPr>
          <a:xfrm>
            <a:off x="917509" y="1536192"/>
            <a:ext cx="4108580" cy="2907792"/>
          </a:xfrm>
          <a:prstGeom prst="rect">
            <a:avLst/>
          </a:prstGeom>
        </p:spPr>
      </p:pic>
      <p:sp>
        <p:nvSpPr>
          <p:cNvPr id="8" name="Rectangle 7"/>
          <p:cNvSpPr/>
          <p:nvPr/>
        </p:nvSpPr>
        <p:spPr>
          <a:xfrm>
            <a:off x="5577840" y="1481328"/>
            <a:ext cx="6062472" cy="301752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taux_fraude_averee_boost.png"/>
          <p:cNvPicPr>
            <a:picLocks noChangeAspect="1"/>
          </p:cNvPicPr>
          <p:nvPr/>
        </p:nvPicPr>
        <p:blipFill>
          <a:blip r:embed="rId5"/>
          <a:stretch>
            <a:fillRect/>
          </a:stretch>
        </p:blipFill>
        <p:spPr>
          <a:xfrm>
            <a:off x="5669280" y="1671812"/>
            <a:ext cx="5879592" cy="2636550"/>
          </a:xfrm>
          <a:prstGeom prst="rect">
            <a:avLst/>
          </a:prstGeom>
        </p:spPr>
      </p:pic>
      <p:sp>
        <p:nvSpPr>
          <p:cNvPr id="10" name="Rectangle 9"/>
          <p:cNvSpPr/>
          <p:nvPr/>
        </p:nvSpPr>
        <p:spPr>
          <a:xfrm>
            <a:off x="548640" y="4626864"/>
            <a:ext cx="2688336" cy="100584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4663440"/>
            <a:ext cx="2688336" cy="457200"/>
          </a:xfrm>
          <a:prstGeom prst="rect">
            <a:avLst/>
          </a:prstGeom>
          <a:noFill/>
        </p:spPr>
        <p:txBody>
          <a:bodyPr wrap="square" lIns="36576" tIns="36576" rIns="36576" bIns="36576" anchor="t">
            <a:spAutoFit/>
          </a:bodyPr>
          <a:lstStyle/>
          <a:p>
            <a:pPr algn="ctr"/>
            <a:r>
              <a:rPr sz="2400" b="0" i="0">
                <a:solidFill>
                  <a:srgbClr val="A100FF"/>
                </a:solidFill>
                <a:latin typeface="Graphik Black"/>
              </a:rPr>
              <a:t>45 %</a:t>
            </a:r>
          </a:p>
        </p:txBody>
      </p:sp>
      <p:sp>
        <p:nvSpPr>
          <p:cNvPr id="12" name="TextBox 11"/>
          <p:cNvSpPr txBox="1"/>
          <p:nvPr/>
        </p:nvSpPr>
        <p:spPr>
          <a:xfrm>
            <a:off x="640080" y="5120640"/>
            <a:ext cx="2505456" cy="502920"/>
          </a:xfrm>
          <a:prstGeom prst="rect">
            <a:avLst/>
          </a:prstGeom>
          <a:noFill/>
        </p:spPr>
        <p:txBody>
          <a:bodyPr wrap="square" lIns="36576" tIns="36576" rIns="36576" bIns="36576" anchor="t">
            <a:spAutoFit/>
          </a:bodyPr>
          <a:lstStyle/>
          <a:p>
            <a:pPr algn="ctr"/>
            <a:r>
              <a:rPr sz="1150" b="0" i="1">
                <a:solidFill>
                  <a:srgbClr val="55555A"/>
                </a:solidFill>
                <a:latin typeface="Graphik"/>
              </a:rPr>
              <a:t>seuil optimal (indice de Youden)</a:t>
            </a:r>
          </a:p>
        </p:txBody>
      </p:sp>
      <p:sp>
        <p:nvSpPr>
          <p:cNvPr id="13" name="Rectangle 12"/>
          <p:cNvSpPr/>
          <p:nvPr/>
        </p:nvSpPr>
        <p:spPr>
          <a:xfrm>
            <a:off x="3346704" y="4626864"/>
            <a:ext cx="2688336" cy="100584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46704" y="4663440"/>
            <a:ext cx="2688336" cy="457200"/>
          </a:xfrm>
          <a:prstGeom prst="rect">
            <a:avLst/>
          </a:prstGeom>
          <a:noFill/>
        </p:spPr>
        <p:txBody>
          <a:bodyPr wrap="square" lIns="36576" tIns="36576" rIns="36576" bIns="36576" anchor="t">
            <a:spAutoFit/>
          </a:bodyPr>
          <a:lstStyle/>
          <a:p>
            <a:pPr algn="ctr"/>
            <a:r>
              <a:rPr sz="2400" b="0" i="0">
                <a:solidFill>
                  <a:srgbClr val="A100FF"/>
                </a:solidFill>
                <a:latin typeface="Graphik Black"/>
              </a:rPr>
              <a:t>87,4 %</a:t>
            </a:r>
          </a:p>
        </p:txBody>
      </p:sp>
      <p:sp>
        <p:nvSpPr>
          <p:cNvPr id="15" name="TextBox 14"/>
          <p:cNvSpPr txBox="1"/>
          <p:nvPr/>
        </p:nvSpPr>
        <p:spPr>
          <a:xfrm>
            <a:off x="3438144" y="5120640"/>
            <a:ext cx="2505456" cy="502920"/>
          </a:xfrm>
          <a:prstGeom prst="rect">
            <a:avLst/>
          </a:prstGeom>
          <a:noFill/>
        </p:spPr>
        <p:txBody>
          <a:bodyPr wrap="square" lIns="36576" tIns="36576" rIns="36576" bIns="36576" anchor="t">
            <a:spAutoFit/>
          </a:bodyPr>
          <a:lstStyle/>
          <a:p>
            <a:pPr algn="ctr"/>
            <a:r>
              <a:rPr sz="1150" b="0" i="1">
                <a:solidFill>
                  <a:srgbClr val="55555A"/>
                </a:solidFill>
                <a:latin typeface="Graphik"/>
              </a:rPr>
              <a:t>des fraudes détectées (601 / 688)</a:t>
            </a:r>
          </a:p>
        </p:txBody>
      </p:sp>
      <p:sp>
        <p:nvSpPr>
          <p:cNvPr id="16" name="Rectangle 15"/>
          <p:cNvSpPr/>
          <p:nvPr/>
        </p:nvSpPr>
        <p:spPr>
          <a:xfrm>
            <a:off x="6144768" y="4626864"/>
            <a:ext cx="2688336" cy="100584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144768" y="4663440"/>
            <a:ext cx="2688336" cy="457200"/>
          </a:xfrm>
          <a:prstGeom prst="rect">
            <a:avLst/>
          </a:prstGeom>
          <a:noFill/>
        </p:spPr>
        <p:txBody>
          <a:bodyPr wrap="square" lIns="36576" tIns="36576" rIns="36576" bIns="36576" anchor="t">
            <a:spAutoFit/>
          </a:bodyPr>
          <a:lstStyle/>
          <a:p>
            <a:pPr algn="ctr"/>
            <a:r>
              <a:rPr sz="2400" b="0" i="0">
                <a:solidFill>
                  <a:srgbClr val="A100FF"/>
                </a:solidFill>
                <a:latin typeface="Graphik Black"/>
              </a:rPr>
              <a:t>23,6 %</a:t>
            </a:r>
          </a:p>
        </p:txBody>
      </p:sp>
      <p:sp>
        <p:nvSpPr>
          <p:cNvPr id="18" name="TextBox 17"/>
          <p:cNvSpPr txBox="1"/>
          <p:nvPr/>
        </p:nvSpPr>
        <p:spPr>
          <a:xfrm>
            <a:off x="6236207" y="5120640"/>
            <a:ext cx="2505456" cy="502920"/>
          </a:xfrm>
          <a:prstGeom prst="rect">
            <a:avLst/>
          </a:prstGeom>
          <a:noFill/>
        </p:spPr>
        <p:txBody>
          <a:bodyPr wrap="square" lIns="36576" tIns="36576" rIns="36576" bIns="36576" anchor="t">
            <a:spAutoFit/>
          </a:bodyPr>
          <a:lstStyle/>
          <a:p>
            <a:pPr algn="ctr"/>
            <a:r>
              <a:rPr sz="1150" b="0" i="1">
                <a:solidFill>
                  <a:srgbClr val="55555A"/>
                </a:solidFill>
                <a:latin typeface="Graphik"/>
              </a:rPr>
              <a:t>des dossiers signalés</a:t>
            </a:r>
          </a:p>
        </p:txBody>
      </p:sp>
      <p:sp>
        <p:nvSpPr>
          <p:cNvPr id="19" name="Rectangle 18"/>
          <p:cNvSpPr/>
          <p:nvPr/>
        </p:nvSpPr>
        <p:spPr>
          <a:xfrm>
            <a:off x="8942832" y="4626864"/>
            <a:ext cx="2688336" cy="100584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942832" y="4663440"/>
            <a:ext cx="2688336" cy="457200"/>
          </a:xfrm>
          <a:prstGeom prst="rect">
            <a:avLst/>
          </a:prstGeom>
          <a:noFill/>
        </p:spPr>
        <p:txBody>
          <a:bodyPr wrap="square" lIns="36576" tIns="36576" rIns="36576" bIns="36576" anchor="t">
            <a:spAutoFit/>
          </a:bodyPr>
          <a:lstStyle/>
          <a:p>
            <a:pPr algn="ctr"/>
            <a:r>
              <a:rPr sz="2400" b="0" i="0">
                <a:solidFill>
                  <a:srgbClr val="A100FF"/>
                </a:solidFill>
                <a:latin typeface="Graphik Black"/>
              </a:rPr>
              <a:t>×3,7</a:t>
            </a:r>
          </a:p>
        </p:txBody>
      </p:sp>
      <p:sp>
        <p:nvSpPr>
          <p:cNvPr id="21" name="TextBox 20"/>
          <p:cNvSpPr txBox="1"/>
          <p:nvPr/>
        </p:nvSpPr>
        <p:spPr>
          <a:xfrm>
            <a:off x="9034272" y="5120640"/>
            <a:ext cx="2505456" cy="502920"/>
          </a:xfrm>
          <a:prstGeom prst="rect">
            <a:avLst/>
          </a:prstGeom>
          <a:noFill/>
        </p:spPr>
        <p:txBody>
          <a:bodyPr wrap="square" lIns="36576" tIns="36576" rIns="36576" bIns="36576" anchor="t">
            <a:spAutoFit/>
          </a:bodyPr>
          <a:lstStyle/>
          <a:p>
            <a:pPr algn="ctr"/>
            <a:r>
              <a:rPr sz="1150" b="0" i="1">
                <a:solidFill>
                  <a:srgbClr val="55555A"/>
                </a:solidFill>
                <a:latin typeface="Graphik"/>
              </a:rPr>
              <a:t>densité de fraude vs contrôle aléatoire (précision 42,5 %)</a:t>
            </a:r>
          </a:p>
        </p:txBody>
      </p:sp>
      <p:sp>
        <p:nvSpPr>
          <p:cNvPr id="22" name="Rectangle 21"/>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En signalant environ 1 dossier sur 4, l'outil capte près de 9 fraudes sur 10.</a:t>
            </a:r>
          </a:p>
        </p:txBody>
      </p:sp>
      <p:sp>
        <p:nvSpPr>
          <p:cNvPr id="23" name="TextBox 22"/>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14/23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3. Modélisation et résultats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Les modèles convergent vers les mêmes déterminants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6766560" cy="4133087"/>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536192"/>
            <a:ext cx="6400800" cy="273921"/>
          </a:xfrm>
          <a:prstGeom prst="rect">
            <a:avLst/>
          </a:prstGeom>
          <a:noFill/>
        </p:spPr>
        <p:txBody>
          <a:bodyPr wrap="square" lIns="36576" tIns="36576" rIns="36576" bIns="36576" anchor="t">
            <a:spAutoFit/>
          </a:bodyPr>
          <a:lstStyle/>
          <a:p>
            <a:pPr algn="l"/>
            <a:r>
              <a:rPr sz="1300" b="1" i="0" dirty="0">
                <a:solidFill>
                  <a:srgbClr val="460073"/>
                </a:solidFill>
                <a:latin typeface="Graphik"/>
              </a:rPr>
              <a:t>Importance relative des variables </a:t>
            </a:r>
            <a:r>
              <a:rPr lang="fr-FR" sz="1300" b="1" i="0" dirty="0">
                <a:solidFill>
                  <a:srgbClr val="460073"/>
                </a:solidFill>
                <a:latin typeface="Graphik"/>
              </a:rPr>
              <a:t>-</a:t>
            </a:r>
            <a:r>
              <a:rPr sz="1300" b="1" i="0" dirty="0">
                <a:solidFill>
                  <a:srgbClr val="460073"/>
                </a:solidFill>
                <a:latin typeface="Graphik"/>
              </a:rPr>
              <a:t> Gradient Boosting</a:t>
            </a:r>
          </a:p>
        </p:txBody>
      </p:sp>
      <p:graphicFrame>
        <p:nvGraphicFramePr>
          <p:cNvPr id="8" name="Chart 7"/>
          <p:cNvGraphicFramePr>
            <a:graphicFrameLocks noGrp="1"/>
          </p:cNvGraphicFramePr>
          <p:nvPr/>
        </p:nvGraphicFramePr>
        <p:xfrm>
          <a:off x="640080" y="1847088"/>
          <a:ext cx="6583680" cy="370332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7543800" y="1481328"/>
            <a:ext cx="4114800" cy="365760"/>
          </a:xfrm>
          <a:prstGeom prst="rect">
            <a:avLst/>
          </a:prstGeom>
          <a:noFill/>
        </p:spPr>
        <p:txBody>
          <a:bodyPr wrap="square" lIns="36576" tIns="36576" rIns="36576" bIns="36576" anchor="t">
            <a:spAutoFit/>
          </a:bodyPr>
          <a:lstStyle/>
          <a:p>
            <a:pPr algn="l"/>
            <a:r>
              <a:rPr sz="1500" b="1" i="0">
                <a:solidFill>
                  <a:srgbClr val="A100FF"/>
                </a:solidFill>
                <a:latin typeface="Graphik"/>
              </a:rPr>
              <a:t>Trois signaux communs aux trois modèles</a:t>
            </a:r>
          </a:p>
        </p:txBody>
      </p:sp>
      <p:sp>
        <p:nvSpPr>
          <p:cNvPr id="10" name="Rectangle 9"/>
          <p:cNvSpPr/>
          <p:nvPr/>
        </p:nvSpPr>
        <p:spPr>
          <a:xfrm>
            <a:off x="7543800" y="1901952"/>
            <a:ext cx="4096512" cy="758952"/>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543800" y="1901952"/>
            <a:ext cx="73152" cy="75895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26679" y="1956816"/>
            <a:ext cx="3840480" cy="320040"/>
          </a:xfrm>
          <a:prstGeom prst="rect">
            <a:avLst/>
          </a:prstGeom>
          <a:noFill/>
        </p:spPr>
        <p:txBody>
          <a:bodyPr wrap="square" lIns="36576" tIns="36576" rIns="36576" bIns="36576" anchor="t">
            <a:spAutoFit/>
          </a:bodyPr>
          <a:lstStyle/>
          <a:p>
            <a:pPr algn="l"/>
            <a:r>
              <a:rPr sz="1350" b="1" i="0">
                <a:solidFill>
                  <a:srgbClr val="460073"/>
                </a:solidFill>
                <a:latin typeface="Graphik"/>
              </a:rPr>
              <a:t>Ratio facture / marché</a:t>
            </a:r>
          </a:p>
        </p:txBody>
      </p:sp>
      <p:sp>
        <p:nvSpPr>
          <p:cNvPr id="13" name="TextBox 12"/>
          <p:cNvSpPr txBox="1"/>
          <p:nvPr/>
        </p:nvSpPr>
        <p:spPr>
          <a:xfrm>
            <a:off x="7726679" y="2267712"/>
            <a:ext cx="3840480" cy="365760"/>
          </a:xfrm>
          <a:prstGeom prst="rect">
            <a:avLst/>
          </a:prstGeom>
          <a:noFill/>
        </p:spPr>
        <p:txBody>
          <a:bodyPr wrap="square" lIns="36576" tIns="36576" rIns="36576" bIns="36576" anchor="t">
            <a:spAutoFit/>
          </a:bodyPr>
          <a:lstStyle/>
          <a:p>
            <a:pPr algn="l"/>
            <a:r>
              <a:rPr sz="1150" b="0" i="0">
                <a:solidFill>
                  <a:srgbClr val="55555A"/>
                </a:solidFill>
                <a:latin typeface="Graphik"/>
              </a:rPr>
              <a:t>racine de l'arbre · 108 points au barème · 25 % du boosting</a:t>
            </a:r>
          </a:p>
        </p:txBody>
      </p:sp>
      <p:sp>
        <p:nvSpPr>
          <p:cNvPr id="14" name="Rectangle 13"/>
          <p:cNvSpPr/>
          <p:nvPr/>
        </p:nvSpPr>
        <p:spPr>
          <a:xfrm>
            <a:off x="7543800" y="2770632"/>
            <a:ext cx="4096512" cy="758952"/>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543800" y="2770632"/>
            <a:ext cx="73152" cy="75895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26679" y="2825496"/>
            <a:ext cx="3840480" cy="320040"/>
          </a:xfrm>
          <a:prstGeom prst="rect">
            <a:avLst/>
          </a:prstGeom>
          <a:noFill/>
        </p:spPr>
        <p:txBody>
          <a:bodyPr wrap="square" lIns="36576" tIns="36576" rIns="36576" bIns="36576" anchor="t">
            <a:spAutoFit/>
          </a:bodyPr>
          <a:lstStyle/>
          <a:p>
            <a:pPr algn="l"/>
            <a:r>
              <a:rPr sz="1350" b="1" i="0">
                <a:solidFill>
                  <a:srgbClr val="460073"/>
                </a:solidFill>
                <a:latin typeface="Graphik"/>
              </a:rPr>
              <a:t>Historique des montants</a:t>
            </a:r>
          </a:p>
        </p:txBody>
      </p:sp>
      <p:sp>
        <p:nvSpPr>
          <p:cNvPr id="17" name="TextBox 16"/>
          <p:cNvSpPr txBox="1"/>
          <p:nvPr/>
        </p:nvSpPr>
        <p:spPr>
          <a:xfrm>
            <a:off x="7726679" y="3136392"/>
            <a:ext cx="3840480" cy="365760"/>
          </a:xfrm>
          <a:prstGeom prst="rect">
            <a:avLst/>
          </a:prstGeom>
          <a:noFill/>
        </p:spPr>
        <p:txBody>
          <a:bodyPr wrap="square" lIns="36576" tIns="36576" rIns="36576" bIns="36576" anchor="t">
            <a:spAutoFit/>
          </a:bodyPr>
          <a:lstStyle/>
          <a:p>
            <a:pPr algn="l"/>
            <a:r>
              <a:rPr sz="1150" b="0" i="0">
                <a:solidFill>
                  <a:srgbClr val="55555A"/>
                </a:solidFill>
                <a:latin typeface="Graphik"/>
              </a:rPr>
              <a:t>2e variable du boosting · 87 points au barème</a:t>
            </a:r>
          </a:p>
        </p:txBody>
      </p:sp>
      <p:sp>
        <p:nvSpPr>
          <p:cNvPr id="18" name="Rectangle 17"/>
          <p:cNvSpPr/>
          <p:nvPr/>
        </p:nvSpPr>
        <p:spPr>
          <a:xfrm>
            <a:off x="7543800" y="3639312"/>
            <a:ext cx="4096512" cy="758952"/>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43800" y="3639312"/>
            <a:ext cx="73152" cy="75895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26679" y="3694176"/>
            <a:ext cx="3840480" cy="320040"/>
          </a:xfrm>
          <a:prstGeom prst="rect">
            <a:avLst/>
          </a:prstGeom>
          <a:noFill/>
        </p:spPr>
        <p:txBody>
          <a:bodyPr wrap="square" lIns="36576" tIns="36576" rIns="36576" bIns="36576" anchor="t">
            <a:spAutoFit/>
          </a:bodyPr>
          <a:lstStyle/>
          <a:p>
            <a:pPr algn="l"/>
            <a:r>
              <a:rPr sz="1350" b="1" i="0">
                <a:solidFill>
                  <a:srgbClr val="460073"/>
                </a:solidFill>
                <a:latin typeface="Graphik"/>
              </a:rPr>
              <a:t>Antécédents de fraude</a:t>
            </a:r>
          </a:p>
        </p:txBody>
      </p:sp>
      <p:sp>
        <p:nvSpPr>
          <p:cNvPr id="21" name="TextBox 20"/>
          <p:cNvSpPr txBox="1"/>
          <p:nvPr/>
        </p:nvSpPr>
        <p:spPr>
          <a:xfrm>
            <a:off x="7726679" y="4005072"/>
            <a:ext cx="3840480" cy="365760"/>
          </a:xfrm>
          <a:prstGeom prst="rect">
            <a:avLst/>
          </a:prstGeom>
          <a:noFill/>
        </p:spPr>
        <p:txBody>
          <a:bodyPr wrap="square" lIns="36576" tIns="36576" rIns="36576" bIns="36576" anchor="t">
            <a:spAutoFit/>
          </a:bodyPr>
          <a:lstStyle/>
          <a:p>
            <a:pPr algn="l"/>
            <a:r>
              <a:rPr sz="1150" b="0" i="0">
                <a:solidFill>
                  <a:srgbClr val="55555A"/>
                </a:solidFill>
                <a:latin typeface="Graphik"/>
              </a:rPr>
              <a:t>13 % du boosting · 74 points au barème</a:t>
            </a:r>
          </a:p>
        </p:txBody>
      </p:sp>
      <p:sp>
        <p:nvSpPr>
          <p:cNvPr id="22" name="Rectangle 21"/>
          <p:cNvSpPr/>
          <p:nvPr/>
        </p:nvSpPr>
        <p:spPr>
          <a:xfrm>
            <a:off x="7543800" y="4572000"/>
            <a:ext cx="4096512" cy="1042415"/>
          </a:xfrm>
          <a:prstGeom prst="rect">
            <a:avLst/>
          </a:prstGeom>
          <a:solidFill>
            <a:srgbClr val="FDF0E1"/>
          </a:solidFill>
          <a:ln w="9525">
            <a:solidFill>
              <a:srgbClr val="E07A1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699248" y="4626864"/>
            <a:ext cx="3840480" cy="960120"/>
          </a:xfrm>
          <a:prstGeom prst="rect">
            <a:avLst/>
          </a:prstGeom>
          <a:noFill/>
        </p:spPr>
        <p:txBody>
          <a:bodyPr wrap="square" lIns="36576" tIns="36576" rIns="36576" bIns="36576" anchor="t">
            <a:spAutoFit/>
          </a:bodyPr>
          <a:lstStyle/>
          <a:p>
            <a:pPr algn="l"/>
            <a:r>
              <a:rPr sz="1200" b="1" i="0">
                <a:solidFill>
                  <a:srgbClr val="E07A10"/>
                </a:solidFill>
                <a:latin typeface="Graphik"/>
              </a:rPr>
              <a:t>Point de vigilance : </a:t>
            </a:r>
            <a:r>
              <a:rPr sz="1200" b="0" i="0">
                <a:solidFill>
                  <a:srgbClr val="1A1A1A"/>
                </a:solidFill>
                <a:latin typeface="Graphik"/>
              </a:rPr>
              <a:t>ces variables dominantes sont simulées ; une fuite d'information de la cible est probable (cf. limites).</a:t>
            </a:r>
          </a:p>
        </p:txBody>
      </p:sp>
      <p:sp>
        <p:nvSpPr>
          <p:cNvPr id="24" name="Rectangle 23"/>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Une convergence qui renforce la confiance… mais qui repose sur des variables simulées.</a:t>
            </a:r>
          </a:p>
        </p:txBody>
      </p:sp>
      <p:sp>
        <p:nvSpPr>
          <p:cNvPr id="25" name="TextBox 24"/>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15/23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04</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Exploitation et gouvernance</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Du score à la décision : module gestionnaire, pilotage et cadre réglementaire</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9A80B8"/>
                </a:solidFill>
                <a:latin typeface="Graphik"/>
              </a:rPr>
              <a:t>16/23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4. Exploitation et gouvernance</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 module gestionnaire : une zone de risque pour chaque dossier</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4206240" cy="987552"/>
          </a:xfrm>
          <a:prstGeom prst="rect">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554480"/>
            <a:ext cx="2103120" cy="365760"/>
          </a:xfrm>
          <a:prstGeom prst="rect">
            <a:avLst/>
          </a:prstGeom>
          <a:noFill/>
        </p:spPr>
        <p:txBody>
          <a:bodyPr wrap="square" lIns="36576" tIns="36576" rIns="36576" bIns="36576" anchor="t">
            <a:spAutoFit/>
          </a:bodyPr>
          <a:lstStyle/>
          <a:p>
            <a:pPr algn="l"/>
            <a:r>
              <a:rPr sz="1600" b="1" i="0">
                <a:solidFill>
                  <a:srgbClr val="1E8E3E"/>
                </a:solidFill>
                <a:latin typeface="Graphik"/>
              </a:rPr>
              <a:t>Zone verte</a:t>
            </a:r>
          </a:p>
        </p:txBody>
      </p:sp>
      <p:sp>
        <p:nvSpPr>
          <p:cNvPr id="8" name="TextBox 7"/>
          <p:cNvSpPr txBox="1"/>
          <p:nvPr/>
        </p:nvSpPr>
        <p:spPr>
          <a:xfrm>
            <a:off x="2743200" y="1572768"/>
            <a:ext cx="1920240" cy="365760"/>
          </a:xfrm>
          <a:prstGeom prst="rect">
            <a:avLst/>
          </a:prstGeom>
          <a:noFill/>
        </p:spPr>
        <p:txBody>
          <a:bodyPr wrap="square" lIns="36576" tIns="36576" rIns="36576" bIns="36576" anchor="t">
            <a:spAutoFit/>
          </a:bodyPr>
          <a:lstStyle/>
          <a:p>
            <a:pPr algn="r"/>
            <a:r>
              <a:rPr sz="1250" b="1" i="0">
                <a:solidFill>
                  <a:srgbClr val="1E8E3E"/>
                </a:solidFill>
                <a:latin typeface="Graphik"/>
              </a:rPr>
              <a:t>probabilité &lt; 35 %</a:t>
            </a:r>
          </a:p>
        </p:txBody>
      </p:sp>
      <p:sp>
        <p:nvSpPr>
          <p:cNvPr id="9" name="TextBox 8"/>
          <p:cNvSpPr txBox="1"/>
          <p:nvPr/>
        </p:nvSpPr>
        <p:spPr>
          <a:xfrm>
            <a:off x="731520" y="1984248"/>
            <a:ext cx="3931920" cy="411480"/>
          </a:xfrm>
          <a:prstGeom prst="rect">
            <a:avLst/>
          </a:prstGeom>
          <a:noFill/>
        </p:spPr>
        <p:txBody>
          <a:bodyPr wrap="square" lIns="36576" tIns="36576" rIns="36576" bIns="36576" anchor="t">
            <a:spAutoFit/>
          </a:bodyPr>
          <a:lstStyle/>
          <a:p>
            <a:pPr algn="l"/>
            <a:r>
              <a:rPr sz="1250" b="0" i="0">
                <a:solidFill>
                  <a:srgbClr val="1A1A1A"/>
                </a:solidFill>
                <a:latin typeface="Graphik"/>
              </a:rPr>
              <a:t>Aucune investigation · traitement standard</a:t>
            </a:r>
          </a:p>
        </p:txBody>
      </p:sp>
      <p:sp>
        <p:nvSpPr>
          <p:cNvPr id="10" name="Rectangle 9"/>
          <p:cNvSpPr/>
          <p:nvPr/>
        </p:nvSpPr>
        <p:spPr>
          <a:xfrm>
            <a:off x="548640" y="2596896"/>
            <a:ext cx="4206240" cy="987552"/>
          </a:xfrm>
          <a:prstGeom prst="rect">
            <a:avLst/>
          </a:prstGeom>
          <a:solidFill>
            <a:srgbClr val="FDF0E1"/>
          </a:solidFill>
          <a:ln w="15875">
            <a:solidFill>
              <a:srgbClr val="E07A1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2670048"/>
            <a:ext cx="2103120" cy="365760"/>
          </a:xfrm>
          <a:prstGeom prst="rect">
            <a:avLst/>
          </a:prstGeom>
          <a:noFill/>
        </p:spPr>
        <p:txBody>
          <a:bodyPr wrap="square" lIns="36576" tIns="36576" rIns="36576" bIns="36576" anchor="t">
            <a:spAutoFit/>
          </a:bodyPr>
          <a:lstStyle/>
          <a:p>
            <a:pPr algn="l"/>
            <a:r>
              <a:rPr sz="1600" b="1" i="0">
                <a:solidFill>
                  <a:srgbClr val="E07A10"/>
                </a:solidFill>
                <a:latin typeface="Graphik"/>
              </a:rPr>
              <a:t>Zone orange</a:t>
            </a:r>
          </a:p>
        </p:txBody>
      </p:sp>
      <p:sp>
        <p:nvSpPr>
          <p:cNvPr id="12" name="TextBox 11"/>
          <p:cNvSpPr txBox="1"/>
          <p:nvPr/>
        </p:nvSpPr>
        <p:spPr>
          <a:xfrm>
            <a:off x="2743200" y="2688336"/>
            <a:ext cx="1920240" cy="365760"/>
          </a:xfrm>
          <a:prstGeom prst="rect">
            <a:avLst/>
          </a:prstGeom>
          <a:noFill/>
        </p:spPr>
        <p:txBody>
          <a:bodyPr wrap="square" lIns="36576" tIns="36576" rIns="36576" bIns="36576" anchor="t">
            <a:spAutoFit/>
          </a:bodyPr>
          <a:lstStyle/>
          <a:p>
            <a:pPr algn="r"/>
            <a:r>
              <a:rPr sz="1250" b="1" i="0">
                <a:solidFill>
                  <a:srgbClr val="E07A10"/>
                </a:solidFill>
                <a:latin typeface="Graphik"/>
              </a:rPr>
              <a:t>35 % à 55 %</a:t>
            </a:r>
          </a:p>
        </p:txBody>
      </p:sp>
      <p:sp>
        <p:nvSpPr>
          <p:cNvPr id="13" name="TextBox 12"/>
          <p:cNvSpPr txBox="1"/>
          <p:nvPr/>
        </p:nvSpPr>
        <p:spPr>
          <a:xfrm>
            <a:off x="731520" y="3099815"/>
            <a:ext cx="3931920" cy="411480"/>
          </a:xfrm>
          <a:prstGeom prst="rect">
            <a:avLst/>
          </a:prstGeom>
          <a:noFill/>
        </p:spPr>
        <p:txBody>
          <a:bodyPr wrap="square" lIns="36576" tIns="36576" rIns="36576" bIns="36576" anchor="t">
            <a:spAutoFit/>
          </a:bodyPr>
          <a:lstStyle/>
          <a:p>
            <a:pPr algn="l"/>
            <a:r>
              <a:rPr sz="1250" b="0" i="0">
                <a:solidFill>
                  <a:srgbClr val="1A1A1A"/>
                </a:solidFill>
                <a:latin typeface="Graphik"/>
              </a:rPr>
              <a:t>Contrôle ciblé · revue documentaire</a:t>
            </a:r>
          </a:p>
        </p:txBody>
      </p:sp>
      <p:sp>
        <p:nvSpPr>
          <p:cNvPr id="14" name="Rectangle 13"/>
          <p:cNvSpPr/>
          <p:nvPr/>
        </p:nvSpPr>
        <p:spPr>
          <a:xfrm>
            <a:off x="548640" y="3712464"/>
            <a:ext cx="4206240" cy="987552"/>
          </a:xfrm>
          <a:prstGeom prst="rect">
            <a:avLst/>
          </a:prstGeom>
          <a:solidFill>
            <a:srgbClr val="FCE8E8"/>
          </a:solidFill>
          <a:ln w="1587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1520" y="3785616"/>
            <a:ext cx="2103120" cy="365760"/>
          </a:xfrm>
          <a:prstGeom prst="rect">
            <a:avLst/>
          </a:prstGeom>
          <a:noFill/>
        </p:spPr>
        <p:txBody>
          <a:bodyPr wrap="square" lIns="36576" tIns="36576" rIns="36576" bIns="36576" anchor="t">
            <a:spAutoFit/>
          </a:bodyPr>
          <a:lstStyle/>
          <a:p>
            <a:pPr algn="l"/>
            <a:r>
              <a:rPr sz="1600" b="1" i="0">
                <a:solidFill>
                  <a:srgbClr val="C62828"/>
                </a:solidFill>
                <a:latin typeface="Graphik"/>
              </a:rPr>
              <a:t>Zone rouge</a:t>
            </a:r>
          </a:p>
        </p:txBody>
      </p:sp>
      <p:sp>
        <p:nvSpPr>
          <p:cNvPr id="16" name="TextBox 15"/>
          <p:cNvSpPr txBox="1"/>
          <p:nvPr/>
        </p:nvSpPr>
        <p:spPr>
          <a:xfrm>
            <a:off x="2743200" y="3803904"/>
            <a:ext cx="1920240" cy="365760"/>
          </a:xfrm>
          <a:prstGeom prst="rect">
            <a:avLst/>
          </a:prstGeom>
          <a:noFill/>
        </p:spPr>
        <p:txBody>
          <a:bodyPr wrap="square" lIns="36576" tIns="36576" rIns="36576" bIns="36576" anchor="t">
            <a:spAutoFit/>
          </a:bodyPr>
          <a:lstStyle/>
          <a:p>
            <a:pPr algn="r"/>
            <a:r>
              <a:rPr sz="1250" b="1" i="0">
                <a:solidFill>
                  <a:srgbClr val="C62828"/>
                </a:solidFill>
                <a:latin typeface="Graphik"/>
              </a:rPr>
              <a:t>probabilité ≥ 55 %</a:t>
            </a:r>
          </a:p>
        </p:txBody>
      </p:sp>
      <p:sp>
        <p:nvSpPr>
          <p:cNvPr id="17" name="TextBox 16"/>
          <p:cNvSpPr txBox="1"/>
          <p:nvPr/>
        </p:nvSpPr>
        <p:spPr>
          <a:xfrm>
            <a:off x="731520" y="4215384"/>
            <a:ext cx="3931920" cy="411480"/>
          </a:xfrm>
          <a:prstGeom prst="rect">
            <a:avLst/>
          </a:prstGeom>
          <a:noFill/>
        </p:spPr>
        <p:txBody>
          <a:bodyPr wrap="square" lIns="36576" tIns="36576" rIns="36576" bIns="36576" anchor="t">
            <a:spAutoFit/>
          </a:bodyPr>
          <a:lstStyle/>
          <a:p>
            <a:pPr algn="l"/>
            <a:r>
              <a:rPr sz="1250" b="0" i="0">
                <a:solidFill>
                  <a:srgbClr val="1A1A1A"/>
                </a:solidFill>
                <a:latin typeface="Graphik"/>
              </a:rPr>
              <a:t>Investigation approfondie · enquête</a:t>
            </a:r>
          </a:p>
        </p:txBody>
      </p:sp>
      <p:sp>
        <p:nvSpPr>
          <p:cNvPr id="18" name="TextBox 17"/>
          <p:cNvSpPr txBox="1"/>
          <p:nvPr/>
        </p:nvSpPr>
        <p:spPr>
          <a:xfrm>
            <a:off x="548640" y="4864608"/>
            <a:ext cx="4206240" cy="777240"/>
          </a:xfrm>
          <a:prstGeom prst="rect">
            <a:avLst/>
          </a:prstGeom>
          <a:noFill/>
        </p:spPr>
        <p:txBody>
          <a:bodyPr wrap="square" lIns="36576" tIns="36576" rIns="36576" bIns="36576" anchor="t">
            <a:spAutoFit/>
          </a:bodyPr>
          <a:lstStyle/>
          <a:p>
            <a:pPr algn="l"/>
            <a:r>
              <a:rPr sz="1150" b="0" i="1">
                <a:solidFill>
                  <a:srgbClr val="55555A"/>
                </a:solidFill>
                <a:latin typeface="Graphik"/>
              </a:rPr>
              <a:t>Bande de ± 10 points autour du seuil optimal de 45 %, paramétrable selon l'appétence au risque et la capacité d'investigation.</a:t>
            </a:r>
          </a:p>
        </p:txBody>
      </p:sp>
      <p:sp>
        <p:nvSpPr>
          <p:cNvPr id="19" name="Rectangle 18"/>
          <p:cNvSpPr/>
          <p:nvPr/>
        </p:nvSpPr>
        <p:spPr>
          <a:xfrm>
            <a:off x="4983480" y="1481328"/>
            <a:ext cx="6656832" cy="4133087"/>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bleau_proba.png"/>
          <p:cNvPicPr>
            <a:picLocks noChangeAspect="1"/>
          </p:cNvPicPr>
          <p:nvPr/>
        </p:nvPicPr>
        <p:blipFill>
          <a:blip r:embed="rId4"/>
          <a:stretch>
            <a:fillRect/>
          </a:stretch>
        </p:blipFill>
        <p:spPr>
          <a:xfrm>
            <a:off x="5074920" y="1637300"/>
            <a:ext cx="6473952" cy="3162775"/>
          </a:xfrm>
          <a:prstGeom prst="rect">
            <a:avLst/>
          </a:prstGeom>
        </p:spPr>
      </p:pic>
      <p:sp>
        <p:nvSpPr>
          <p:cNvPr id="21" name="TextBox 20"/>
          <p:cNvSpPr txBox="1"/>
          <p:nvPr/>
        </p:nvSpPr>
        <p:spPr>
          <a:xfrm>
            <a:off x="5166360" y="4937760"/>
            <a:ext cx="6309360" cy="640080"/>
          </a:xfrm>
          <a:prstGeom prst="rect">
            <a:avLst/>
          </a:prstGeom>
          <a:noFill/>
        </p:spPr>
        <p:txBody>
          <a:bodyPr wrap="square" lIns="36576" tIns="36576" rIns="36576" bIns="36576" anchor="t">
            <a:spAutoFit/>
          </a:bodyPr>
          <a:lstStyle/>
          <a:p>
            <a:pPr algn="l"/>
            <a:r>
              <a:rPr sz="1150" b="0" i="1">
                <a:solidFill>
                  <a:srgbClr val="55555A"/>
                </a:solidFill>
                <a:latin typeface="Graphik"/>
              </a:rPr>
              <a:t>Illustration sur 500 sinistres au statut inconnu : 474 / 21 / 5 dossiers (configuration antérieure du modèle, seuils de 40 % et 60 %).</a:t>
            </a:r>
          </a:p>
        </p:txBody>
      </p:sp>
      <p:sp>
        <p:nvSpPr>
          <p:cNvPr id="22" name="Rectangle 21"/>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Le gestionnaire concentre son effort sur les dossiers à risque, sans voir la complexité du modèle.</a:t>
            </a:r>
          </a:p>
        </p:txBody>
      </p:sp>
      <p:sp>
        <p:nvSpPr>
          <p:cNvPr id="23" name="TextBox 22"/>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17/23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4. Exploitation et gouvernance</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Une boucle d'enrichissement et un pilotage par la valeur</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591056"/>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1</a:t>
            </a:r>
          </a:p>
        </p:txBody>
      </p:sp>
      <p:sp>
        <p:nvSpPr>
          <p:cNvPr id="7" name="Rectangle 6"/>
          <p:cNvSpPr/>
          <p:nvPr/>
        </p:nvSpPr>
        <p:spPr>
          <a:xfrm>
            <a:off x="1051560" y="1481328"/>
            <a:ext cx="4206240"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188720" y="1517904"/>
            <a:ext cx="4023360" cy="320040"/>
          </a:xfrm>
          <a:prstGeom prst="rect">
            <a:avLst/>
          </a:prstGeom>
          <a:noFill/>
        </p:spPr>
        <p:txBody>
          <a:bodyPr wrap="square" lIns="36576" tIns="36576" rIns="36576" bIns="36576" anchor="t">
            <a:spAutoFit/>
          </a:bodyPr>
          <a:lstStyle/>
          <a:p>
            <a:pPr algn="l"/>
            <a:r>
              <a:rPr sz="1400" b="1" i="0">
                <a:solidFill>
                  <a:srgbClr val="460073"/>
                </a:solidFill>
                <a:latin typeface="Graphik"/>
              </a:rPr>
              <a:t>Investigation close</a:t>
            </a:r>
          </a:p>
        </p:txBody>
      </p:sp>
      <p:sp>
        <p:nvSpPr>
          <p:cNvPr id="9" name="TextBox 8"/>
          <p:cNvSpPr txBox="1"/>
          <p:nvPr/>
        </p:nvSpPr>
        <p:spPr>
          <a:xfrm>
            <a:off x="1188720" y="1819656"/>
            <a:ext cx="4023360" cy="301752"/>
          </a:xfrm>
          <a:prstGeom prst="rect">
            <a:avLst/>
          </a:prstGeom>
          <a:noFill/>
        </p:spPr>
        <p:txBody>
          <a:bodyPr wrap="square" lIns="36576" tIns="36576" rIns="36576" bIns="36576" anchor="t">
            <a:spAutoFit/>
          </a:bodyPr>
          <a:lstStyle/>
          <a:p>
            <a:pPr algn="l"/>
            <a:r>
              <a:rPr sz="1200" b="0" i="0">
                <a:solidFill>
                  <a:srgbClr val="55555A"/>
                </a:solidFill>
                <a:latin typeface="Graphik"/>
              </a:rPr>
              <a:t>par le gestionnaire ou l'enquêteur</a:t>
            </a:r>
          </a:p>
        </p:txBody>
      </p:sp>
      <p:sp>
        <p:nvSpPr>
          <p:cNvPr id="10" name="Rectangle 9"/>
          <p:cNvSpPr/>
          <p:nvPr/>
        </p:nvSpPr>
        <p:spPr>
          <a:xfrm>
            <a:off x="548640" y="2377440"/>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2</a:t>
            </a:r>
          </a:p>
        </p:txBody>
      </p:sp>
      <p:sp>
        <p:nvSpPr>
          <p:cNvPr id="11" name="Rectangle 10"/>
          <p:cNvSpPr/>
          <p:nvPr/>
        </p:nvSpPr>
        <p:spPr>
          <a:xfrm>
            <a:off x="1051560" y="2267712"/>
            <a:ext cx="4206240"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88720" y="2304288"/>
            <a:ext cx="4023360" cy="320040"/>
          </a:xfrm>
          <a:prstGeom prst="rect">
            <a:avLst/>
          </a:prstGeom>
          <a:noFill/>
        </p:spPr>
        <p:txBody>
          <a:bodyPr wrap="square" lIns="36576" tIns="36576" rIns="36576" bIns="36576" anchor="t">
            <a:spAutoFit/>
          </a:bodyPr>
          <a:lstStyle/>
          <a:p>
            <a:pPr algn="l"/>
            <a:r>
              <a:rPr sz="1400" b="1" i="0">
                <a:solidFill>
                  <a:srgbClr val="460073"/>
                </a:solidFill>
                <a:latin typeface="Graphik"/>
              </a:rPr>
              <a:t>Issue renseignée</a:t>
            </a:r>
          </a:p>
        </p:txBody>
      </p:sp>
      <p:sp>
        <p:nvSpPr>
          <p:cNvPr id="13" name="TextBox 12"/>
          <p:cNvSpPr txBox="1"/>
          <p:nvPr/>
        </p:nvSpPr>
        <p:spPr>
          <a:xfrm>
            <a:off x="1188720" y="2606040"/>
            <a:ext cx="4023360" cy="301752"/>
          </a:xfrm>
          <a:prstGeom prst="rect">
            <a:avLst/>
          </a:prstGeom>
          <a:noFill/>
        </p:spPr>
        <p:txBody>
          <a:bodyPr wrap="square" lIns="36576" tIns="36576" rIns="36576" bIns="36576" anchor="t">
            <a:spAutoFit/>
          </a:bodyPr>
          <a:lstStyle/>
          <a:p>
            <a:pPr algn="l"/>
            <a:r>
              <a:rPr sz="1200" b="0" i="0">
                <a:solidFill>
                  <a:srgbClr val="55555A"/>
                </a:solidFill>
                <a:latin typeface="Graphik"/>
              </a:rPr>
              <a:t>1 = fraude avérée · 0 = sans suite</a:t>
            </a:r>
          </a:p>
        </p:txBody>
      </p:sp>
      <p:sp>
        <p:nvSpPr>
          <p:cNvPr id="14" name="Rectangle 13"/>
          <p:cNvSpPr/>
          <p:nvPr/>
        </p:nvSpPr>
        <p:spPr>
          <a:xfrm>
            <a:off x="548640" y="3163824"/>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3</a:t>
            </a:r>
          </a:p>
        </p:txBody>
      </p:sp>
      <p:sp>
        <p:nvSpPr>
          <p:cNvPr id="15" name="Rectangle 14"/>
          <p:cNvSpPr/>
          <p:nvPr/>
        </p:nvSpPr>
        <p:spPr>
          <a:xfrm>
            <a:off x="1051560" y="3054096"/>
            <a:ext cx="4206240"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188720" y="3090672"/>
            <a:ext cx="4023360" cy="320040"/>
          </a:xfrm>
          <a:prstGeom prst="rect">
            <a:avLst/>
          </a:prstGeom>
          <a:noFill/>
        </p:spPr>
        <p:txBody>
          <a:bodyPr wrap="square" lIns="36576" tIns="36576" rIns="36576" bIns="36576" anchor="t">
            <a:spAutoFit/>
          </a:bodyPr>
          <a:lstStyle/>
          <a:p>
            <a:pPr algn="l"/>
            <a:r>
              <a:rPr sz="1400" b="1" i="0">
                <a:solidFill>
                  <a:srgbClr val="460073"/>
                </a:solidFill>
                <a:latin typeface="Graphik"/>
              </a:rPr>
              <a:t>Base enrichie</a:t>
            </a:r>
          </a:p>
        </p:txBody>
      </p:sp>
      <p:sp>
        <p:nvSpPr>
          <p:cNvPr id="17" name="TextBox 16"/>
          <p:cNvSpPr txBox="1"/>
          <p:nvPr/>
        </p:nvSpPr>
        <p:spPr>
          <a:xfrm>
            <a:off x="1188720" y="3392424"/>
            <a:ext cx="4023360" cy="301752"/>
          </a:xfrm>
          <a:prstGeom prst="rect">
            <a:avLst/>
          </a:prstGeom>
          <a:noFill/>
        </p:spPr>
        <p:txBody>
          <a:bodyPr wrap="square" lIns="36576" tIns="36576" rIns="36576" bIns="36576" anchor="t">
            <a:spAutoFit/>
          </a:bodyPr>
          <a:lstStyle/>
          <a:p>
            <a:pPr algn="l"/>
            <a:r>
              <a:rPr sz="1200" b="0" i="0">
                <a:solidFill>
                  <a:srgbClr val="55555A"/>
                </a:solidFill>
                <a:latin typeface="Graphik"/>
              </a:rPr>
              <a:t>seuls les dossiers qualifiés sont ajoutés</a:t>
            </a:r>
          </a:p>
        </p:txBody>
      </p:sp>
      <p:sp>
        <p:nvSpPr>
          <p:cNvPr id="18" name="Rectangle 17"/>
          <p:cNvSpPr/>
          <p:nvPr/>
        </p:nvSpPr>
        <p:spPr>
          <a:xfrm>
            <a:off x="548640" y="3950208"/>
            <a:ext cx="384048" cy="38404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Graphik"/>
              </a:rPr>
              <a:t>4</a:t>
            </a:r>
          </a:p>
        </p:txBody>
      </p:sp>
      <p:sp>
        <p:nvSpPr>
          <p:cNvPr id="19" name="Rectangle 18"/>
          <p:cNvSpPr/>
          <p:nvPr/>
        </p:nvSpPr>
        <p:spPr>
          <a:xfrm>
            <a:off x="1051560" y="3840480"/>
            <a:ext cx="4206240"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88720" y="3877056"/>
            <a:ext cx="4023360" cy="320040"/>
          </a:xfrm>
          <a:prstGeom prst="rect">
            <a:avLst/>
          </a:prstGeom>
          <a:noFill/>
        </p:spPr>
        <p:txBody>
          <a:bodyPr wrap="square" lIns="36576" tIns="36576" rIns="36576" bIns="36576" anchor="t">
            <a:spAutoFit/>
          </a:bodyPr>
          <a:lstStyle/>
          <a:p>
            <a:pPr algn="l"/>
            <a:r>
              <a:rPr sz="1400" b="1" i="0">
                <a:solidFill>
                  <a:srgbClr val="460073"/>
                </a:solidFill>
                <a:latin typeface="Graphik"/>
              </a:rPr>
              <a:t>Recalibrage</a:t>
            </a:r>
          </a:p>
        </p:txBody>
      </p:sp>
      <p:sp>
        <p:nvSpPr>
          <p:cNvPr id="21" name="TextBox 20"/>
          <p:cNvSpPr txBox="1"/>
          <p:nvPr/>
        </p:nvSpPr>
        <p:spPr>
          <a:xfrm>
            <a:off x="1188720" y="4178808"/>
            <a:ext cx="4023360" cy="301752"/>
          </a:xfrm>
          <a:prstGeom prst="rect">
            <a:avLst/>
          </a:prstGeom>
          <a:noFill/>
        </p:spPr>
        <p:txBody>
          <a:bodyPr wrap="square" lIns="36576" tIns="36576" rIns="36576" bIns="36576" anchor="t">
            <a:spAutoFit/>
          </a:bodyPr>
          <a:lstStyle/>
          <a:p>
            <a:pPr algn="l"/>
            <a:r>
              <a:rPr sz="1200" b="0" i="0">
                <a:solidFill>
                  <a:srgbClr val="55555A"/>
                </a:solidFill>
                <a:latin typeface="Graphik"/>
              </a:rPr>
              <a:t>le modèle suit l'évolution des comportements</a:t>
            </a:r>
          </a:p>
        </p:txBody>
      </p:sp>
      <p:sp>
        <p:nvSpPr>
          <p:cNvPr id="22" name="Rectangle 21"/>
          <p:cNvSpPr/>
          <p:nvPr/>
        </p:nvSpPr>
        <p:spPr>
          <a:xfrm>
            <a:off x="548640" y="4681728"/>
            <a:ext cx="4709160" cy="950976"/>
          </a:xfrm>
          <a:prstGeom prst="rect">
            <a:avLst/>
          </a:prstGeom>
          <a:solidFill>
            <a:srgbClr val="FDF0E1"/>
          </a:solidFill>
          <a:ln w="9525">
            <a:solidFill>
              <a:srgbClr val="E07A1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85800" y="4727448"/>
            <a:ext cx="4480560" cy="868680"/>
          </a:xfrm>
          <a:prstGeom prst="rect">
            <a:avLst/>
          </a:prstGeom>
          <a:noFill/>
        </p:spPr>
        <p:txBody>
          <a:bodyPr wrap="square" lIns="36576" tIns="36576" rIns="36576" bIns="36576" anchor="t">
            <a:spAutoFit/>
          </a:bodyPr>
          <a:lstStyle/>
          <a:p>
            <a:pPr algn="l"/>
            <a:r>
              <a:rPr sz="1200" b="1" i="0">
                <a:solidFill>
                  <a:srgbClr val="E07A10"/>
                </a:solidFill>
                <a:latin typeface="Graphik"/>
              </a:rPr>
              <a:t>Biais de sélection : </a:t>
            </a:r>
            <a:r>
              <a:rPr sz="1200" b="0" i="0">
                <a:solidFill>
                  <a:srgbClr val="1A1A1A"/>
                </a:solidFill>
                <a:latin typeface="Graphik"/>
              </a:rPr>
              <a:t>seuls les dossiers investigués sont étiquetés. Remède : investiguer aussi un échantillon aléatoire de la zone verte.</a:t>
            </a:r>
          </a:p>
        </p:txBody>
      </p:sp>
      <p:sp>
        <p:nvSpPr>
          <p:cNvPr id="24" name="Rectangle 23"/>
          <p:cNvSpPr/>
          <p:nvPr/>
        </p:nvSpPr>
        <p:spPr>
          <a:xfrm>
            <a:off x="5486400" y="1481328"/>
            <a:ext cx="3611880" cy="4151376"/>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rapport_annuel.png"/>
          <p:cNvPicPr>
            <a:picLocks noChangeAspect="1"/>
          </p:cNvPicPr>
          <p:nvPr/>
        </p:nvPicPr>
        <p:blipFill>
          <a:blip r:embed="rId4"/>
          <a:stretch>
            <a:fillRect/>
          </a:stretch>
        </p:blipFill>
        <p:spPr>
          <a:xfrm>
            <a:off x="5559552" y="1887488"/>
            <a:ext cx="3465576" cy="3339054"/>
          </a:xfrm>
          <a:prstGeom prst="rect">
            <a:avLst/>
          </a:prstGeom>
        </p:spPr>
      </p:pic>
      <p:sp>
        <p:nvSpPr>
          <p:cNvPr id="26" name="TextBox 25"/>
          <p:cNvSpPr txBox="1"/>
          <p:nvPr/>
        </p:nvSpPr>
        <p:spPr>
          <a:xfrm>
            <a:off x="9281160" y="1481328"/>
            <a:ext cx="2377440" cy="365760"/>
          </a:xfrm>
          <a:prstGeom prst="rect">
            <a:avLst/>
          </a:prstGeom>
          <a:noFill/>
        </p:spPr>
        <p:txBody>
          <a:bodyPr wrap="square" lIns="36576" tIns="36576" rIns="36576" bIns="36576" anchor="t">
            <a:spAutoFit/>
          </a:bodyPr>
          <a:lstStyle/>
          <a:p>
            <a:pPr algn="l"/>
            <a:r>
              <a:rPr sz="1500" b="1" i="0">
                <a:solidFill>
                  <a:srgbClr val="A100FF"/>
                </a:solidFill>
                <a:latin typeface="Graphik"/>
              </a:rPr>
              <a:t>Indicateurs de pilotage</a:t>
            </a:r>
          </a:p>
        </p:txBody>
      </p:sp>
      <p:sp>
        <p:nvSpPr>
          <p:cNvPr id="27" name="Rectangle 26"/>
          <p:cNvSpPr/>
          <p:nvPr/>
        </p:nvSpPr>
        <p:spPr>
          <a:xfrm>
            <a:off x="9281160" y="1920240"/>
            <a:ext cx="2359152" cy="82296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390888" y="1965960"/>
            <a:ext cx="2194560" cy="320040"/>
          </a:xfrm>
          <a:prstGeom prst="rect">
            <a:avLst/>
          </a:prstGeom>
          <a:noFill/>
        </p:spPr>
        <p:txBody>
          <a:bodyPr wrap="square" lIns="36576" tIns="36576" rIns="36576" bIns="36576" anchor="t">
            <a:spAutoFit/>
          </a:bodyPr>
          <a:lstStyle/>
          <a:p>
            <a:pPr algn="l"/>
            <a:r>
              <a:rPr sz="1350" b="1" i="0">
                <a:solidFill>
                  <a:srgbClr val="460073"/>
                </a:solidFill>
                <a:latin typeface="Graphik"/>
              </a:rPr>
              <a:t>Fraude évitée</a:t>
            </a:r>
          </a:p>
        </p:txBody>
      </p:sp>
      <p:sp>
        <p:nvSpPr>
          <p:cNvPr id="29" name="TextBox 28"/>
          <p:cNvSpPr txBox="1"/>
          <p:nvPr/>
        </p:nvSpPr>
        <p:spPr>
          <a:xfrm>
            <a:off x="9390888" y="2267712"/>
            <a:ext cx="2194560" cy="457200"/>
          </a:xfrm>
          <a:prstGeom prst="rect">
            <a:avLst/>
          </a:prstGeom>
          <a:noFill/>
        </p:spPr>
        <p:txBody>
          <a:bodyPr wrap="square" lIns="36576" tIns="36576" rIns="36576" bIns="36576" anchor="t">
            <a:spAutoFit/>
          </a:bodyPr>
          <a:lstStyle/>
          <a:p>
            <a:pPr algn="l"/>
            <a:r>
              <a:rPr sz="1050" b="0" i="0">
                <a:solidFill>
                  <a:srgbClr val="55555A"/>
                </a:solidFill>
                <a:latin typeface="Graphik"/>
              </a:rPr>
              <a:t>montant des sinistres frauduleux confirmés</a:t>
            </a:r>
          </a:p>
        </p:txBody>
      </p:sp>
      <p:sp>
        <p:nvSpPr>
          <p:cNvPr id="30" name="Rectangle 29"/>
          <p:cNvSpPr/>
          <p:nvPr/>
        </p:nvSpPr>
        <p:spPr>
          <a:xfrm>
            <a:off x="9281160" y="2834640"/>
            <a:ext cx="2359152" cy="82296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390888" y="2880360"/>
            <a:ext cx="2194560" cy="320040"/>
          </a:xfrm>
          <a:prstGeom prst="rect">
            <a:avLst/>
          </a:prstGeom>
          <a:noFill/>
        </p:spPr>
        <p:txBody>
          <a:bodyPr wrap="square" lIns="36576" tIns="36576" rIns="36576" bIns="36576" anchor="t">
            <a:spAutoFit/>
          </a:bodyPr>
          <a:lstStyle/>
          <a:p>
            <a:pPr algn="l"/>
            <a:r>
              <a:rPr sz="1350" b="1" i="0">
                <a:solidFill>
                  <a:srgbClr val="460073"/>
                </a:solidFill>
                <a:latin typeface="Graphik"/>
              </a:rPr>
              <a:t>Ratio S/P</a:t>
            </a:r>
          </a:p>
        </p:txBody>
      </p:sp>
      <p:sp>
        <p:nvSpPr>
          <p:cNvPr id="32" name="TextBox 31"/>
          <p:cNvSpPr txBox="1"/>
          <p:nvPr/>
        </p:nvSpPr>
        <p:spPr>
          <a:xfrm>
            <a:off x="9390888" y="3182112"/>
            <a:ext cx="2194560" cy="457200"/>
          </a:xfrm>
          <a:prstGeom prst="rect">
            <a:avLst/>
          </a:prstGeom>
          <a:noFill/>
        </p:spPr>
        <p:txBody>
          <a:bodyPr wrap="square" lIns="36576" tIns="36576" rIns="36576" bIns="36576" anchor="t">
            <a:spAutoFit/>
          </a:bodyPr>
          <a:lstStyle/>
          <a:p>
            <a:pPr algn="l"/>
            <a:r>
              <a:rPr sz="1050" b="0" i="0">
                <a:solidFill>
                  <a:srgbClr val="55555A"/>
                </a:solidFill>
                <a:latin typeface="Graphik"/>
              </a:rPr>
              <a:t>impact de la détection sur la sinistralité</a:t>
            </a:r>
          </a:p>
        </p:txBody>
      </p:sp>
      <p:sp>
        <p:nvSpPr>
          <p:cNvPr id="33" name="Rectangle 32"/>
          <p:cNvSpPr/>
          <p:nvPr/>
        </p:nvSpPr>
        <p:spPr>
          <a:xfrm>
            <a:off x="9281160" y="3749039"/>
            <a:ext cx="2359152" cy="82296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390888" y="3794759"/>
            <a:ext cx="2194560" cy="320040"/>
          </a:xfrm>
          <a:prstGeom prst="rect">
            <a:avLst/>
          </a:prstGeom>
          <a:noFill/>
        </p:spPr>
        <p:txBody>
          <a:bodyPr wrap="square" lIns="36576" tIns="36576" rIns="36576" bIns="36576" anchor="t">
            <a:spAutoFit/>
          </a:bodyPr>
          <a:lstStyle/>
          <a:p>
            <a:pPr algn="l"/>
            <a:r>
              <a:rPr sz="1350" b="1" i="0">
                <a:solidFill>
                  <a:srgbClr val="460073"/>
                </a:solidFill>
                <a:latin typeface="Graphik"/>
              </a:rPr>
              <a:t>ROI</a:t>
            </a:r>
          </a:p>
        </p:txBody>
      </p:sp>
      <p:sp>
        <p:nvSpPr>
          <p:cNvPr id="35" name="TextBox 34"/>
          <p:cNvSpPr txBox="1"/>
          <p:nvPr/>
        </p:nvSpPr>
        <p:spPr>
          <a:xfrm>
            <a:off x="9390888" y="4096511"/>
            <a:ext cx="2194560" cy="457200"/>
          </a:xfrm>
          <a:prstGeom prst="rect">
            <a:avLst/>
          </a:prstGeom>
          <a:noFill/>
        </p:spPr>
        <p:txBody>
          <a:bodyPr wrap="square" lIns="36576" tIns="36576" rIns="36576" bIns="36576" anchor="t">
            <a:spAutoFit/>
          </a:bodyPr>
          <a:lstStyle/>
          <a:p>
            <a:pPr algn="l"/>
            <a:r>
              <a:rPr sz="1050" b="0" i="0">
                <a:solidFill>
                  <a:srgbClr val="55555A"/>
                </a:solidFill>
                <a:latin typeface="Graphik"/>
              </a:rPr>
              <a:t>valeur créée rapportée au coût du dispositif</a:t>
            </a:r>
          </a:p>
        </p:txBody>
      </p:sp>
      <p:sp>
        <p:nvSpPr>
          <p:cNvPr id="36" name="Rectangle 35"/>
          <p:cNvSpPr/>
          <p:nvPr/>
        </p:nvSpPr>
        <p:spPr>
          <a:xfrm>
            <a:off x="9281160" y="4663440"/>
            <a:ext cx="2359152" cy="822960"/>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390888" y="4709159"/>
            <a:ext cx="2194560" cy="320040"/>
          </a:xfrm>
          <a:prstGeom prst="rect">
            <a:avLst/>
          </a:prstGeom>
          <a:noFill/>
        </p:spPr>
        <p:txBody>
          <a:bodyPr wrap="square" lIns="36576" tIns="36576" rIns="36576" bIns="36576" anchor="t">
            <a:spAutoFit/>
          </a:bodyPr>
          <a:lstStyle/>
          <a:p>
            <a:pPr algn="l"/>
            <a:r>
              <a:rPr sz="1350" b="1" i="0">
                <a:solidFill>
                  <a:srgbClr val="460073"/>
                </a:solidFill>
                <a:latin typeface="Graphik"/>
              </a:rPr>
              <a:t>Calibration</a:t>
            </a:r>
          </a:p>
        </p:txBody>
      </p:sp>
      <p:sp>
        <p:nvSpPr>
          <p:cNvPr id="38" name="TextBox 37"/>
          <p:cNvSpPr txBox="1"/>
          <p:nvPr/>
        </p:nvSpPr>
        <p:spPr>
          <a:xfrm>
            <a:off x="9390888" y="5010912"/>
            <a:ext cx="2194560" cy="457200"/>
          </a:xfrm>
          <a:prstGeom prst="rect">
            <a:avLst/>
          </a:prstGeom>
          <a:noFill/>
        </p:spPr>
        <p:txBody>
          <a:bodyPr wrap="square" lIns="36576" tIns="36576" rIns="36576" bIns="36576" anchor="t">
            <a:spAutoFit/>
          </a:bodyPr>
          <a:lstStyle/>
          <a:p>
            <a:pPr algn="l"/>
            <a:r>
              <a:rPr sz="1050" b="0" i="0">
                <a:solidFill>
                  <a:srgbClr val="55555A"/>
                </a:solidFill>
                <a:latin typeface="Graphik"/>
              </a:rPr>
              <a:t>taux de fraude avérée par zone et par tranche</a:t>
            </a:r>
          </a:p>
        </p:txBody>
      </p:sp>
      <p:sp>
        <p:nvSpPr>
          <p:cNvPr id="39" name="Rectangle 38"/>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Un dispositif qui apprend de ses décisions et mesure sa propre valeur économique.</a:t>
            </a:r>
          </a:p>
        </p:txBody>
      </p:sp>
      <p:sp>
        <p:nvSpPr>
          <p:cNvPr id="40" name="TextBox 39"/>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18/23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4. Exploitation et gouvernance</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Un cadre de gouvernance qui place l'humain au centre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3584448" cy="260604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13232" y="1527048"/>
            <a:ext cx="3291840" cy="329184"/>
          </a:xfrm>
          <a:prstGeom prst="rect">
            <a:avLst/>
          </a:prstGeom>
          <a:noFill/>
        </p:spPr>
        <p:txBody>
          <a:bodyPr wrap="square" lIns="36576" tIns="36576" rIns="36576" bIns="36576" anchor="t">
            <a:spAutoFit/>
          </a:bodyPr>
          <a:lstStyle/>
          <a:p>
            <a:pPr algn="l"/>
            <a:r>
              <a:rPr sz="1600" b="1" i="0">
                <a:solidFill>
                  <a:srgbClr val="FFFFFF"/>
                </a:solidFill>
                <a:latin typeface="Graphik"/>
              </a:rPr>
              <a:t>RGPD</a:t>
            </a:r>
          </a:p>
        </p:txBody>
      </p:sp>
      <p:sp>
        <p:nvSpPr>
          <p:cNvPr id="9" name="TextBox 8"/>
          <p:cNvSpPr txBox="1"/>
          <p:nvPr/>
        </p:nvSpPr>
        <p:spPr>
          <a:xfrm>
            <a:off x="713232" y="1819656"/>
            <a:ext cx="3291840" cy="274320"/>
          </a:xfrm>
          <a:prstGeom prst="rect">
            <a:avLst/>
          </a:prstGeom>
          <a:noFill/>
        </p:spPr>
        <p:txBody>
          <a:bodyPr wrap="square" lIns="36576" tIns="36576" rIns="36576" bIns="36576" anchor="t">
            <a:spAutoFit/>
          </a:bodyPr>
          <a:lstStyle/>
          <a:p>
            <a:pPr algn="l"/>
            <a:r>
              <a:rPr sz="1150" b="0" i="1">
                <a:solidFill>
                  <a:srgbClr val="C9A6F2"/>
                </a:solidFill>
                <a:latin typeface="Graphik"/>
              </a:rPr>
              <a:t>Article 22</a:t>
            </a:r>
          </a:p>
        </p:txBody>
      </p:sp>
      <p:sp>
        <p:nvSpPr>
          <p:cNvPr id="10" name="TextBox 9"/>
          <p:cNvSpPr txBox="1"/>
          <p:nvPr/>
        </p:nvSpPr>
        <p:spPr>
          <a:xfrm>
            <a:off x="731520" y="2286000"/>
            <a:ext cx="3246120" cy="1783080"/>
          </a:xfrm>
          <a:prstGeom prst="rect">
            <a:avLst/>
          </a:prstGeom>
          <a:noFill/>
        </p:spPr>
        <p:txBody>
          <a:bodyPr wrap="square" lIns="36576" tIns="36576" rIns="36576" bIns="36576" anchor="t">
            <a:spAutoFit/>
          </a:bodyPr>
          <a:lstStyle/>
          <a:p>
            <a:pPr algn="l">
              <a:spcAft>
                <a:spcPts val="800"/>
              </a:spcAft>
            </a:pPr>
            <a:r>
              <a:rPr sz="1400" b="1" i="0">
                <a:solidFill>
                  <a:srgbClr val="A100FF"/>
                </a:solidFill>
                <a:latin typeface="Graphik"/>
              </a:rPr>
              <a:t>•  </a:t>
            </a:r>
            <a:r>
              <a:rPr sz="1400" b="0" i="0">
                <a:solidFill>
                  <a:srgbClr val="1A1A1A"/>
                </a:solidFill>
                <a:latin typeface="Graphik"/>
              </a:rPr>
              <a:t>Pas de décision défavorable fondée exclusivement sur un traitement automatisé</a:t>
            </a:r>
          </a:p>
          <a:p>
            <a:pPr algn="l">
              <a:spcAft>
                <a:spcPts val="800"/>
              </a:spcAft>
            </a:pPr>
            <a:r>
              <a:rPr sz="1400" b="1" i="0">
                <a:solidFill>
                  <a:srgbClr val="A100FF"/>
                </a:solidFill>
                <a:latin typeface="Graphik"/>
              </a:rPr>
              <a:t>•  </a:t>
            </a:r>
            <a:r>
              <a:rPr sz="1400" b="0" i="0">
                <a:solidFill>
                  <a:srgbClr val="1A1A1A"/>
                </a:solidFill>
                <a:latin typeface="Graphik"/>
              </a:rPr>
              <a:t>Le score oriente, il ne sanctionne pas</a:t>
            </a:r>
          </a:p>
        </p:txBody>
      </p:sp>
      <p:sp>
        <p:nvSpPr>
          <p:cNvPr id="11" name="Rectangle 10"/>
          <p:cNvSpPr/>
          <p:nvPr/>
        </p:nvSpPr>
        <p:spPr>
          <a:xfrm>
            <a:off x="4297679" y="1481328"/>
            <a:ext cx="3584448" cy="260604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297679"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462271" y="1527048"/>
            <a:ext cx="3291840" cy="329184"/>
          </a:xfrm>
          <a:prstGeom prst="rect">
            <a:avLst/>
          </a:prstGeom>
          <a:noFill/>
        </p:spPr>
        <p:txBody>
          <a:bodyPr wrap="square" lIns="36576" tIns="36576" rIns="36576" bIns="36576" anchor="t">
            <a:spAutoFit/>
          </a:bodyPr>
          <a:lstStyle/>
          <a:p>
            <a:pPr algn="l"/>
            <a:r>
              <a:rPr sz="1600" b="1" i="0">
                <a:solidFill>
                  <a:srgbClr val="FFFFFF"/>
                </a:solidFill>
                <a:latin typeface="Graphik"/>
              </a:rPr>
              <a:t>AI Act</a:t>
            </a:r>
          </a:p>
        </p:txBody>
      </p:sp>
      <p:sp>
        <p:nvSpPr>
          <p:cNvPr id="14" name="TextBox 13"/>
          <p:cNvSpPr txBox="1"/>
          <p:nvPr/>
        </p:nvSpPr>
        <p:spPr>
          <a:xfrm>
            <a:off x="4462271" y="1819656"/>
            <a:ext cx="3291840" cy="274320"/>
          </a:xfrm>
          <a:prstGeom prst="rect">
            <a:avLst/>
          </a:prstGeom>
          <a:noFill/>
        </p:spPr>
        <p:txBody>
          <a:bodyPr wrap="square" lIns="36576" tIns="36576" rIns="36576" bIns="36576" anchor="t">
            <a:spAutoFit/>
          </a:bodyPr>
          <a:lstStyle/>
          <a:p>
            <a:pPr algn="l"/>
            <a:r>
              <a:rPr sz="1150" b="0" i="1">
                <a:solidFill>
                  <a:srgbClr val="C9A6F2"/>
                </a:solidFill>
                <a:latin typeface="Graphik"/>
              </a:rPr>
              <a:t>Règlement (UE) 2024/1689</a:t>
            </a:r>
          </a:p>
        </p:txBody>
      </p:sp>
      <p:sp>
        <p:nvSpPr>
          <p:cNvPr id="15" name="TextBox 14"/>
          <p:cNvSpPr txBox="1"/>
          <p:nvPr/>
        </p:nvSpPr>
        <p:spPr>
          <a:xfrm>
            <a:off x="4480559" y="2286000"/>
            <a:ext cx="3246120" cy="1783080"/>
          </a:xfrm>
          <a:prstGeom prst="rect">
            <a:avLst/>
          </a:prstGeom>
          <a:noFill/>
        </p:spPr>
        <p:txBody>
          <a:bodyPr wrap="square" lIns="36576" tIns="36576" rIns="36576" bIns="36576" anchor="t">
            <a:spAutoFit/>
          </a:bodyPr>
          <a:lstStyle/>
          <a:p>
            <a:pPr algn="l">
              <a:spcAft>
                <a:spcPts val="800"/>
              </a:spcAft>
            </a:pPr>
            <a:r>
              <a:rPr sz="1400" b="1" i="0">
                <a:solidFill>
                  <a:srgbClr val="A100FF"/>
                </a:solidFill>
                <a:latin typeface="Graphik"/>
              </a:rPr>
              <a:t>•  </a:t>
            </a:r>
            <a:r>
              <a:rPr sz="1400" b="0" i="0">
                <a:solidFill>
                  <a:srgbClr val="1A1A1A"/>
                </a:solidFill>
                <a:latin typeface="Graphik"/>
              </a:rPr>
              <a:t>Détection de fraude non visée explicitement à l'annexe III : qualification au cas par cas</a:t>
            </a:r>
          </a:p>
          <a:p>
            <a:pPr algn="l">
              <a:spcAft>
                <a:spcPts val="800"/>
              </a:spcAft>
            </a:pPr>
            <a:r>
              <a:rPr sz="1400" b="1" i="0">
                <a:solidFill>
                  <a:srgbClr val="A100FF"/>
                </a:solidFill>
                <a:latin typeface="Graphik"/>
              </a:rPr>
              <a:t>•  </a:t>
            </a:r>
            <a:r>
              <a:rPr sz="1400" b="0" i="0">
                <a:solidFill>
                  <a:srgbClr val="1A1A1A"/>
                </a:solidFill>
                <a:latin typeface="Graphik"/>
              </a:rPr>
              <a:t>Obligations « haut risque » reportées au 2 décembre 2027 (Omnibus IA)</a:t>
            </a:r>
          </a:p>
        </p:txBody>
      </p:sp>
      <p:sp>
        <p:nvSpPr>
          <p:cNvPr id="16" name="Rectangle 15"/>
          <p:cNvSpPr/>
          <p:nvPr/>
        </p:nvSpPr>
        <p:spPr>
          <a:xfrm>
            <a:off x="8046719" y="1481328"/>
            <a:ext cx="3584448" cy="260604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046719" y="1481328"/>
            <a:ext cx="3584448"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211311" y="1527048"/>
            <a:ext cx="3291840" cy="329184"/>
          </a:xfrm>
          <a:prstGeom prst="rect">
            <a:avLst/>
          </a:prstGeom>
          <a:noFill/>
        </p:spPr>
        <p:txBody>
          <a:bodyPr wrap="square" lIns="36576" tIns="36576" rIns="36576" bIns="36576" anchor="t">
            <a:spAutoFit/>
          </a:bodyPr>
          <a:lstStyle/>
          <a:p>
            <a:pPr algn="l"/>
            <a:r>
              <a:rPr sz="1600" b="1" i="0">
                <a:solidFill>
                  <a:srgbClr val="FFFFFF"/>
                </a:solidFill>
                <a:latin typeface="Graphik"/>
              </a:rPr>
              <a:t>ACPR</a:t>
            </a:r>
          </a:p>
        </p:txBody>
      </p:sp>
      <p:sp>
        <p:nvSpPr>
          <p:cNvPr id="19" name="TextBox 18"/>
          <p:cNvSpPr txBox="1"/>
          <p:nvPr/>
        </p:nvSpPr>
        <p:spPr>
          <a:xfrm>
            <a:off x="8211311" y="1819656"/>
            <a:ext cx="3291840" cy="274320"/>
          </a:xfrm>
          <a:prstGeom prst="rect">
            <a:avLst/>
          </a:prstGeom>
          <a:noFill/>
        </p:spPr>
        <p:txBody>
          <a:bodyPr wrap="square" lIns="36576" tIns="36576" rIns="36576" bIns="36576" anchor="t">
            <a:spAutoFit/>
          </a:bodyPr>
          <a:lstStyle/>
          <a:p>
            <a:pPr algn="l"/>
            <a:r>
              <a:rPr sz="1150" b="0" i="1">
                <a:solidFill>
                  <a:srgbClr val="C9A6F2"/>
                </a:solidFill>
                <a:latin typeface="Graphik"/>
              </a:rPr>
              <a:t>Document de réflexion (juin 2020)</a:t>
            </a:r>
          </a:p>
        </p:txBody>
      </p:sp>
      <p:sp>
        <p:nvSpPr>
          <p:cNvPr id="20" name="TextBox 19"/>
          <p:cNvSpPr txBox="1"/>
          <p:nvPr/>
        </p:nvSpPr>
        <p:spPr>
          <a:xfrm>
            <a:off x="8229599" y="2286000"/>
            <a:ext cx="3246120" cy="1783080"/>
          </a:xfrm>
          <a:prstGeom prst="rect">
            <a:avLst/>
          </a:prstGeom>
          <a:noFill/>
        </p:spPr>
        <p:txBody>
          <a:bodyPr wrap="square" lIns="36576" tIns="36576" rIns="36576" bIns="36576" anchor="t">
            <a:spAutoFit/>
          </a:bodyPr>
          <a:lstStyle/>
          <a:p>
            <a:pPr algn="l">
              <a:spcAft>
                <a:spcPts val="800"/>
              </a:spcAft>
            </a:pPr>
            <a:r>
              <a:rPr sz="1400" b="1" i="0">
                <a:solidFill>
                  <a:srgbClr val="A100FF"/>
                </a:solidFill>
                <a:latin typeface="Graphik"/>
              </a:rPr>
              <a:t>•  </a:t>
            </a:r>
            <a:r>
              <a:rPr sz="1400" b="0" i="0">
                <a:solidFill>
                  <a:srgbClr val="1A1A1A"/>
                </a:solidFill>
                <a:latin typeface="Graphik"/>
              </a:rPr>
              <a:t>Gestion des données, performance, stabilité, explicabilité</a:t>
            </a:r>
          </a:p>
          <a:p>
            <a:pPr algn="l">
              <a:spcAft>
                <a:spcPts val="800"/>
              </a:spcAft>
            </a:pPr>
            <a:r>
              <a:rPr sz="1400" b="1" i="0">
                <a:solidFill>
                  <a:srgbClr val="A100FF"/>
                </a:solidFill>
                <a:latin typeface="Graphik"/>
              </a:rPr>
              <a:t>•  </a:t>
            </a:r>
            <a:r>
              <a:rPr sz="1400" b="0" i="0">
                <a:solidFill>
                  <a:srgbClr val="1A1A1A"/>
                </a:solidFill>
                <a:latin typeface="Graphik"/>
              </a:rPr>
              <a:t>Validation continue et traçabilité du modèle</a:t>
            </a:r>
          </a:p>
        </p:txBody>
      </p:sp>
      <p:sp>
        <p:nvSpPr>
          <p:cNvPr id="21" name="Rectangle 20"/>
          <p:cNvSpPr/>
          <p:nvPr/>
        </p:nvSpPr>
        <p:spPr>
          <a:xfrm>
            <a:off x="548640" y="4224528"/>
            <a:ext cx="11094415" cy="1417320"/>
          </a:xfrm>
          <a:prstGeom prst="rect">
            <a:avLst/>
          </a:prstGeom>
          <a:solidFill>
            <a:srgbClr val="F6EF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77240" y="4279392"/>
            <a:ext cx="7315200" cy="329184"/>
          </a:xfrm>
          <a:prstGeom prst="rect">
            <a:avLst/>
          </a:prstGeom>
          <a:noFill/>
        </p:spPr>
        <p:txBody>
          <a:bodyPr wrap="square" lIns="36576" tIns="36576" rIns="36576" bIns="36576" anchor="t">
            <a:spAutoFit/>
          </a:bodyPr>
          <a:lstStyle/>
          <a:p>
            <a:pPr algn="l"/>
            <a:r>
              <a:rPr sz="1400" b="1" i="0">
                <a:solidFill>
                  <a:srgbClr val="A100FF"/>
                </a:solidFill>
                <a:latin typeface="Graphik"/>
              </a:rPr>
              <a:t>Supervision humaine : l'agent alerte, l'humain décide</a:t>
            </a:r>
          </a:p>
        </p:txBody>
      </p:sp>
      <p:sp>
        <p:nvSpPr>
          <p:cNvPr id="23" name="Rectangle 22"/>
          <p:cNvSpPr/>
          <p:nvPr/>
        </p:nvSpPr>
        <p:spPr>
          <a:xfrm>
            <a:off x="868680" y="4663440"/>
            <a:ext cx="3108960" cy="78638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Graphik"/>
              </a:rPr>
              <a:t>Agent d'IA</a:t>
            </a:r>
          </a:p>
          <a:p>
            <a:pPr algn="ctr"/>
            <a:r>
              <a:rPr sz="1150" b="0" i="0">
                <a:solidFill>
                  <a:srgbClr val="FFFFFF"/>
                </a:solidFill>
                <a:latin typeface="Graphik"/>
              </a:rPr>
              <a:t>score et zone de risque</a:t>
            </a:r>
          </a:p>
        </p:txBody>
      </p:sp>
      <p:cxnSp>
        <p:nvCxnSpPr>
          <p:cNvPr id="24" name="Connector 23"/>
          <p:cNvCxnSpPr/>
          <p:nvPr/>
        </p:nvCxnSpPr>
        <p:spPr>
          <a:xfrm>
            <a:off x="3977639" y="5056632"/>
            <a:ext cx="548641" cy="0"/>
          </a:xfrm>
          <a:prstGeom prst="line">
            <a:avLst/>
          </a:prstGeom>
          <a:ln w="25400">
            <a:solidFill>
              <a:srgbClr val="4600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526280" y="4663440"/>
            <a:ext cx="3108960" cy="786384"/>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Graphik"/>
              </a:rPr>
              <a:t>Gestionnaire / enquêteur</a:t>
            </a:r>
          </a:p>
          <a:p>
            <a:pPr algn="ctr"/>
            <a:r>
              <a:rPr sz="1150" b="0" i="0">
                <a:solidFill>
                  <a:srgbClr val="FFFFFF"/>
                </a:solidFill>
                <a:latin typeface="Graphik"/>
              </a:rPr>
              <a:t>investigation du dossier</a:t>
            </a:r>
          </a:p>
        </p:txBody>
      </p:sp>
      <p:cxnSp>
        <p:nvCxnSpPr>
          <p:cNvPr id="26" name="Connector 25"/>
          <p:cNvCxnSpPr/>
          <p:nvPr/>
        </p:nvCxnSpPr>
        <p:spPr>
          <a:xfrm>
            <a:off x="7635240" y="5056632"/>
            <a:ext cx="548639" cy="0"/>
          </a:xfrm>
          <a:prstGeom prst="line">
            <a:avLst/>
          </a:prstGeom>
          <a:ln w="25400">
            <a:solidFill>
              <a:srgbClr val="4600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183879" y="4663440"/>
            <a:ext cx="3108960" cy="786384"/>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400" b="1" i="0">
                <a:solidFill>
                  <a:srgbClr val="FFFFFF"/>
                </a:solidFill>
                <a:latin typeface="Graphik"/>
              </a:rPr>
              <a:t>Décision</a:t>
            </a:r>
          </a:p>
          <a:p>
            <a:pPr algn="ctr"/>
            <a:r>
              <a:rPr sz="1150" b="0" i="0">
                <a:solidFill>
                  <a:srgbClr val="FFFFFF"/>
                </a:solidFill>
                <a:latin typeface="Graphik"/>
              </a:rPr>
              <a:t>transmission ou clôture</a:t>
            </a:r>
          </a:p>
        </p:txBody>
      </p:sp>
      <p:sp>
        <p:nvSpPr>
          <p:cNvPr id="28" name="Rectangle 27"/>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L'IA filtre et hiérarchise ; l'humain investigue et décide.</a:t>
            </a:r>
          </a:p>
        </p:txBody>
      </p:sp>
      <p:sp>
        <p:nvSpPr>
          <p:cNvPr id="29" name="TextBox 2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19/23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05</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Conclusion, limites
et perspectives</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Regard critique et pistes de prolongement</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9A80B8"/>
                </a:solidFill>
                <a:latin typeface="Graphik"/>
              </a:rPr>
              <a:t>20/23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5. Conclusion, limites et perspectives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Un regard critique sur les résultats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5486400" cy="416052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81328"/>
            <a:ext cx="5486400"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1527048"/>
            <a:ext cx="5120640" cy="329184"/>
          </a:xfrm>
          <a:prstGeom prst="rect">
            <a:avLst/>
          </a:prstGeom>
          <a:noFill/>
        </p:spPr>
        <p:txBody>
          <a:bodyPr wrap="square" lIns="36576" tIns="36576" rIns="36576" bIns="36576" anchor="t">
            <a:spAutoFit/>
          </a:bodyPr>
          <a:lstStyle/>
          <a:p>
            <a:pPr algn="l"/>
            <a:r>
              <a:rPr sz="1600" b="1" i="0">
                <a:solidFill>
                  <a:srgbClr val="FFFFFF"/>
                </a:solidFill>
                <a:latin typeface="Graphik"/>
              </a:rPr>
              <a:t>Limites liées aux données</a:t>
            </a:r>
          </a:p>
        </p:txBody>
      </p:sp>
      <p:sp>
        <p:nvSpPr>
          <p:cNvPr id="9" name="TextBox 8"/>
          <p:cNvSpPr txBox="1"/>
          <p:nvPr/>
        </p:nvSpPr>
        <p:spPr>
          <a:xfrm>
            <a:off x="731520" y="1819656"/>
            <a:ext cx="5120640" cy="274320"/>
          </a:xfrm>
          <a:prstGeom prst="rect">
            <a:avLst/>
          </a:prstGeom>
          <a:noFill/>
        </p:spPr>
        <p:txBody>
          <a:bodyPr wrap="square" lIns="36576" tIns="36576" rIns="36576" bIns="36576" anchor="t">
            <a:spAutoFit/>
          </a:bodyPr>
          <a:lstStyle/>
          <a:p>
            <a:pPr algn="l"/>
            <a:r>
              <a:rPr sz="1150" b="0" i="1">
                <a:solidFill>
                  <a:srgbClr val="C9A6F2"/>
                </a:solidFill>
                <a:latin typeface="Graphik"/>
              </a:rPr>
              <a:t>Les performances sont vraisemblablement optimistes</a:t>
            </a:r>
          </a:p>
        </p:txBody>
      </p:sp>
      <p:sp>
        <p:nvSpPr>
          <p:cNvPr id="10" name="TextBox 9"/>
          <p:cNvSpPr txBox="1"/>
          <p:nvPr/>
        </p:nvSpPr>
        <p:spPr>
          <a:xfrm>
            <a:off x="777240" y="2377440"/>
            <a:ext cx="5029200" cy="3200400"/>
          </a:xfrm>
          <a:prstGeom prst="rect">
            <a:avLst/>
          </a:prstGeom>
          <a:noFill/>
        </p:spPr>
        <p:txBody>
          <a:bodyPr wrap="square" lIns="36576" tIns="36576" rIns="36576" bIns="36576" anchor="t">
            <a:spAutoFit/>
          </a:bodyPr>
          <a:lstStyle/>
          <a:p>
            <a:pPr algn="l">
              <a:spcAft>
                <a:spcPts val="1800"/>
              </a:spcAft>
            </a:pPr>
            <a:r>
              <a:rPr sz="1500" b="1" i="0">
                <a:solidFill>
                  <a:srgbClr val="A100FF"/>
                </a:solidFill>
                <a:latin typeface="Graphik"/>
              </a:rPr>
              <a:t>•  </a:t>
            </a:r>
            <a:r>
              <a:rPr sz="1500" b="1" i="0">
                <a:solidFill>
                  <a:srgbClr val="1A1A1A"/>
                </a:solidFill>
                <a:latin typeface="Graphik"/>
              </a:rPr>
              <a:t>Base publique et 29 variables simulées : </a:t>
            </a:r>
            <a:r>
              <a:rPr sz="1500" b="0" i="0">
                <a:solidFill>
                  <a:srgbClr val="1A1A1A"/>
                </a:solidFill>
                <a:latin typeface="Graphik"/>
              </a:rPr>
              <a:t>pas de sinistralité réelle d'assureur</a:t>
            </a:r>
          </a:p>
          <a:p>
            <a:pPr algn="l">
              <a:spcAft>
                <a:spcPts val="1800"/>
              </a:spcAft>
            </a:pPr>
            <a:r>
              <a:rPr sz="1500" b="1" i="0">
                <a:solidFill>
                  <a:srgbClr val="A100FF"/>
                </a:solidFill>
                <a:latin typeface="Graphik"/>
              </a:rPr>
              <a:t>•  </a:t>
            </a:r>
            <a:r>
              <a:rPr sz="1500" b="1" i="0">
                <a:solidFill>
                  <a:srgbClr val="1A1A1A"/>
                </a:solidFill>
                <a:latin typeface="Graphik"/>
              </a:rPr>
              <a:t>Fraude surreprésentée : </a:t>
            </a:r>
            <a:r>
              <a:rPr sz="1500" b="0" i="0">
                <a:solidFill>
                  <a:srgbClr val="1A1A1A"/>
                </a:solidFill>
                <a:latin typeface="Graphik"/>
              </a:rPr>
              <a:t>11,5 % contre ≈ 5 % → probabilités à recalibrer</a:t>
            </a:r>
          </a:p>
          <a:p>
            <a:pPr algn="l">
              <a:spcAft>
                <a:spcPts val="1800"/>
              </a:spcAft>
            </a:pPr>
            <a:r>
              <a:rPr sz="1500" b="1" i="0">
                <a:solidFill>
                  <a:srgbClr val="A100FF"/>
                </a:solidFill>
                <a:latin typeface="Graphik"/>
              </a:rPr>
              <a:t>•  </a:t>
            </a:r>
            <a:r>
              <a:rPr sz="1500" b="1" i="0">
                <a:solidFill>
                  <a:srgbClr val="1A1A1A"/>
                </a:solidFill>
                <a:latin typeface="Graphik"/>
              </a:rPr>
              <a:t>Fuite probable de la cible </a:t>
            </a:r>
            <a:r>
              <a:rPr sz="1500" b="0" i="0">
                <a:solidFill>
                  <a:srgbClr val="1A1A1A"/>
                </a:solidFill>
                <a:latin typeface="Graphik"/>
              </a:rPr>
              <a:t>via les variables simulées dominantes</a:t>
            </a:r>
          </a:p>
          <a:p>
            <a:pPr algn="l">
              <a:spcAft>
                <a:spcPts val="1800"/>
              </a:spcAft>
            </a:pPr>
            <a:r>
              <a:rPr sz="1500" b="1" i="0">
                <a:solidFill>
                  <a:srgbClr val="A100FF"/>
                </a:solidFill>
                <a:latin typeface="Graphik"/>
              </a:rPr>
              <a:t>•  </a:t>
            </a:r>
            <a:r>
              <a:rPr sz="1500" b="1" i="0">
                <a:solidFill>
                  <a:srgbClr val="1A1A1A"/>
                </a:solidFill>
                <a:latin typeface="Graphik"/>
              </a:rPr>
              <a:t>Découpage aléatoire, </a:t>
            </a:r>
            <a:r>
              <a:rPr sz="1500" b="0" i="0">
                <a:solidFill>
                  <a:srgbClr val="1A1A1A"/>
                </a:solidFill>
                <a:latin typeface="Graphik"/>
              </a:rPr>
              <a:t>non temporel : pas de test hors période</a:t>
            </a:r>
          </a:p>
        </p:txBody>
      </p:sp>
      <p:sp>
        <p:nvSpPr>
          <p:cNvPr id="11" name="Rectangle 10"/>
          <p:cNvSpPr/>
          <p:nvPr/>
        </p:nvSpPr>
        <p:spPr>
          <a:xfrm>
            <a:off x="6144768" y="1481328"/>
            <a:ext cx="5486400" cy="416052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144768" y="1481328"/>
            <a:ext cx="5486400" cy="65836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27648" y="1527048"/>
            <a:ext cx="5120640" cy="329184"/>
          </a:xfrm>
          <a:prstGeom prst="rect">
            <a:avLst/>
          </a:prstGeom>
          <a:noFill/>
        </p:spPr>
        <p:txBody>
          <a:bodyPr wrap="square" lIns="36576" tIns="36576" rIns="36576" bIns="36576" anchor="t">
            <a:spAutoFit/>
          </a:bodyPr>
          <a:lstStyle/>
          <a:p>
            <a:pPr algn="l"/>
            <a:r>
              <a:rPr sz="1600" b="1" i="0">
                <a:solidFill>
                  <a:srgbClr val="FFFFFF"/>
                </a:solidFill>
                <a:latin typeface="Graphik"/>
              </a:rPr>
              <a:t>Limites méthodologiques</a:t>
            </a:r>
          </a:p>
        </p:txBody>
      </p:sp>
      <p:sp>
        <p:nvSpPr>
          <p:cNvPr id="14" name="TextBox 13"/>
          <p:cNvSpPr txBox="1"/>
          <p:nvPr/>
        </p:nvSpPr>
        <p:spPr>
          <a:xfrm>
            <a:off x="6327648" y="1819656"/>
            <a:ext cx="5120640" cy="274320"/>
          </a:xfrm>
          <a:prstGeom prst="rect">
            <a:avLst/>
          </a:prstGeom>
          <a:noFill/>
        </p:spPr>
        <p:txBody>
          <a:bodyPr wrap="square" lIns="36576" tIns="36576" rIns="36576" bIns="36576" anchor="t">
            <a:spAutoFit/>
          </a:bodyPr>
          <a:lstStyle/>
          <a:p>
            <a:pPr algn="l"/>
            <a:r>
              <a:rPr sz="1150" b="0" i="1">
                <a:solidFill>
                  <a:srgbClr val="C9A6F2"/>
                </a:solidFill>
                <a:latin typeface="Graphik"/>
              </a:rPr>
              <a:t>Des choix à fonder davantage sur l'économie</a:t>
            </a:r>
          </a:p>
        </p:txBody>
      </p:sp>
      <p:sp>
        <p:nvSpPr>
          <p:cNvPr id="15" name="TextBox 14"/>
          <p:cNvSpPr txBox="1"/>
          <p:nvPr/>
        </p:nvSpPr>
        <p:spPr>
          <a:xfrm>
            <a:off x="6373368" y="2377440"/>
            <a:ext cx="5029200" cy="3200400"/>
          </a:xfrm>
          <a:prstGeom prst="rect">
            <a:avLst/>
          </a:prstGeom>
          <a:noFill/>
        </p:spPr>
        <p:txBody>
          <a:bodyPr wrap="square" lIns="36576" tIns="36576" rIns="36576" bIns="36576" anchor="t">
            <a:spAutoFit/>
          </a:bodyPr>
          <a:lstStyle/>
          <a:p>
            <a:pPr algn="l">
              <a:spcAft>
                <a:spcPts val="1800"/>
              </a:spcAft>
            </a:pPr>
            <a:r>
              <a:rPr sz="1500" b="1" i="0">
                <a:solidFill>
                  <a:srgbClr val="A100FF"/>
                </a:solidFill>
                <a:latin typeface="Graphik"/>
              </a:rPr>
              <a:t>•  </a:t>
            </a:r>
            <a:r>
              <a:rPr sz="1500" b="1" i="0">
                <a:solidFill>
                  <a:srgbClr val="1A1A1A"/>
                </a:solidFill>
                <a:latin typeface="Graphik"/>
              </a:rPr>
              <a:t>Seuils fixés par Youden ± 10 points, </a:t>
            </a:r>
            <a:r>
              <a:rPr sz="1500" b="0" i="0">
                <a:solidFill>
                  <a:srgbClr val="1A1A1A"/>
                </a:solidFill>
                <a:latin typeface="Graphik"/>
              </a:rPr>
              <a:t>sans optimisation coût-bénéfice explicite</a:t>
            </a:r>
          </a:p>
          <a:p>
            <a:pPr algn="l">
              <a:spcAft>
                <a:spcPts val="1800"/>
              </a:spcAft>
            </a:pPr>
            <a:r>
              <a:rPr sz="1500" b="1" i="0">
                <a:solidFill>
                  <a:srgbClr val="A100FF"/>
                </a:solidFill>
                <a:latin typeface="Graphik"/>
              </a:rPr>
              <a:t>•  </a:t>
            </a:r>
            <a:r>
              <a:rPr sz="1500" b="1" i="0">
                <a:solidFill>
                  <a:srgbClr val="1A1A1A"/>
                </a:solidFill>
                <a:latin typeface="Graphik"/>
              </a:rPr>
              <a:t>Biais de sélection </a:t>
            </a:r>
            <a:r>
              <a:rPr sz="1500" b="0" i="0">
                <a:solidFill>
                  <a:srgbClr val="1A1A1A"/>
                </a:solidFill>
                <a:latin typeface="Graphik"/>
              </a:rPr>
              <a:t>de la boucle d'enrichissement</a:t>
            </a:r>
          </a:p>
          <a:p>
            <a:pPr algn="l">
              <a:spcAft>
                <a:spcPts val="1800"/>
              </a:spcAft>
            </a:pPr>
            <a:r>
              <a:rPr sz="1500" b="1" i="0">
                <a:solidFill>
                  <a:srgbClr val="A100FF"/>
                </a:solidFill>
                <a:latin typeface="Graphik"/>
              </a:rPr>
              <a:t>•  </a:t>
            </a:r>
            <a:r>
              <a:rPr sz="1500" b="1" i="0">
                <a:solidFill>
                  <a:srgbClr val="1A1A1A"/>
                </a:solidFill>
                <a:latin typeface="Graphik"/>
              </a:rPr>
              <a:t>Fraude circonstancielle uniquement : </a:t>
            </a:r>
            <a:r>
              <a:rPr sz="1500" b="0" i="0">
                <a:solidFill>
                  <a:srgbClr val="1A1A1A"/>
                </a:solidFill>
                <a:latin typeface="Graphik"/>
              </a:rPr>
              <a:t>fraude organisée et documentaire hors périmètre</a:t>
            </a:r>
          </a:p>
          <a:p>
            <a:pPr algn="l">
              <a:spcAft>
                <a:spcPts val="1800"/>
              </a:spcAft>
            </a:pPr>
            <a:r>
              <a:rPr sz="1500" b="1" i="0">
                <a:solidFill>
                  <a:srgbClr val="A100FF"/>
                </a:solidFill>
                <a:latin typeface="Graphik"/>
              </a:rPr>
              <a:t>•  </a:t>
            </a:r>
            <a:r>
              <a:rPr sz="1500" b="1" i="0">
                <a:solidFill>
                  <a:srgbClr val="1A1A1A"/>
                </a:solidFill>
                <a:latin typeface="Graphik"/>
              </a:rPr>
              <a:t>Seuils et zones </a:t>
            </a:r>
            <a:r>
              <a:rPr sz="1500" b="0" i="0">
                <a:solidFill>
                  <a:srgbClr val="1A1A1A"/>
                </a:solidFill>
                <a:latin typeface="Graphik"/>
              </a:rPr>
              <a:t>à valider avec les équipes d'investigation</a:t>
            </a:r>
          </a:p>
        </p:txBody>
      </p:sp>
      <p:sp>
        <p:nvSpPr>
          <p:cNvPr id="16" name="Rectangle 15"/>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Des performances à confirmer sur une base réelle d'assureur avant tout déploiement.</a:t>
            </a:r>
          </a:p>
        </p:txBody>
      </p:sp>
      <p:sp>
        <p:nvSpPr>
          <p:cNvPr id="17" name="TextBox 16"/>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21/23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5. Conclusion, limites et perspectives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Apports et perspectives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5486400" cy="4069080"/>
          </a:xfrm>
          <a:prstGeom prst="rect">
            <a:avLst/>
          </a:prstGeom>
          <a:solidFill>
            <a:srgbClr val="F6EF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81328"/>
            <a:ext cx="5486400" cy="56692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1481328"/>
            <a:ext cx="5120640" cy="566928"/>
          </a:xfrm>
          <a:prstGeom prst="rect">
            <a:avLst/>
          </a:prstGeom>
          <a:noFill/>
        </p:spPr>
        <p:txBody>
          <a:bodyPr wrap="square" lIns="36576" tIns="36576" rIns="36576" bIns="36576" anchor="ctr">
            <a:spAutoFit/>
          </a:bodyPr>
          <a:lstStyle/>
          <a:p>
            <a:pPr algn="l"/>
            <a:r>
              <a:rPr sz="1600" b="1" i="0">
                <a:solidFill>
                  <a:srgbClr val="FFFFFF"/>
                </a:solidFill>
                <a:latin typeface="Graphik"/>
              </a:rPr>
              <a:t>Apports de l'étude</a:t>
            </a:r>
          </a:p>
        </p:txBody>
      </p:sp>
      <p:sp>
        <p:nvSpPr>
          <p:cNvPr id="9" name="TextBox 8"/>
          <p:cNvSpPr txBox="1"/>
          <p:nvPr/>
        </p:nvSpPr>
        <p:spPr>
          <a:xfrm>
            <a:off x="777240" y="2377440"/>
            <a:ext cx="5029200" cy="3108960"/>
          </a:xfrm>
          <a:prstGeom prst="rect">
            <a:avLst/>
          </a:prstGeom>
          <a:noFill/>
        </p:spPr>
        <p:txBody>
          <a:bodyPr wrap="square" lIns="36576" tIns="36576" rIns="36576" bIns="36576" anchor="t">
            <a:spAutoFit/>
          </a:bodyPr>
          <a:lstStyle/>
          <a:p>
            <a:pPr algn="l">
              <a:spcAft>
                <a:spcPts val="2000"/>
              </a:spcAft>
            </a:pPr>
            <a:r>
              <a:rPr sz="1550" b="1" i="0">
                <a:solidFill>
                  <a:srgbClr val="A100FF"/>
                </a:solidFill>
                <a:latin typeface="Graphik"/>
              </a:rPr>
              <a:t>•  </a:t>
            </a:r>
            <a:r>
              <a:rPr sz="1550" b="1" i="0">
                <a:solidFill>
                  <a:srgbClr val="1A1A1A"/>
                </a:solidFill>
                <a:latin typeface="Graphik"/>
              </a:rPr>
              <a:t>Processus de bout en bout : </a:t>
            </a:r>
            <a:r>
              <a:rPr sz="1550" b="0" i="0">
                <a:solidFill>
                  <a:srgbClr val="1A1A1A"/>
                </a:solidFill>
                <a:latin typeface="Graphik"/>
              </a:rPr>
              <a:t>de l'ingestion au pilotage, en deux modules</a:t>
            </a:r>
          </a:p>
          <a:p>
            <a:pPr algn="l">
              <a:spcAft>
                <a:spcPts val="2000"/>
              </a:spcAft>
            </a:pPr>
            <a:r>
              <a:rPr sz="1550" b="1" i="0">
                <a:solidFill>
                  <a:srgbClr val="A100FF"/>
                </a:solidFill>
                <a:latin typeface="Graphik"/>
              </a:rPr>
              <a:t>•  </a:t>
            </a:r>
            <a:r>
              <a:rPr sz="1550" b="1" i="0">
                <a:solidFill>
                  <a:srgbClr val="1A1A1A"/>
                </a:solidFill>
                <a:latin typeface="Graphik"/>
              </a:rPr>
              <a:t>Démarche actuarielle reproduite </a:t>
            </a:r>
            <a:r>
              <a:rPr sz="1550" b="0" i="0">
                <a:solidFill>
                  <a:srgbClr val="1A1A1A"/>
                </a:solidFill>
                <a:latin typeface="Graphik"/>
              </a:rPr>
              <a:t>et tracée par un agent d'IA</a:t>
            </a:r>
          </a:p>
          <a:p>
            <a:pPr algn="l">
              <a:spcAft>
                <a:spcPts val="2000"/>
              </a:spcAft>
            </a:pPr>
            <a:r>
              <a:rPr sz="1550" b="1" i="0">
                <a:solidFill>
                  <a:srgbClr val="A100FF"/>
                </a:solidFill>
                <a:latin typeface="Graphik"/>
              </a:rPr>
              <a:t>•  </a:t>
            </a:r>
            <a:r>
              <a:rPr sz="1550" b="1" i="0">
                <a:solidFill>
                  <a:srgbClr val="1A1A1A"/>
                </a:solidFill>
                <a:latin typeface="Graphik"/>
              </a:rPr>
              <a:t>Arbitrage documenté </a:t>
            </a:r>
            <a:r>
              <a:rPr sz="1550" b="0" i="0">
                <a:solidFill>
                  <a:srgbClr val="1A1A1A"/>
                </a:solidFill>
                <a:latin typeface="Graphik"/>
              </a:rPr>
              <a:t>entre interprétabilité et performance</a:t>
            </a:r>
          </a:p>
          <a:p>
            <a:pPr algn="l">
              <a:spcAft>
                <a:spcPts val="2000"/>
              </a:spcAft>
            </a:pPr>
            <a:r>
              <a:rPr sz="1550" b="1" i="0">
                <a:solidFill>
                  <a:srgbClr val="A100FF"/>
                </a:solidFill>
                <a:latin typeface="Graphik"/>
              </a:rPr>
              <a:t>•  </a:t>
            </a:r>
            <a:r>
              <a:rPr sz="1550" b="1" i="0">
                <a:solidFill>
                  <a:srgbClr val="1A1A1A"/>
                </a:solidFill>
                <a:latin typeface="Graphik"/>
              </a:rPr>
              <a:t>Gouvernance intégrée </a:t>
            </a:r>
            <a:r>
              <a:rPr sz="1550" b="0" i="0">
                <a:solidFill>
                  <a:srgbClr val="1A1A1A"/>
                </a:solidFill>
                <a:latin typeface="Graphik"/>
              </a:rPr>
              <a:t>dès la conception (RGPD, AI Act)</a:t>
            </a:r>
          </a:p>
        </p:txBody>
      </p:sp>
      <p:sp>
        <p:nvSpPr>
          <p:cNvPr id="10" name="Rectangle 9"/>
          <p:cNvSpPr/>
          <p:nvPr/>
        </p:nvSpPr>
        <p:spPr>
          <a:xfrm>
            <a:off x="6144768" y="1481328"/>
            <a:ext cx="5486400" cy="4069080"/>
          </a:xfrm>
          <a:prstGeom prst="rect">
            <a:avLst/>
          </a:prstGeom>
          <a:solidFill>
            <a:srgbClr val="F6EFFF"/>
          </a:solidFill>
          <a:ln w="9525">
            <a:solidFill>
              <a:srgbClr val="C9A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6144768" y="1481328"/>
            <a:ext cx="5486400" cy="566928"/>
          </a:xfrm>
          <a:prstGeom prst="rect">
            <a:avLst/>
          </a:prstGeom>
          <a:solidFill>
            <a:srgbClr val="4600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27648" y="1481328"/>
            <a:ext cx="5120640" cy="566928"/>
          </a:xfrm>
          <a:prstGeom prst="rect">
            <a:avLst/>
          </a:prstGeom>
          <a:noFill/>
        </p:spPr>
        <p:txBody>
          <a:bodyPr wrap="square" lIns="36576" tIns="36576" rIns="36576" bIns="36576" anchor="ctr">
            <a:spAutoFit/>
          </a:bodyPr>
          <a:lstStyle/>
          <a:p>
            <a:pPr algn="l"/>
            <a:r>
              <a:rPr sz="1600" b="1" i="0">
                <a:solidFill>
                  <a:srgbClr val="FFFFFF"/>
                </a:solidFill>
                <a:latin typeface="Graphik"/>
              </a:rPr>
              <a:t>Perspectives</a:t>
            </a:r>
          </a:p>
        </p:txBody>
      </p:sp>
      <p:sp>
        <p:nvSpPr>
          <p:cNvPr id="13" name="TextBox 12"/>
          <p:cNvSpPr txBox="1"/>
          <p:nvPr/>
        </p:nvSpPr>
        <p:spPr>
          <a:xfrm>
            <a:off x="6373368" y="2377440"/>
            <a:ext cx="5029200" cy="3108960"/>
          </a:xfrm>
          <a:prstGeom prst="rect">
            <a:avLst/>
          </a:prstGeom>
          <a:noFill/>
        </p:spPr>
        <p:txBody>
          <a:bodyPr wrap="square" lIns="36576" tIns="36576" rIns="36576" bIns="36576" anchor="t">
            <a:spAutoFit/>
          </a:bodyPr>
          <a:lstStyle/>
          <a:p>
            <a:pPr algn="l">
              <a:spcAft>
                <a:spcPts val="2000"/>
              </a:spcAft>
            </a:pPr>
            <a:r>
              <a:rPr sz="1550" b="1" i="0">
                <a:solidFill>
                  <a:srgbClr val="A100FF"/>
                </a:solidFill>
                <a:latin typeface="Graphik"/>
              </a:rPr>
              <a:t>•  </a:t>
            </a:r>
            <a:r>
              <a:rPr sz="1550" b="1" i="0">
                <a:solidFill>
                  <a:srgbClr val="1A1A1A"/>
                </a:solidFill>
                <a:latin typeface="Graphik"/>
              </a:rPr>
              <a:t>Calibrage sur un portefeuille réel </a:t>
            </a:r>
            <a:r>
              <a:rPr sz="1550" b="0" i="0">
                <a:solidFill>
                  <a:srgbClr val="1A1A1A"/>
                </a:solidFill>
                <a:latin typeface="Graphik"/>
              </a:rPr>
              <a:t>et validation temporelle</a:t>
            </a:r>
          </a:p>
          <a:p>
            <a:pPr algn="l">
              <a:spcAft>
                <a:spcPts val="2000"/>
              </a:spcAft>
            </a:pPr>
            <a:r>
              <a:rPr sz="1550" b="1" i="0">
                <a:solidFill>
                  <a:srgbClr val="A100FF"/>
                </a:solidFill>
                <a:latin typeface="Graphik"/>
              </a:rPr>
              <a:t>•  </a:t>
            </a:r>
            <a:r>
              <a:rPr sz="1550" b="1" i="0">
                <a:solidFill>
                  <a:srgbClr val="1A1A1A"/>
                </a:solidFill>
                <a:latin typeface="Graphik"/>
              </a:rPr>
              <a:t>Seuils optimisés sur le gain net : </a:t>
            </a:r>
            <a:r>
              <a:rPr sz="1550" b="0" i="0">
                <a:solidFill>
                  <a:srgbClr val="1A1A1A"/>
                </a:solidFill>
                <a:latin typeface="Graphik"/>
              </a:rPr>
              <a:t>fraude évitée − coût d'investigation</a:t>
            </a:r>
          </a:p>
          <a:p>
            <a:pPr algn="l">
              <a:spcAft>
                <a:spcPts val="2000"/>
              </a:spcAft>
            </a:pPr>
            <a:r>
              <a:rPr sz="1550" b="1" i="0">
                <a:solidFill>
                  <a:srgbClr val="A100FF"/>
                </a:solidFill>
                <a:latin typeface="Graphik"/>
              </a:rPr>
              <a:t>•  </a:t>
            </a:r>
            <a:r>
              <a:rPr sz="1550" b="1" i="0">
                <a:solidFill>
                  <a:srgbClr val="1A1A1A"/>
                </a:solidFill>
                <a:latin typeface="Graphik"/>
              </a:rPr>
              <a:t>Données externes et mutualisation </a:t>
            </a:r>
            <a:r>
              <a:rPr sz="1550" b="0" i="0">
                <a:solidFill>
                  <a:srgbClr val="1A1A1A"/>
                </a:solidFill>
                <a:latin typeface="Graphik"/>
              </a:rPr>
              <a:t>inter-assureurs (fraudeurs « nomades »)</a:t>
            </a:r>
          </a:p>
          <a:p>
            <a:pPr algn="l">
              <a:spcAft>
                <a:spcPts val="2000"/>
              </a:spcAft>
            </a:pPr>
            <a:r>
              <a:rPr sz="1550" b="1" i="0">
                <a:solidFill>
                  <a:srgbClr val="A100FF"/>
                </a:solidFill>
                <a:latin typeface="Graphik"/>
              </a:rPr>
              <a:t>•  </a:t>
            </a:r>
            <a:r>
              <a:rPr sz="1550" b="1" i="0">
                <a:solidFill>
                  <a:srgbClr val="1A1A1A"/>
                </a:solidFill>
                <a:latin typeface="Graphik"/>
              </a:rPr>
              <a:t>Analyse de graphes </a:t>
            </a:r>
            <a:r>
              <a:rPr sz="1550" b="0" i="0">
                <a:solidFill>
                  <a:srgbClr val="1A1A1A"/>
                </a:solidFill>
                <a:latin typeface="Graphik"/>
              </a:rPr>
              <a:t>pour la fraude organisée ; autres branches non-vie</a:t>
            </a:r>
          </a:p>
        </p:txBody>
      </p:sp>
      <p:sp>
        <p:nvSpPr>
          <p:cNvPr id="14" name="Rectangle 13"/>
          <p:cNvSpPr/>
          <p:nvPr/>
        </p:nvSpPr>
        <p:spPr>
          <a:xfrm>
            <a:off x="548640" y="5788152"/>
            <a:ext cx="11094415" cy="475488"/>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ctr"/>
          <a:lstStyle/>
          <a:p>
            <a:pPr algn="l"/>
            <a:r>
              <a:rPr sz="1500" b="1" i="0">
                <a:solidFill>
                  <a:srgbClr val="FFFFFF"/>
                </a:solidFill>
                <a:latin typeface="Graphik"/>
              </a:rPr>
              <a:t>→  L'IA ne remplace pas l'enquêteur : elle rend rentable le contrôle de la fraude de masse.</a:t>
            </a:r>
          </a:p>
        </p:txBody>
      </p:sp>
      <p:sp>
        <p:nvSpPr>
          <p:cNvPr id="15" name="TextBox 14"/>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22/23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2A0550_12001F.png"/>
          <p:cNvPicPr>
            <a:picLocks noChangeAspect="1"/>
          </p:cNvPicPr>
          <p:nvPr/>
        </p:nvPicPr>
        <p:blipFill>
          <a:blip r:embed="rId3"/>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4"/>
          <a:stretch>
            <a:fillRect/>
          </a:stretch>
        </p:blipFill>
        <p:spPr>
          <a:xfrm>
            <a:off x="548640" y="274320"/>
            <a:ext cx="1099698" cy="310896"/>
          </a:xfrm>
          <a:prstGeom prst="rect">
            <a:avLst/>
          </a:prstGeom>
        </p:spPr>
      </p:pic>
      <p:sp>
        <p:nvSpPr>
          <p:cNvPr id="4" name="TextBox 3"/>
          <p:cNvSpPr txBox="1"/>
          <p:nvPr/>
        </p:nvSpPr>
        <p:spPr>
          <a:xfrm>
            <a:off x="548640" y="2148840"/>
            <a:ext cx="10972800" cy="1188720"/>
          </a:xfrm>
          <a:prstGeom prst="rect">
            <a:avLst/>
          </a:prstGeom>
          <a:noFill/>
        </p:spPr>
        <p:txBody>
          <a:bodyPr wrap="square" lIns="36576" tIns="36576" rIns="36576" bIns="36576" anchor="t">
            <a:spAutoFit/>
          </a:bodyPr>
          <a:lstStyle/>
          <a:p>
            <a:pPr algn="l"/>
            <a:r>
              <a:rPr sz="5800" b="1" i="0">
                <a:solidFill>
                  <a:srgbClr val="FFFFFF"/>
                </a:solidFill>
                <a:latin typeface="Graphik"/>
              </a:rPr>
              <a:t>Merci pour votre attention</a:t>
            </a:r>
          </a:p>
        </p:txBody>
      </p:sp>
      <p:sp>
        <p:nvSpPr>
          <p:cNvPr id="5" name="Rectangle 4"/>
          <p:cNvSpPr/>
          <p:nvPr/>
        </p:nvSpPr>
        <p:spPr>
          <a:xfrm>
            <a:off x="566928" y="3429000"/>
            <a:ext cx="1280160" cy="73152"/>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3657600"/>
            <a:ext cx="7315200" cy="548640"/>
          </a:xfrm>
          <a:prstGeom prst="rect">
            <a:avLst/>
          </a:prstGeom>
          <a:noFill/>
        </p:spPr>
        <p:txBody>
          <a:bodyPr wrap="square" lIns="36576" tIns="36576" rIns="36576" bIns="36576" anchor="t">
            <a:spAutoFit/>
          </a:bodyPr>
          <a:lstStyle/>
          <a:p>
            <a:pPr algn="l"/>
            <a:r>
              <a:rPr sz="2400" b="0" i="1">
                <a:solidFill>
                  <a:srgbClr val="C9A6F2"/>
                </a:solidFill>
                <a:latin typeface="Graphik"/>
              </a:rPr>
              <a:t>Place aux questions</a:t>
            </a:r>
          </a:p>
        </p:txBody>
      </p:sp>
      <p:sp>
        <p:nvSpPr>
          <p:cNvPr id="7" name="TextBox 6"/>
          <p:cNvSpPr txBox="1"/>
          <p:nvPr/>
        </p:nvSpPr>
        <p:spPr>
          <a:xfrm>
            <a:off x="548640" y="5029200"/>
            <a:ext cx="7315200" cy="457200"/>
          </a:xfrm>
          <a:prstGeom prst="rect">
            <a:avLst/>
          </a:prstGeom>
          <a:noFill/>
        </p:spPr>
        <p:txBody>
          <a:bodyPr wrap="square" lIns="36576" tIns="36576" rIns="36576" bIns="36576" anchor="t">
            <a:spAutoFit/>
          </a:bodyPr>
          <a:lstStyle/>
          <a:p>
            <a:pPr algn="l"/>
            <a:r>
              <a:rPr sz="2000" b="1" i="0">
                <a:solidFill>
                  <a:srgbClr val="FFFFFF"/>
                </a:solidFill>
                <a:latin typeface="Graphik"/>
              </a:rPr>
              <a:t>Eliot NEHME</a:t>
            </a:r>
          </a:p>
        </p:txBody>
      </p:sp>
      <p:sp>
        <p:nvSpPr>
          <p:cNvPr id="8" name="TextBox 7"/>
          <p:cNvSpPr txBox="1"/>
          <p:nvPr/>
        </p:nvSpPr>
        <p:spPr>
          <a:xfrm>
            <a:off x="548640" y="5440680"/>
            <a:ext cx="8229600" cy="289310"/>
          </a:xfrm>
          <a:prstGeom prst="rect">
            <a:avLst/>
          </a:prstGeom>
          <a:noFill/>
        </p:spPr>
        <p:txBody>
          <a:bodyPr wrap="square" lIns="36576" tIns="36576" rIns="36576" bIns="36576" anchor="t">
            <a:spAutoFit/>
          </a:bodyPr>
          <a:lstStyle/>
          <a:p>
            <a:pPr algn="l"/>
            <a:r>
              <a:rPr sz="1400" b="0" i="1" dirty="0">
                <a:solidFill>
                  <a:srgbClr val="C9A6F2"/>
                </a:solidFill>
                <a:latin typeface="Graphik"/>
              </a:rPr>
              <a:t>Actuarial &amp; Risk Insurance </a:t>
            </a:r>
            <a:r>
              <a:rPr lang="fr-FR" sz="1400" b="0" i="1" dirty="0">
                <a:solidFill>
                  <a:srgbClr val="C9A6F2"/>
                </a:solidFill>
                <a:latin typeface="Graphik"/>
              </a:rPr>
              <a:t>-</a:t>
            </a:r>
            <a:r>
              <a:rPr sz="1400" b="0" i="1" dirty="0">
                <a:solidFill>
                  <a:srgbClr val="C9A6F2"/>
                </a:solidFill>
                <a:latin typeface="Graphik"/>
              </a:rPr>
              <a:t> Accenture</a:t>
            </a:r>
          </a:p>
        </p:txBody>
      </p:sp>
      <p:sp>
        <p:nvSpPr>
          <p:cNvPr id="9" name="TextBox 8"/>
          <p:cNvSpPr txBox="1"/>
          <p:nvPr/>
        </p:nvSpPr>
        <p:spPr>
          <a:xfrm>
            <a:off x="548640" y="5760720"/>
            <a:ext cx="8229600" cy="365760"/>
          </a:xfrm>
          <a:prstGeom prst="rect">
            <a:avLst/>
          </a:prstGeom>
          <a:noFill/>
        </p:spPr>
        <p:txBody>
          <a:bodyPr wrap="square" lIns="36576" tIns="36576" rIns="36576" bIns="36576" anchor="t">
            <a:spAutoFit/>
          </a:bodyPr>
          <a:lstStyle/>
          <a:p>
            <a:pPr algn="l"/>
            <a:r>
              <a:rPr sz="1400" b="0" i="1">
                <a:solidFill>
                  <a:srgbClr val="C9A6F2"/>
                </a:solidFill>
                <a:latin typeface="Graphik"/>
              </a:rPr>
              <a:t>Institut des Actuaires  •  2026</a:t>
            </a:r>
          </a:p>
        </p:txBody>
      </p:sp>
      <p:sp>
        <p:nvSpPr>
          <p:cNvPr id="10" name="TextBox 9"/>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23/23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4A0A86_12001F.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548640" y="274320"/>
            <a:ext cx="1099698" cy="310896"/>
          </a:xfrm>
          <a:prstGeom prst="rect">
            <a:avLst/>
          </a:prstGeom>
        </p:spPr>
      </p:pic>
      <p:sp>
        <p:nvSpPr>
          <p:cNvPr id="4" name="TextBox 3"/>
          <p:cNvSpPr txBox="1"/>
          <p:nvPr/>
        </p:nvSpPr>
        <p:spPr>
          <a:xfrm>
            <a:off x="685800" y="1417320"/>
            <a:ext cx="5486400" cy="365760"/>
          </a:xfrm>
          <a:prstGeom prst="rect">
            <a:avLst/>
          </a:prstGeom>
          <a:noFill/>
        </p:spPr>
        <p:txBody>
          <a:bodyPr wrap="square" lIns="36576" tIns="36576" rIns="36576" bIns="36576" anchor="t">
            <a:spAutoFit/>
          </a:bodyPr>
          <a:lstStyle/>
          <a:p>
            <a:pPr algn="l"/>
            <a:r>
              <a:rPr sz="1400" b="1" i="0">
                <a:solidFill>
                  <a:srgbClr val="C9A6F2"/>
                </a:solidFill>
                <a:latin typeface="Graphik"/>
              </a:rPr>
              <a:t>S E C T I O N</a:t>
            </a:r>
          </a:p>
        </p:txBody>
      </p:sp>
      <p:sp>
        <p:nvSpPr>
          <p:cNvPr id="5" name="TextBox 4"/>
          <p:cNvSpPr txBox="1"/>
          <p:nvPr/>
        </p:nvSpPr>
        <p:spPr>
          <a:xfrm>
            <a:off x="621792" y="1828800"/>
            <a:ext cx="5486400" cy="1737360"/>
          </a:xfrm>
          <a:prstGeom prst="rect">
            <a:avLst/>
          </a:prstGeom>
          <a:noFill/>
        </p:spPr>
        <p:txBody>
          <a:bodyPr wrap="square" lIns="36576" tIns="36576" rIns="36576" bIns="36576" anchor="t">
            <a:spAutoFit/>
          </a:bodyPr>
          <a:lstStyle/>
          <a:p>
            <a:pPr algn="l"/>
            <a:r>
              <a:rPr sz="12000" b="0" i="0">
                <a:solidFill>
                  <a:srgbClr val="A100FF"/>
                </a:solidFill>
                <a:latin typeface="Graphik Black"/>
              </a:rPr>
              <a:t>06</a:t>
            </a:r>
          </a:p>
        </p:txBody>
      </p:sp>
      <p:sp>
        <p:nvSpPr>
          <p:cNvPr id="6" name="Rectangle 5"/>
          <p:cNvSpPr/>
          <p:nvPr/>
        </p:nvSpPr>
        <p:spPr>
          <a:xfrm>
            <a:off x="713232" y="3822191"/>
            <a:ext cx="1600200" cy="8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4041648"/>
            <a:ext cx="10058400" cy="1280160"/>
          </a:xfrm>
          <a:prstGeom prst="rect">
            <a:avLst/>
          </a:prstGeom>
          <a:noFill/>
        </p:spPr>
        <p:txBody>
          <a:bodyPr wrap="square" lIns="36576" tIns="36576" rIns="36576" bIns="36576" anchor="t">
            <a:spAutoFit/>
          </a:bodyPr>
          <a:lstStyle/>
          <a:p>
            <a:pPr algn="l">
              <a:lnSpc>
                <a:spcPct val="95000"/>
              </a:lnSpc>
            </a:pPr>
            <a:r>
              <a:rPr sz="4000" b="1" i="0">
                <a:solidFill>
                  <a:srgbClr val="FFFFFF"/>
                </a:solidFill>
                <a:latin typeface="Graphik"/>
              </a:rPr>
              <a:t>Annexes</a:t>
            </a:r>
          </a:p>
        </p:txBody>
      </p:sp>
      <p:sp>
        <p:nvSpPr>
          <p:cNvPr id="8" name="TextBox 7"/>
          <p:cNvSpPr txBox="1"/>
          <p:nvPr/>
        </p:nvSpPr>
        <p:spPr>
          <a:xfrm>
            <a:off x="713232" y="5532120"/>
            <a:ext cx="10515600" cy="411480"/>
          </a:xfrm>
          <a:prstGeom prst="rect">
            <a:avLst/>
          </a:prstGeom>
          <a:noFill/>
        </p:spPr>
        <p:txBody>
          <a:bodyPr wrap="square" lIns="36576" tIns="36576" rIns="36576" bIns="36576" anchor="t">
            <a:spAutoFit/>
          </a:bodyPr>
          <a:lstStyle/>
          <a:p>
            <a:pPr algn="l"/>
            <a:r>
              <a:rPr sz="1700" b="0" i="1">
                <a:solidFill>
                  <a:srgbClr val="C9A6F2"/>
                </a:solidFill>
                <a:latin typeface="Graphik"/>
              </a:rPr>
              <a:t>Éléments techniques complémentaires</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Indicateurs d'évaluation des modèles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481328"/>
          <a:ext cx="11091672" cy="411480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3044952">
                  <a:extLst>
                    <a:ext uri="{9D8B030D-6E8A-4147-A177-3AD203B41FA5}">
                      <a16:colId xmlns:a16="http://schemas.microsoft.com/office/drawing/2014/main" val="20002"/>
                    </a:ext>
                  </a:extLst>
                </a:gridCol>
              </a:tblGrid>
              <a:tr h="457200">
                <a:tc>
                  <a:txBody>
                    <a:bodyPr/>
                    <a:lstStyle/>
                    <a:p>
                      <a:pPr algn="l"/>
                      <a:r>
                        <a:rPr sz="1250" b="1" i="0">
                          <a:solidFill>
                            <a:srgbClr val="FFFFFF"/>
                          </a:solidFill>
                          <a:latin typeface="Graphik"/>
                        </a:rPr>
                        <a:t>Indicateur</a:t>
                      </a:r>
                    </a:p>
                  </a:txBody>
                  <a:tcPr marT="36576" marB="36576" anchor="ctr">
                    <a:solidFill>
                      <a:srgbClr val="460073"/>
                    </a:solidFill>
                  </a:tcPr>
                </a:tc>
                <a:tc>
                  <a:txBody>
                    <a:bodyPr/>
                    <a:lstStyle/>
                    <a:p>
                      <a:pPr algn="l"/>
                      <a:r>
                        <a:rPr sz="1250" b="1" i="0">
                          <a:solidFill>
                            <a:srgbClr val="FFFFFF"/>
                          </a:solidFill>
                          <a:latin typeface="Graphik"/>
                        </a:rPr>
                        <a:t>Définition</a:t>
                      </a:r>
                    </a:p>
                  </a:txBody>
                  <a:tcPr marT="36576" marB="36576" anchor="ctr">
                    <a:solidFill>
                      <a:srgbClr val="460073"/>
                    </a:solidFill>
                  </a:tcPr>
                </a:tc>
                <a:tc>
                  <a:txBody>
                    <a:bodyPr/>
                    <a:lstStyle/>
                    <a:p>
                      <a:pPr algn="ctr"/>
                      <a:r>
                        <a:rPr sz="1250" b="1" i="0">
                          <a:solidFill>
                            <a:srgbClr val="FFFFFF"/>
                          </a:solidFill>
                          <a:latin typeface="Graphik"/>
                        </a:rPr>
                        <a:t>Lecture</a:t>
                      </a:r>
                    </a:p>
                  </a:txBody>
                  <a:tcPr marT="36576" marB="36576" anchor="ctr">
                    <a:solidFill>
                      <a:srgbClr val="460073"/>
                    </a:solidFill>
                  </a:tcPr>
                </a:tc>
                <a:extLst>
                  <a:ext uri="{0D108BD9-81ED-4DB2-BD59-A6C34878D82A}">
                    <a16:rowId xmlns:a16="http://schemas.microsoft.com/office/drawing/2014/main" val="10000"/>
                  </a:ext>
                </a:extLst>
              </a:tr>
              <a:tr h="457200">
                <a:tc>
                  <a:txBody>
                    <a:bodyPr/>
                    <a:lstStyle/>
                    <a:p>
                      <a:pPr algn="l"/>
                      <a:r>
                        <a:rPr sz="1250" b="1" i="0">
                          <a:solidFill>
                            <a:srgbClr val="1A1A1A"/>
                          </a:solidFill>
                          <a:latin typeface="Graphik"/>
                        </a:rPr>
                        <a:t>AUC-ROC</a:t>
                      </a:r>
                    </a:p>
                  </a:txBody>
                  <a:tcPr marT="36576" marB="36576" anchor="ctr">
                    <a:solidFill>
                      <a:srgbClr val="EEE0FF"/>
                    </a:solidFill>
                  </a:tcPr>
                </a:tc>
                <a:tc>
                  <a:txBody>
                    <a:bodyPr/>
                    <a:lstStyle/>
                    <a:p>
                      <a:pPr algn="l"/>
                      <a:r>
                        <a:rPr sz="1250" b="0" i="0">
                          <a:solidFill>
                            <a:srgbClr val="1A1A1A"/>
                          </a:solidFill>
                          <a:latin typeface="Graphik"/>
                        </a:rPr>
                        <a:t>Aire sous la courbe ROC = P(score fraude &gt; score non-fraude)</a:t>
                      </a:r>
                    </a:p>
                  </a:txBody>
                  <a:tcPr marT="36576" marB="36576" anchor="ctr">
                    <a:solidFill>
                      <a:srgbClr val="EEE0FF"/>
                    </a:solidFill>
                  </a:tcPr>
                </a:tc>
                <a:tc>
                  <a:txBody>
                    <a:bodyPr/>
                    <a:lstStyle/>
                    <a:p>
                      <a:pPr algn="ctr"/>
                      <a:r>
                        <a:rPr sz="1250" b="0" i="0">
                          <a:solidFill>
                            <a:srgbClr val="1A1A1A"/>
                          </a:solidFill>
                          <a:latin typeface="Graphik"/>
                        </a:rPr>
                        <a:t>0,5 = hasard · 1 = parfait</a:t>
                      </a:r>
                    </a:p>
                  </a:txBody>
                  <a:tcPr marT="36576" marB="36576" anchor="ctr">
                    <a:solidFill>
                      <a:srgbClr val="EEE0FF"/>
                    </a:solidFill>
                  </a:tcPr>
                </a:tc>
                <a:extLst>
                  <a:ext uri="{0D108BD9-81ED-4DB2-BD59-A6C34878D82A}">
                    <a16:rowId xmlns:a16="http://schemas.microsoft.com/office/drawing/2014/main" val="10001"/>
                  </a:ext>
                </a:extLst>
              </a:tr>
              <a:tr h="457200">
                <a:tc>
                  <a:txBody>
                    <a:bodyPr/>
                    <a:lstStyle/>
                    <a:p>
                      <a:pPr algn="l"/>
                      <a:r>
                        <a:rPr sz="1250" b="1" i="0">
                          <a:solidFill>
                            <a:srgbClr val="1A1A1A"/>
                          </a:solidFill>
                          <a:latin typeface="Graphik"/>
                        </a:rPr>
                        <a:t>Gini</a:t>
                      </a:r>
                    </a:p>
                  </a:txBody>
                  <a:tcPr marT="36576" marB="36576" anchor="ctr">
                    <a:solidFill>
                      <a:srgbClr val="FFFFFF"/>
                    </a:solidFill>
                  </a:tcPr>
                </a:tc>
                <a:tc>
                  <a:txBody>
                    <a:bodyPr/>
                    <a:lstStyle/>
                    <a:p>
                      <a:pPr algn="l"/>
                      <a:r>
                        <a:rPr sz="1250" b="0" i="0">
                          <a:solidFill>
                            <a:srgbClr val="1A1A1A"/>
                          </a:solidFill>
                          <a:latin typeface="Graphik"/>
                        </a:rPr>
                        <a:t>2 × AUC − 1</a:t>
                      </a:r>
                    </a:p>
                  </a:txBody>
                  <a:tcPr marT="36576" marB="36576" anchor="ctr">
                    <a:solidFill>
                      <a:srgbClr val="FFFFFF"/>
                    </a:solidFill>
                  </a:tcPr>
                </a:tc>
                <a:tc>
                  <a:txBody>
                    <a:bodyPr/>
                    <a:lstStyle/>
                    <a:p>
                      <a:pPr algn="ctr"/>
                      <a:r>
                        <a:rPr sz="1250" b="0" i="0">
                          <a:solidFill>
                            <a:srgbClr val="1A1A1A"/>
                          </a:solidFill>
                          <a:latin typeface="Graphik"/>
                        </a:rPr>
                        <a:t>Pouvoir discriminant normalisé</a:t>
                      </a:r>
                    </a:p>
                  </a:txBody>
                  <a:tcPr marT="36576" marB="36576" anchor="ctr">
                    <a:solidFill>
                      <a:srgbClr val="FFFFFF"/>
                    </a:solidFill>
                  </a:tcPr>
                </a:tc>
                <a:extLst>
                  <a:ext uri="{0D108BD9-81ED-4DB2-BD59-A6C34878D82A}">
                    <a16:rowId xmlns:a16="http://schemas.microsoft.com/office/drawing/2014/main" val="10002"/>
                  </a:ext>
                </a:extLst>
              </a:tr>
              <a:tr h="457200">
                <a:tc>
                  <a:txBody>
                    <a:bodyPr/>
                    <a:lstStyle/>
                    <a:p>
                      <a:pPr algn="l"/>
                      <a:r>
                        <a:rPr sz="1250" b="1" i="0">
                          <a:solidFill>
                            <a:srgbClr val="1A1A1A"/>
                          </a:solidFill>
                          <a:latin typeface="Graphik"/>
                        </a:rPr>
                        <a:t>Kolmogorov-Smirnov</a:t>
                      </a:r>
                    </a:p>
                  </a:txBody>
                  <a:tcPr marT="36576" marB="36576" anchor="ctr">
                    <a:solidFill>
                      <a:srgbClr val="EEE0FF"/>
                    </a:solidFill>
                  </a:tcPr>
                </a:tc>
                <a:tc>
                  <a:txBody>
                    <a:bodyPr/>
                    <a:lstStyle/>
                    <a:p>
                      <a:pPr algn="l"/>
                      <a:r>
                        <a:rPr sz="1250" b="0" i="0">
                          <a:solidFill>
                            <a:srgbClr val="1A1A1A"/>
                          </a:solidFill>
                          <a:latin typeface="Graphik"/>
                        </a:rPr>
                        <a:t>Écart maximal entre les répartitions des scores des deux populations</a:t>
                      </a:r>
                    </a:p>
                  </a:txBody>
                  <a:tcPr marT="36576" marB="36576" anchor="ctr">
                    <a:solidFill>
                      <a:srgbClr val="EEE0FF"/>
                    </a:solidFill>
                  </a:tcPr>
                </a:tc>
                <a:tc>
                  <a:txBody>
                    <a:bodyPr/>
                    <a:lstStyle/>
                    <a:p>
                      <a:pPr algn="ctr"/>
                      <a:r>
                        <a:rPr sz="1250" b="0" i="0">
                          <a:solidFill>
                            <a:srgbClr val="1A1A1A"/>
                          </a:solidFill>
                          <a:latin typeface="Graphik"/>
                        </a:rPr>
                        <a:t>&gt; 0,4 satisfaisant</a:t>
                      </a:r>
                    </a:p>
                  </a:txBody>
                  <a:tcPr marT="36576" marB="36576" anchor="ctr">
                    <a:solidFill>
                      <a:srgbClr val="EEE0FF"/>
                    </a:solidFill>
                  </a:tcPr>
                </a:tc>
                <a:extLst>
                  <a:ext uri="{0D108BD9-81ED-4DB2-BD59-A6C34878D82A}">
                    <a16:rowId xmlns:a16="http://schemas.microsoft.com/office/drawing/2014/main" val="10003"/>
                  </a:ext>
                </a:extLst>
              </a:tr>
              <a:tr h="457200">
                <a:tc>
                  <a:txBody>
                    <a:bodyPr/>
                    <a:lstStyle/>
                    <a:p>
                      <a:pPr algn="l"/>
                      <a:r>
                        <a:rPr sz="1250" b="1" i="0">
                          <a:solidFill>
                            <a:srgbClr val="1A1A1A"/>
                          </a:solidFill>
                          <a:latin typeface="Graphik"/>
                        </a:rPr>
                        <a:t>Précision / Rappel</a:t>
                      </a:r>
                    </a:p>
                  </a:txBody>
                  <a:tcPr marT="36576" marB="36576" anchor="ctr">
                    <a:solidFill>
                      <a:srgbClr val="FFFFFF"/>
                    </a:solidFill>
                  </a:tcPr>
                </a:tc>
                <a:tc>
                  <a:txBody>
                    <a:bodyPr/>
                    <a:lstStyle/>
                    <a:p>
                      <a:pPr algn="l"/>
                      <a:r>
                        <a:rPr sz="1250" b="0" i="0">
                          <a:solidFill>
                            <a:srgbClr val="1A1A1A"/>
                          </a:solidFill>
                          <a:latin typeface="Graphik"/>
                        </a:rPr>
                        <a:t>VP / (VP + FP)  ·  VP / (VP + FN)</a:t>
                      </a:r>
                    </a:p>
                  </a:txBody>
                  <a:tcPr marT="36576" marB="36576" anchor="ctr">
                    <a:solidFill>
                      <a:srgbClr val="FFFFFF"/>
                    </a:solidFill>
                  </a:tcPr>
                </a:tc>
                <a:tc>
                  <a:txBody>
                    <a:bodyPr/>
                    <a:lstStyle/>
                    <a:p>
                      <a:pPr algn="ctr"/>
                      <a:r>
                        <a:rPr sz="1250" b="0" i="0">
                          <a:solidFill>
                            <a:srgbClr val="1A1A1A"/>
                          </a:solidFill>
                          <a:latin typeface="Graphik"/>
                        </a:rPr>
                        <a:t>Qualité des alertes · couverture des fraudes</a:t>
                      </a:r>
                    </a:p>
                  </a:txBody>
                  <a:tcPr marT="36576" marB="36576" anchor="ctr">
                    <a:solidFill>
                      <a:srgbClr val="FFFFFF"/>
                    </a:solidFill>
                  </a:tcPr>
                </a:tc>
                <a:extLst>
                  <a:ext uri="{0D108BD9-81ED-4DB2-BD59-A6C34878D82A}">
                    <a16:rowId xmlns:a16="http://schemas.microsoft.com/office/drawing/2014/main" val="10004"/>
                  </a:ext>
                </a:extLst>
              </a:tr>
              <a:tr h="457200">
                <a:tc>
                  <a:txBody>
                    <a:bodyPr/>
                    <a:lstStyle/>
                    <a:p>
                      <a:pPr algn="l"/>
                      <a:r>
                        <a:rPr sz="1250" b="1" i="0">
                          <a:solidFill>
                            <a:srgbClr val="1A1A1A"/>
                          </a:solidFill>
                          <a:latin typeface="Graphik"/>
                        </a:rPr>
                        <a:t>PR-AUC</a:t>
                      </a:r>
                    </a:p>
                  </a:txBody>
                  <a:tcPr marT="36576" marB="36576" anchor="ctr">
                    <a:solidFill>
                      <a:srgbClr val="EEE0FF"/>
                    </a:solidFill>
                  </a:tcPr>
                </a:tc>
                <a:tc>
                  <a:txBody>
                    <a:bodyPr/>
                    <a:lstStyle/>
                    <a:p>
                      <a:pPr algn="l"/>
                      <a:r>
                        <a:rPr sz="1250" b="0" i="0">
                          <a:solidFill>
                            <a:srgbClr val="1A1A1A"/>
                          </a:solidFill>
                          <a:latin typeface="Graphik"/>
                        </a:rPr>
                        <a:t>Aire sous la courbe précision-rappel</a:t>
                      </a:r>
                    </a:p>
                  </a:txBody>
                  <a:tcPr marT="36576" marB="36576" anchor="ctr">
                    <a:solidFill>
                      <a:srgbClr val="EEE0FF"/>
                    </a:solidFill>
                  </a:tcPr>
                </a:tc>
                <a:tc>
                  <a:txBody>
                    <a:bodyPr/>
                    <a:lstStyle/>
                    <a:p>
                      <a:pPr algn="ctr"/>
                      <a:r>
                        <a:rPr sz="1250" b="0" i="0">
                          <a:solidFill>
                            <a:srgbClr val="1A1A1A"/>
                          </a:solidFill>
                          <a:latin typeface="Graphik"/>
                        </a:rPr>
                        <a:t>Adaptée aux classes déséquilibrées</a:t>
                      </a:r>
                    </a:p>
                  </a:txBody>
                  <a:tcPr marT="36576" marB="36576" anchor="ctr">
                    <a:solidFill>
                      <a:srgbClr val="EEE0FF"/>
                    </a:solidFill>
                  </a:tcPr>
                </a:tc>
                <a:extLst>
                  <a:ext uri="{0D108BD9-81ED-4DB2-BD59-A6C34878D82A}">
                    <a16:rowId xmlns:a16="http://schemas.microsoft.com/office/drawing/2014/main" val="10005"/>
                  </a:ext>
                </a:extLst>
              </a:tr>
              <a:tr h="457200">
                <a:tc>
                  <a:txBody>
                    <a:bodyPr/>
                    <a:lstStyle/>
                    <a:p>
                      <a:pPr algn="l"/>
                      <a:r>
                        <a:rPr sz="1250" b="1" i="0">
                          <a:solidFill>
                            <a:srgbClr val="1A1A1A"/>
                          </a:solidFill>
                          <a:latin typeface="Graphik"/>
                        </a:rPr>
                        <a:t>Lift @10 %</a:t>
                      </a:r>
                    </a:p>
                  </a:txBody>
                  <a:tcPr marT="36576" marB="36576" anchor="ctr">
                    <a:solidFill>
                      <a:srgbClr val="FFFFFF"/>
                    </a:solidFill>
                  </a:tcPr>
                </a:tc>
                <a:tc>
                  <a:txBody>
                    <a:bodyPr/>
                    <a:lstStyle/>
                    <a:p>
                      <a:pPr algn="l"/>
                      <a:r>
                        <a:rPr sz="1250" b="0" i="0">
                          <a:solidFill>
                            <a:srgbClr val="1A1A1A"/>
                          </a:solidFill>
                          <a:latin typeface="Graphik"/>
                        </a:rPr>
                        <a:t>Taux de fraude du premier décile / taux de fraude global</a:t>
                      </a:r>
                    </a:p>
                  </a:txBody>
                  <a:tcPr marT="36576" marB="36576" anchor="ctr">
                    <a:solidFill>
                      <a:srgbClr val="FFFFFF"/>
                    </a:solidFill>
                  </a:tcPr>
                </a:tc>
                <a:tc>
                  <a:txBody>
                    <a:bodyPr/>
                    <a:lstStyle/>
                    <a:p>
                      <a:pPr algn="ctr"/>
                      <a:r>
                        <a:rPr sz="1250" b="0" i="0">
                          <a:solidFill>
                            <a:srgbClr val="1A1A1A"/>
                          </a:solidFill>
                          <a:latin typeface="Graphik"/>
                        </a:rPr>
                        <a:t>×5 = 5 fois plus qu'au hasard</a:t>
                      </a:r>
                    </a:p>
                  </a:txBody>
                  <a:tcPr marT="36576" marB="36576" anchor="ctr">
                    <a:solidFill>
                      <a:srgbClr val="FFFFFF"/>
                    </a:solidFill>
                  </a:tcPr>
                </a:tc>
                <a:extLst>
                  <a:ext uri="{0D108BD9-81ED-4DB2-BD59-A6C34878D82A}">
                    <a16:rowId xmlns:a16="http://schemas.microsoft.com/office/drawing/2014/main" val="10006"/>
                  </a:ext>
                </a:extLst>
              </a:tr>
              <a:tr h="457200">
                <a:tc>
                  <a:txBody>
                    <a:bodyPr/>
                    <a:lstStyle/>
                    <a:p>
                      <a:pPr algn="l"/>
                      <a:r>
                        <a:rPr sz="1250" b="1" i="0">
                          <a:solidFill>
                            <a:srgbClr val="1A1A1A"/>
                          </a:solidFill>
                          <a:latin typeface="Graphik"/>
                        </a:rPr>
                        <a:t>Indice de Youden</a:t>
                      </a:r>
                    </a:p>
                  </a:txBody>
                  <a:tcPr marT="36576" marB="36576" anchor="ctr">
                    <a:solidFill>
                      <a:srgbClr val="EEE0FF"/>
                    </a:solidFill>
                  </a:tcPr>
                </a:tc>
                <a:tc>
                  <a:txBody>
                    <a:bodyPr/>
                    <a:lstStyle/>
                    <a:p>
                      <a:pPr algn="l"/>
                      <a:r>
                        <a:rPr sz="1250" b="0" i="0">
                          <a:solidFill>
                            <a:srgbClr val="1A1A1A"/>
                          </a:solidFill>
                          <a:latin typeface="Graphik"/>
                        </a:rPr>
                        <a:t>J = TPR − FPR, maximisé pour fixer le seuil</a:t>
                      </a:r>
                    </a:p>
                  </a:txBody>
                  <a:tcPr marT="36576" marB="36576" anchor="ctr">
                    <a:solidFill>
                      <a:srgbClr val="EEE0FF"/>
                    </a:solidFill>
                  </a:tcPr>
                </a:tc>
                <a:tc>
                  <a:txBody>
                    <a:bodyPr/>
                    <a:lstStyle/>
                    <a:p>
                      <a:pPr algn="ctr"/>
                      <a:r>
                        <a:rPr sz="1250" b="0" i="0">
                          <a:solidFill>
                            <a:srgbClr val="1A1A1A"/>
                          </a:solidFill>
                          <a:latin typeface="Graphik"/>
                        </a:rPr>
                        <a:t>Seuil optimal : 45 %</a:t>
                      </a:r>
                    </a:p>
                  </a:txBody>
                  <a:tcPr marT="36576" marB="36576" anchor="ctr">
                    <a:solidFill>
                      <a:srgbClr val="EEE0FF"/>
                    </a:solidFill>
                  </a:tcPr>
                </a:tc>
                <a:extLst>
                  <a:ext uri="{0D108BD9-81ED-4DB2-BD59-A6C34878D82A}">
                    <a16:rowId xmlns:a16="http://schemas.microsoft.com/office/drawing/2014/main" val="10007"/>
                  </a:ext>
                </a:extLst>
              </a:tr>
              <a:tr h="457200">
                <a:tc>
                  <a:txBody>
                    <a:bodyPr/>
                    <a:lstStyle/>
                    <a:p>
                      <a:pPr algn="l"/>
                      <a:r>
                        <a:rPr sz="1250" b="1" i="0">
                          <a:solidFill>
                            <a:srgbClr val="1A1A1A"/>
                          </a:solidFill>
                          <a:latin typeface="Graphik"/>
                        </a:rPr>
                        <a:t>PSI</a:t>
                      </a:r>
                    </a:p>
                  </a:txBody>
                  <a:tcPr marT="36576" marB="36576" anchor="ctr">
                    <a:solidFill>
                      <a:srgbClr val="FFFFFF"/>
                    </a:solidFill>
                  </a:tcPr>
                </a:tc>
                <a:tc>
                  <a:txBody>
                    <a:bodyPr/>
                    <a:lstStyle/>
                    <a:p>
                      <a:pPr algn="l"/>
                      <a:r>
                        <a:rPr sz="1250" b="0" i="0">
                          <a:solidFill>
                            <a:srgbClr val="1A1A1A"/>
                          </a:solidFill>
                          <a:latin typeface="Graphik"/>
                        </a:rPr>
                        <a:t>Σ (a − e) × ln(a / e) entre populations d'apprentissage et de test</a:t>
                      </a:r>
                    </a:p>
                  </a:txBody>
                  <a:tcPr marT="36576" marB="36576" anchor="ctr">
                    <a:solidFill>
                      <a:srgbClr val="FFFFFF"/>
                    </a:solidFill>
                  </a:tcPr>
                </a:tc>
                <a:tc>
                  <a:txBody>
                    <a:bodyPr/>
                    <a:lstStyle/>
                    <a:p>
                      <a:pPr algn="ctr"/>
                      <a:r>
                        <a:rPr sz="1250" b="0" i="0">
                          <a:solidFill>
                            <a:srgbClr val="1A1A1A"/>
                          </a:solidFill>
                          <a:latin typeface="Graphik"/>
                        </a:rPr>
                        <a:t>&lt; 0,10 : population stable</a:t>
                      </a:r>
                    </a:p>
                  </a:txBody>
                  <a:tcPr marT="36576" marB="36576" anchor="ctr">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Gradient Boosting : matrice de confusion au seuil de 45 %</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645920"/>
          <a:ext cx="6035040" cy="2267712"/>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66928">
                <a:tc>
                  <a:txBody>
                    <a:bodyPr/>
                    <a:lstStyle/>
                    <a:p>
                      <a:pPr algn="l"/>
                      <a:endParaRPr/>
                    </a:p>
                  </a:txBody>
                  <a:tcPr marT="36576" marB="36576" anchor="ctr">
                    <a:solidFill>
                      <a:srgbClr val="460073"/>
                    </a:solidFill>
                  </a:tcPr>
                </a:tc>
                <a:tc>
                  <a:txBody>
                    <a:bodyPr/>
                    <a:lstStyle/>
                    <a:p>
                      <a:pPr algn="ctr"/>
                      <a:r>
                        <a:rPr sz="1500" b="1" i="0">
                          <a:solidFill>
                            <a:srgbClr val="FFFFFF"/>
                          </a:solidFill>
                          <a:latin typeface="Graphik"/>
                        </a:rPr>
                        <a:t>Prédit fraude</a:t>
                      </a:r>
                    </a:p>
                  </a:txBody>
                  <a:tcPr marT="36576" marB="36576" anchor="ctr">
                    <a:solidFill>
                      <a:srgbClr val="460073"/>
                    </a:solidFill>
                  </a:tcPr>
                </a:tc>
                <a:tc>
                  <a:txBody>
                    <a:bodyPr/>
                    <a:lstStyle/>
                    <a:p>
                      <a:pPr algn="ctr"/>
                      <a:r>
                        <a:rPr sz="1500" b="1" i="0">
                          <a:solidFill>
                            <a:srgbClr val="FFFFFF"/>
                          </a:solidFill>
                          <a:latin typeface="Graphik"/>
                        </a:rPr>
                        <a:t>Prédit non-fraude</a:t>
                      </a:r>
                    </a:p>
                  </a:txBody>
                  <a:tcPr marT="36576" marB="36576" anchor="ctr">
                    <a:solidFill>
                      <a:srgbClr val="460073"/>
                    </a:solidFill>
                  </a:tcPr>
                </a:tc>
                <a:tc>
                  <a:txBody>
                    <a:bodyPr/>
                    <a:lstStyle/>
                    <a:p>
                      <a:pPr algn="ctr"/>
                      <a:r>
                        <a:rPr sz="1500" b="1" i="0">
                          <a:solidFill>
                            <a:srgbClr val="FFFFFF"/>
                          </a:solidFill>
                          <a:latin typeface="Graphik"/>
                        </a:rPr>
                        <a:t>Total</a:t>
                      </a:r>
                    </a:p>
                  </a:txBody>
                  <a:tcPr marT="36576" marB="36576" anchor="ctr">
                    <a:solidFill>
                      <a:srgbClr val="460073"/>
                    </a:solidFill>
                  </a:tcPr>
                </a:tc>
                <a:extLst>
                  <a:ext uri="{0D108BD9-81ED-4DB2-BD59-A6C34878D82A}">
                    <a16:rowId xmlns:a16="http://schemas.microsoft.com/office/drawing/2014/main" val="10000"/>
                  </a:ext>
                </a:extLst>
              </a:tr>
              <a:tr h="566928">
                <a:tc>
                  <a:txBody>
                    <a:bodyPr/>
                    <a:lstStyle/>
                    <a:p>
                      <a:pPr algn="l"/>
                      <a:r>
                        <a:rPr sz="1500" b="1" i="0">
                          <a:solidFill>
                            <a:srgbClr val="1A1A1A"/>
                          </a:solidFill>
                          <a:latin typeface="Graphik"/>
                        </a:rPr>
                        <a:t>Réel fraude</a:t>
                      </a:r>
                    </a:p>
                  </a:txBody>
                  <a:tcPr marT="36576" marB="36576" anchor="ctr">
                    <a:solidFill>
                      <a:srgbClr val="EEE0FF"/>
                    </a:solidFill>
                  </a:tcPr>
                </a:tc>
                <a:tc>
                  <a:txBody>
                    <a:bodyPr/>
                    <a:lstStyle/>
                    <a:p>
                      <a:pPr algn="ctr"/>
                      <a:r>
                        <a:rPr sz="1500" b="1" i="0">
                          <a:solidFill>
                            <a:srgbClr val="1E8E3E"/>
                          </a:solidFill>
                          <a:latin typeface="Graphik"/>
                        </a:rPr>
                        <a:t>601</a:t>
                      </a:r>
                    </a:p>
                  </a:txBody>
                  <a:tcPr marT="36576" marB="36576" anchor="ctr">
                    <a:solidFill>
                      <a:srgbClr val="EEE0FF"/>
                    </a:solidFill>
                  </a:tcPr>
                </a:tc>
                <a:tc>
                  <a:txBody>
                    <a:bodyPr/>
                    <a:lstStyle/>
                    <a:p>
                      <a:pPr algn="ctr"/>
                      <a:r>
                        <a:rPr sz="1500" b="1" i="0">
                          <a:solidFill>
                            <a:srgbClr val="C62828"/>
                          </a:solidFill>
                          <a:latin typeface="Graphik"/>
                        </a:rPr>
                        <a:t>87</a:t>
                      </a:r>
                    </a:p>
                  </a:txBody>
                  <a:tcPr marT="36576" marB="36576" anchor="ctr">
                    <a:solidFill>
                      <a:srgbClr val="EEE0FF"/>
                    </a:solidFill>
                  </a:tcPr>
                </a:tc>
                <a:tc>
                  <a:txBody>
                    <a:bodyPr/>
                    <a:lstStyle/>
                    <a:p>
                      <a:pPr algn="ctr"/>
                      <a:r>
                        <a:rPr sz="1500" b="0" i="0">
                          <a:solidFill>
                            <a:srgbClr val="1A1A1A"/>
                          </a:solidFill>
                          <a:latin typeface="Graphik"/>
                        </a:rPr>
                        <a:t>688</a:t>
                      </a:r>
                    </a:p>
                  </a:txBody>
                  <a:tcPr marT="36576" marB="36576" anchor="ctr">
                    <a:solidFill>
                      <a:srgbClr val="EEE0FF"/>
                    </a:solidFill>
                  </a:tcPr>
                </a:tc>
                <a:extLst>
                  <a:ext uri="{0D108BD9-81ED-4DB2-BD59-A6C34878D82A}">
                    <a16:rowId xmlns:a16="http://schemas.microsoft.com/office/drawing/2014/main" val="10001"/>
                  </a:ext>
                </a:extLst>
              </a:tr>
              <a:tr h="566928">
                <a:tc>
                  <a:txBody>
                    <a:bodyPr/>
                    <a:lstStyle/>
                    <a:p>
                      <a:pPr algn="l"/>
                      <a:r>
                        <a:rPr sz="1500" b="1" i="0">
                          <a:solidFill>
                            <a:srgbClr val="1A1A1A"/>
                          </a:solidFill>
                          <a:latin typeface="Graphik"/>
                        </a:rPr>
                        <a:t>Réel non-fraude</a:t>
                      </a:r>
                    </a:p>
                  </a:txBody>
                  <a:tcPr marT="36576" marB="36576" anchor="ctr">
                    <a:solidFill>
                      <a:srgbClr val="FFFFFF"/>
                    </a:solidFill>
                  </a:tcPr>
                </a:tc>
                <a:tc>
                  <a:txBody>
                    <a:bodyPr/>
                    <a:lstStyle/>
                    <a:p>
                      <a:pPr algn="ctr"/>
                      <a:r>
                        <a:rPr sz="1500" b="1" i="0">
                          <a:solidFill>
                            <a:srgbClr val="C62828"/>
                          </a:solidFill>
                          <a:latin typeface="Graphik"/>
                        </a:rPr>
                        <a:t>813</a:t>
                      </a:r>
                    </a:p>
                  </a:txBody>
                  <a:tcPr marT="36576" marB="36576" anchor="ctr">
                    <a:solidFill>
                      <a:srgbClr val="FFFFFF"/>
                    </a:solidFill>
                  </a:tcPr>
                </a:tc>
                <a:tc>
                  <a:txBody>
                    <a:bodyPr/>
                    <a:lstStyle/>
                    <a:p>
                      <a:pPr algn="ctr"/>
                      <a:r>
                        <a:rPr sz="1500" b="1" i="0">
                          <a:solidFill>
                            <a:srgbClr val="1E8E3E"/>
                          </a:solidFill>
                          <a:latin typeface="Graphik"/>
                        </a:rPr>
                        <a:t>4 499</a:t>
                      </a:r>
                    </a:p>
                  </a:txBody>
                  <a:tcPr marT="36576" marB="36576" anchor="ctr">
                    <a:solidFill>
                      <a:srgbClr val="FFFFFF"/>
                    </a:solidFill>
                  </a:tcPr>
                </a:tc>
                <a:tc>
                  <a:txBody>
                    <a:bodyPr/>
                    <a:lstStyle/>
                    <a:p>
                      <a:pPr algn="ctr"/>
                      <a:r>
                        <a:rPr sz="1500" b="0" i="0">
                          <a:solidFill>
                            <a:srgbClr val="1A1A1A"/>
                          </a:solidFill>
                          <a:latin typeface="Graphik"/>
                        </a:rPr>
                        <a:t>5 312</a:t>
                      </a:r>
                    </a:p>
                  </a:txBody>
                  <a:tcPr marT="36576" marB="36576" anchor="ctr">
                    <a:solidFill>
                      <a:srgbClr val="FFFFFF"/>
                    </a:solidFill>
                  </a:tcPr>
                </a:tc>
                <a:extLst>
                  <a:ext uri="{0D108BD9-81ED-4DB2-BD59-A6C34878D82A}">
                    <a16:rowId xmlns:a16="http://schemas.microsoft.com/office/drawing/2014/main" val="10002"/>
                  </a:ext>
                </a:extLst>
              </a:tr>
              <a:tr h="566928">
                <a:tc>
                  <a:txBody>
                    <a:bodyPr/>
                    <a:lstStyle/>
                    <a:p>
                      <a:pPr algn="l"/>
                      <a:r>
                        <a:rPr sz="1500" b="1" i="0">
                          <a:solidFill>
                            <a:srgbClr val="1A1A1A"/>
                          </a:solidFill>
                          <a:latin typeface="Graphik"/>
                        </a:rPr>
                        <a:t>Total</a:t>
                      </a:r>
                    </a:p>
                  </a:txBody>
                  <a:tcPr marT="36576" marB="36576" anchor="ctr">
                    <a:solidFill>
                      <a:srgbClr val="EEE0FF"/>
                    </a:solidFill>
                  </a:tcPr>
                </a:tc>
                <a:tc>
                  <a:txBody>
                    <a:bodyPr/>
                    <a:lstStyle/>
                    <a:p>
                      <a:pPr algn="ctr"/>
                      <a:r>
                        <a:rPr sz="1500" b="0" i="0">
                          <a:solidFill>
                            <a:srgbClr val="1A1A1A"/>
                          </a:solidFill>
                          <a:latin typeface="Graphik"/>
                        </a:rPr>
                        <a:t>1 414</a:t>
                      </a:r>
                    </a:p>
                  </a:txBody>
                  <a:tcPr marT="36576" marB="36576" anchor="ctr">
                    <a:solidFill>
                      <a:srgbClr val="EEE0FF"/>
                    </a:solidFill>
                  </a:tcPr>
                </a:tc>
                <a:tc>
                  <a:txBody>
                    <a:bodyPr/>
                    <a:lstStyle/>
                    <a:p>
                      <a:pPr algn="ctr"/>
                      <a:r>
                        <a:rPr sz="1500" b="0" i="0">
                          <a:solidFill>
                            <a:srgbClr val="1A1A1A"/>
                          </a:solidFill>
                          <a:latin typeface="Graphik"/>
                        </a:rPr>
                        <a:t>4 586</a:t>
                      </a:r>
                    </a:p>
                  </a:txBody>
                  <a:tcPr marT="36576" marB="36576" anchor="ctr">
                    <a:solidFill>
                      <a:srgbClr val="EEE0FF"/>
                    </a:solidFill>
                  </a:tcPr>
                </a:tc>
                <a:tc>
                  <a:txBody>
                    <a:bodyPr/>
                    <a:lstStyle/>
                    <a:p>
                      <a:pPr algn="ctr"/>
                      <a:r>
                        <a:rPr sz="1500" b="1" i="0">
                          <a:solidFill>
                            <a:srgbClr val="1A1A1A"/>
                          </a:solidFill>
                          <a:latin typeface="Graphik"/>
                        </a:rPr>
                        <a:t>6 000</a:t>
                      </a:r>
                    </a:p>
                  </a:txBody>
                  <a:tcPr marT="36576" marB="36576" anchor="ctr">
                    <a:solidFill>
                      <a:srgbClr val="EEE0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6903720" y="1645920"/>
            <a:ext cx="4736592"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40880" y="1645920"/>
            <a:ext cx="2377440" cy="658368"/>
          </a:xfrm>
          <a:prstGeom prst="rect">
            <a:avLst/>
          </a:prstGeom>
          <a:noFill/>
        </p:spPr>
        <p:txBody>
          <a:bodyPr wrap="square" lIns="36576" tIns="36576" rIns="36576" bIns="36576" anchor="ctr">
            <a:spAutoFit/>
          </a:bodyPr>
          <a:lstStyle/>
          <a:p>
            <a:pPr algn="l"/>
            <a:r>
              <a:rPr sz="1300" b="1" i="0">
                <a:solidFill>
                  <a:srgbClr val="460073"/>
                </a:solidFill>
                <a:latin typeface="Graphik"/>
              </a:rPr>
              <a:t>Rappel</a:t>
            </a:r>
          </a:p>
        </p:txBody>
      </p:sp>
      <p:sp>
        <p:nvSpPr>
          <p:cNvPr id="9" name="TextBox 8"/>
          <p:cNvSpPr txBox="1"/>
          <p:nvPr/>
        </p:nvSpPr>
        <p:spPr>
          <a:xfrm>
            <a:off x="9326880" y="1645920"/>
            <a:ext cx="2240280" cy="658368"/>
          </a:xfrm>
          <a:prstGeom prst="rect">
            <a:avLst/>
          </a:prstGeom>
          <a:noFill/>
        </p:spPr>
        <p:txBody>
          <a:bodyPr wrap="square" lIns="36576" tIns="36576" rIns="36576" bIns="36576" anchor="ctr">
            <a:spAutoFit/>
          </a:bodyPr>
          <a:lstStyle/>
          <a:p>
            <a:pPr algn="r"/>
            <a:r>
              <a:rPr sz="1300" b="0" i="0">
                <a:solidFill>
                  <a:srgbClr val="1A1A1A"/>
                </a:solidFill>
                <a:latin typeface="Graphik"/>
              </a:rPr>
              <a:t>601 / 688 = 87,4 %</a:t>
            </a:r>
          </a:p>
        </p:txBody>
      </p:sp>
      <p:sp>
        <p:nvSpPr>
          <p:cNvPr id="10" name="Rectangle 9"/>
          <p:cNvSpPr/>
          <p:nvPr/>
        </p:nvSpPr>
        <p:spPr>
          <a:xfrm>
            <a:off x="6903720" y="2414016"/>
            <a:ext cx="4736592" cy="658368"/>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40880" y="2414016"/>
            <a:ext cx="2377440" cy="658368"/>
          </a:xfrm>
          <a:prstGeom prst="rect">
            <a:avLst/>
          </a:prstGeom>
          <a:noFill/>
        </p:spPr>
        <p:txBody>
          <a:bodyPr wrap="square" lIns="36576" tIns="36576" rIns="36576" bIns="36576" anchor="ctr">
            <a:spAutoFit/>
          </a:bodyPr>
          <a:lstStyle/>
          <a:p>
            <a:pPr algn="l"/>
            <a:r>
              <a:rPr sz="1300" b="1" i="0">
                <a:solidFill>
                  <a:srgbClr val="460073"/>
                </a:solidFill>
                <a:latin typeface="Graphik"/>
              </a:rPr>
              <a:t>Précision</a:t>
            </a:r>
          </a:p>
        </p:txBody>
      </p:sp>
      <p:sp>
        <p:nvSpPr>
          <p:cNvPr id="12" name="TextBox 11"/>
          <p:cNvSpPr txBox="1"/>
          <p:nvPr/>
        </p:nvSpPr>
        <p:spPr>
          <a:xfrm>
            <a:off x="9326880" y="2414016"/>
            <a:ext cx="2240280" cy="658368"/>
          </a:xfrm>
          <a:prstGeom prst="rect">
            <a:avLst/>
          </a:prstGeom>
          <a:noFill/>
        </p:spPr>
        <p:txBody>
          <a:bodyPr wrap="square" lIns="36576" tIns="36576" rIns="36576" bIns="36576" anchor="ctr">
            <a:spAutoFit/>
          </a:bodyPr>
          <a:lstStyle/>
          <a:p>
            <a:pPr algn="r"/>
            <a:r>
              <a:rPr sz="1300" b="0" i="0">
                <a:solidFill>
                  <a:srgbClr val="1A1A1A"/>
                </a:solidFill>
                <a:latin typeface="Graphik"/>
              </a:rPr>
              <a:t>601 / 1 414 = 42,5 %</a:t>
            </a:r>
          </a:p>
        </p:txBody>
      </p:sp>
      <p:sp>
        <p:nvSpPr>
          <p:cNvPr id="13" name="Rectangle 12"/>
          <p:cNvSpPr/>
          <p:nvPr/>
        </p:nvSpPr>
        <p:spPr>
          <a:xfrm>
            <a:off x="6903720" y="3182112"/>
            <a:ext cx="4736592"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040880" y="3182112"/>
            <a:ext cx="2377440" cy="658368"/>
          </a:xfrm>
          <a:prstGeom prst="rect">
            <a:avLst/>
          </a:prstGeom>
          <a:noFill/>
        </p:spPr>
        <p:txBody>
          <a:bodyPr wrap="square" lIns="36576" tIns="36576" rIns="36576" bIns="36576" anchor="ctr">
            <a:spAutoFit/>
          </a:bodyPr>
          <a:lstStyle/>
          <a:p>
            <a:pPr algn="l"/>
            <a:r>
              <a:rPr sz="1300" b="1" i="0">
                <a:solidFill>
                  <a:srgbClr val="460073"/>
                </a:solidFill>
                <a:latin typeface="Graphik"/>
              </a:rPr>
              <a:t>Taux de dossiers signalés</a:t>
            </a:r>
          </a:p>
        </p:txBody>
      </p:sp>
      <p:sp>
        <p:nvSpPr>
          <p:cNvPr id="15" name="TextBox 14"/>
          <p:cNvSpPr txBox="1"/>
          <p:nvPr/>
        </p:nvSpPr>
        <p:spPr>
          <a:xfrm>
            <a:off x="9326880" y="3182112"/>
            <a:ext cx="2240280" cy="658368"/>
          </a:xfrm>
          <a:prstGeom prst="rect">
            <a:avLst/>
          </a:prstGeom>
          <a:noFill/>
        </p:spPr>
        <p:txBody>
          <a:bodyPr wrap="square" lIns="36576" tIns="36576" rIns="36576" bIns="36576" anchor="ctr">
            <a:spAutoFit/>
          </a:bodyPr>
          <a:lstStyle/>
          <a:p>
            <a:pPr algn="r"/>
            <a:r>
              <a:rPr sz="1300" b="0" i="0">
                <a:solidFill>
                  <a:srgbClr val="1A1A1A"/>
                </a:solidFill>
                <a:latin typeface="Graphik"/>
              </a:rPr>
              <a:t>1 414 / 6 000 = 23,6 %</a:t>
            </a:r>
          </a:p>
        </p:txBody>
      </p:sp>
      <p:sp>
        <p:nvSpPr>
          <p:cNvPr id="16" name="Rectangle 15"/>
          <p:cNvSpPr/>
          <p:nvPr/>
        </p:nvSpPr>
        <p:spPr>
          <a:xfrm>
            <a:off x="6903720" y="3950208"/>
            <a:ext cx="4736592" cy="658368"/>
          </a:xfrm>
          <a:prstGeom prst="rect">
            <a:avLst/>
          </a:prstGeom>
          <a:solidFill>
            <a:srgbClr val="F2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040880" y="3950208"/>
            <a:ext cx="2377440" cy="658368"/>
          </a:xfrm>
          <a:prstGeom prst="rect">
            <a:avLst/>
          </a:prstGeom>
          <a:noFill/>
        </p:spPr>
        <p:txBody>
          <a:bodyPr wrap="square" lIns="36576" tIns="36576" rIns="36576" bIns="36576" anchor="ctr">
            <a:spAutoFit/>
          </a:bodyPr>
          <a:lstStyle/>
          <a:p>
            <a:pPr algn="l"/>
            <a:r>
              <a:rPr sz="1300" b="1" i="0">
                <a:solidFill>
                  <a:srgbClr val="460073"/>
                </a:solidFill>
                <a:latin typeface="Graphik"/>
              </a:rPr>
              <a:t>Non-fraudes bien classées</a:t>
            </a:r>
          </a:p>
        </p:txBody>
      </p:sp>
      <p:sp>
        <p:nvSpPr>
          <p:cNvPr id="18" name="TextBox 17"/>
          <p:cNvSpPr txBox="1"/>
          <p:nvPr/>
        </p:nvSpPr>
        <p:spPr>
          <a:xfrm>
            <a:off x="9326880" y="3950208"/>
            <a:ext cx="2240280" cy="658368"/>
          </a:xfrm>
          <a:prstGeom prst="rect">
            <a:avLst/>
          </a:prstGeom>
          <a:noFill/>
        </p:spPr>
        <p:txBody>
          <a:bodyPr wrap="square" lIns="36576" tIns="36576" rIns="36576" bIns="36576" anchor="ctr">
            <a:spAutoFit/>
          </a:bodyPr>
          <a:lstStyle/>
          <a:p>
            <a:pPr algn="r"/>
            <a:r>
              <a:rPr sz="1300" b="0" i="0">
                <a:solidFill>
                  <a:srgbClr val="1A1A1A"/>
                </a:solidFill>
                <a:latin typeface="Graphik"/>
              </a:rPr>
              <a:t>4 499 / 5 312 = 84,7 %</a:t>
            </a:r>
          </a:p>
        </p:txBody>
      </p:sp>
      <p:sp>
        <p:nvSpPr>
          <p:cNvPr id="19" name="Rectangle 18"/>
          <p:cNvSpPr/>
          <p:nvPr/>
        </p:nvSpPr>
        <p:spPr>
          <a:xfrm>
            <a:off x="6903720" y="4718304"/>
            <a:ext cx="4736592" cy="658368"/>
          </a:xfrm>
          <a:prstGeom prst="rect">
            <a:avLst/>
          </a:prstGeom>
          <a:solidFill>
            <a:srgbClr val="EEE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040880" y="4718304"/>
            <a:ext cx="2377440" cy="658368"/>
          </a:xfrm>
          <a:prstGeom prst="rect">
            <a:avLst/>
          </a:prstGeom>
          <a:noFill/>
        </p:spPr>
        <p:txBody>
          <a:bodyPr wrap="square" lIns="36576" tIns="36576" rIns="36576" bIns="36576" anchor="ctr">
            <a:spAutoFit/>
          </a:bodyPr>
          <a:lstStyle/>
          <a:p>
            <a:pPr algn="l"/>
            <a:r>
              <a:rPr sz="1300" b="1" i="0">
                <a:solidFill>
                  <a:srgbClr val="460073"/>
                </a:solidFill>
                <a:latin typeface="Graphik"/>
              </a:rPr>
              <a:t>Densité de fraude vs hasard</a:t>
            </a:r>
          </a:p>
        </p:txBody>
      </p:sp>
      <p:sp>
        <p:nvSpPr>
          <p:cNvPr id="21" name="TextBox 20"/>
          <p:cNvSpPr txBox="1"/>
          <p:nvPr/>
        </p:nvSpPr>
        <p:spPr>
          <a:xfrm>
            <a:off x="9326880" y="4718304"/>
            <a:ext cx="2240280" cy="658368"/>
          </a:xfrm>
          <a:prstGeom prst="rect">
            <a:avLst/>
          </a:prstGeom>
          <a:noFill/>
        </p:spPr>
        <p:txBody>
          <a:bodyPr wrap="square" lIns="36576" tIns="36576" rIns="36576" bIns="36576" anchor="ctr">
            <a:spAutoFit/>
          </a:bodyPr>
          <a:lstStyle/>
          <a:p>
            <a:pPr algn="r"/>
            <a:r>
              <a:rPr sz="1300" b="0" i="0">
                <a:solidFill>
                  <a:srgbClr val="1A1A1A"/>
                </a:solidFill>
                <a:latin typeface="Graphik"/>
              </a:rPr>
              <a:t>42,5 % / 11,5 % ≈ ×3,7</a:t>
            </a:r>
          </a:p>
        </p:txBody>
      </p:sp>
      <p:sp>
        <p:nvSpPr>
          <p:cNvPr id="22" name="TextBox 21"/>
          <p:cNvSpPr txBox="1"/>
          <p:nvPr/>
        </p:nvSpPr>
        <p:spPr>
          <a:xfrm>
            <a:off x="548640" y="4206240"/>
            <a:ext cx="6035040" cy="1097280"/>
          </a:xfrm>
          <a:prstGeom prst="rect">
            <a:avLst/>
          </a:prstGeom>
          <a:noFill/>
        </p:spPr>
        <p:txBody>
          <a:bodyPr wrap="square" lIns="36576" tIns="36576" rIns="36576" bIns="36576" anchor="t">
            <a:spAutoFit/>
          </a:bodyPr>
          <a:lstStyle/>
          <a:p>
            <a:pPr algn="l"/>
            <a:r>
              <a:rPr sz="1200" b="0" i="1">
                <a:solidFill>
                  <a:srgbClr val="55555A"/>
                </a:solidFill>
                <a:latin typeface="Graphik"/>
              </a:rPr>
              <a:t>Jeu de test : 6 000 sinistres, découpage 80/20 stratifié sur la cible. Seuil retenu par maximisation de l'indice de Youden.</a:t>
            </a:r>
          </a:p>
        </p:txBody>
      </p:sp>
      <p:sp>
        <p:nvSpPr>
          <p:cNvPr id="23" name="TextBox 22"/>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Lift @10 % du scoring : encadrement par les matrices de confusion</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645920"/>
          <a:ext cx="6949440" cy="1508760"/>
        </p:xfrm>
        <a:graphic>
          <a:graphicData uri="http://schemas.openxmlformats.org/drawingml/2006/table">
            <a:tbl>
              <a:tblPr>
                <a:tableStyleId>{5C22544A-7EE6-4342-B048-85BDC9FD1C3A}</a:tableStyleId>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02920">
                <a:tc>
                  <a:txBody>
                    <a:bodyPr/>
                    <a:lstStyle/>
                    <a:p>
                      <a:pPr algn="l"/>
                      <a:r>
                        <a:rPr sz="1350" b="1" i="0">
                          <a:solidFill>
                            <a:srgbClr val="FFFFFF"/>
                          </a:solidFill>
                          <a:latin typeface="Graphik"/>
                        </a:rPr>
                        <a:t>Seuil</a:t>
                      </a:r>
                    </a:p>
                  </a:txBody>
                  <a:tcPr marT="36576" marB="36576" anchor="ctr">
                    <a:solidFill>
                      <a:srgbClr val="460073"/>
                    </a:solidFill>
                  </a:tcPr>
                </a:tc>
                <a:tc>
                  <a:txBody>
                    <a:bodyPr/>
                    <a:lstStyle/>
                    <a:p>
                      <a:pPr algn="ctr"/>
                      <a:r>
                        <a:rPr sz="1350" b="1" i="0">
                          <a:solidFill>
                            <a:srgbClr val="FFFFFF"/>
                          </a:solidFill>
                          <a:latin typeface="Graphik"/>
                        </a:rPr>
                        <a:t>Dossiers signalés</a:t>
                      </a:r>
                    </a:p>
                  </a:txBody>
                  <a:tcPr marT="36576" marB="36576" anchor="ctr">
                    <a:solidFill>
                      <a:srgbClr val="460073"/>
                    </a:solidFill>
                  </a:tcPr>
                </a:tc>
                <a:tc>
                  <a:txBody>
                    <a:bodyPr/>
                    <a:lstStyle/>
                    <a:p>
                      <a:pPr algn="ctr"/>
                      <a:r>
                        <a:rPr sz="1350" b="1" i="0">
                          <a:solidFill>
                            <a:srgbClr val="FFFFFF"/>
                          </a:solidFill>
                          <a:latin typeface="Graphik"/>
                        </a:rPr>
                        <a:t>Part du jeu de test</a:t>
                      </a:r>
                    </a:p>
                  </a:txBody>
                  <a:tcPr marT="36576" marB="36576" anchor="ctr">
                    <a:solidFill>
                      <a:srgbClr val="460073"/>
                    </a:solidFill>
                  </a:tcPr>
                </a:tc>
                <a:tc>
                  <a:txBody>
                    <a:bodyPr/>
                    <a:lstStyle/>
                    <a:p>
                      <a:pPr algn="ctr"/>
                      <a:r>
                        <a:rPr sz="1350" b="1" i="0">
                          <a:solidFill>
                            <a:srgbClr val="FFFFFF"/>
                          </a:solidFill>
                          <a:latin typeface="Graphik"/>
                        </a:rPr>
                        <a:t>Fraudes détectées</a:t>
                      </a:r>
                    </a:p>
                  </a:txBody>
                  <a:tcPr marT="36576" marB="36576" anchor="ctr">
                    <a:solidFill>
                      <a:srgbClr val="460073"/>
                    </a:solidFill>
                  </a:tcPr>
                </a:tc>
                <a:tc>
                  <a:txBody>
                    <a:bodyPr/>
                    <a:lstStyle/>
                    <a:p>
                      <a:pPr algn="ctr"/>
                      <a:r>
                        <a:rPr sz="1350" b="1" i="0">
                          <a:solidFill>
                            <a:srgbClr val="FFFFFF"/>
                          </a:solidFill>
                          <a:latin typeface="Graphik"/>
                        </a:rPr>
                        <a:t>Rappel</a:t>
                      </a:r>
                    </a:p>
                  </a:txBody>
                  <a:tcPr marT="36576" marB="36576" anchor="ctr">
                    <a:solidFill>
                      <a:srgbClr val="460073"/>
                    </a:solidFill>
                  </a:tcPr>
                </a:tc>
                <a:extLst>
                  <a:ext uri="{0D108BD9-81ED-4DB2-BD59-A6C34878D82A}">
                    <a16:rowId xmlns:a16="http://schemas.microsoft.com/office/drawing/2014/main" val="10000"/>
                  </a:ext>
                </a:extLst>
              </a:tr>
              <a:tr h="502920">
                <a:tc>
                  <a:txBody>
                    <a:bodyPr/>
                    <a:lstStyle/>
                    <a:p>
                      <a:pPr algn="l"/>
                      <a:r>
                        <a:rPr sz="1350" b="1" i="0">
                          <a:solidFill>
                            <a:srgbClr val="1A1A1A"/>
                          </a:solidFill>
                          <a:latin typeface="Graphik"/>
                        </a:rPr>
                        <a:t>45 %</a:t>
                      </a:r>
                    </a:p>
                  </a:txBody>
                  <a:tcPr marT="36576" marB="36576" anchor="ctr">
                    <a:solidFill>
                      <a:srgbClr val="EEE0FF"/>
                    </a:solidFill>
                  </a:tcPr>
                </a:tc>
                <a:tc>
                  <a:txBody>
                    <a:bodyPr/>
                    <a:lstStyle/>
                    <a:p>
                      <a:pPr algn="ctr"/>
                      <a:r>
                        <a:rPr sz="1350" b="0" i="0">
                          <a:solidFill>
                            <a:srgbClr val="1A1A1A"/>
                          </a:solidFill>
                          <a:latin typeface="Graphik"/>
                        </a:rPr>
                        <a:t>359</a:t>
                      </a:r>
                    </a:p>
                  </a:txBody>
                  <a:tcPr marT="36576" marB="36576" anchor="ctr">
                    <a:solidFill>
                      <a:srgbClr val="EEE0FF"/>
                    </a:solidFill>
                  </a:tcPr>
                </a:tc>
                <a:tc>
                  <a:txBody>
                    <a:bodyPr/>
                    <a:lstStyle/>
                    <a:p>
                      <a:pPr algn="ctr"/>
                      <a:r>
                        <a:rPr sz="1350" b="0" i="0">
                          <a:solidFill>
                            <a:srgbClr val="1A1A1A"/>
                          </a:solidFill>
                          <a:latin typeface="Graphik"/>
                        </a:rPr>
                        <a:t>5,98 %</a:t>
                      </a:r>
                    </a:p>
                  </a:txBody>
                  <a:tcPr marT="36576" marB="36576" anchor="ctr">
                    <a:solidFill>
                      <a:srgbClr val="EEE0FF"/>
                    </a:solidFill>
                  </a:tcPr>
                </a:tc>
                <a:tc>
                  <a:txBody>
                    <a:bodyPr/>
                    <a:lstStyle/>
                    <a:p>
                      <a:pPr algn="ctr"/>
                      <a:r>
                        <a:rPr sz="1350" b="0" i="0">
                          <a:solidFill>
                            <a:srgbClr val="1A1A1A"/>
                          </a:solidFill>
                          <a:latin typeface="Graphik"/>
                        </a:rPr>
                        <a:t>294 / 688</a:t>
                      </a:r>
                    </a:p>
                  </a:txBody>
                  <a:tcPr marT="36576" marB="36576" anchor="ctr">
                    <a:solidFill>
                      <a:srgbClr val="EEE0FF"/>
                    </a:solidFill>
                  </a:tcPr>
                </a:tc>
                <a:tc>
                  <a:txBody>
                    <a:bodyPr/>
                    <a:lstStyle/>
                    <a:p>
                      <a:pPr algn="ctr"/>
                      <a:r>
                        <a:rPr sz="1350" b="0" i="0">
                          <a:solidFill>
                            <a:srgbClr val="1A1A1A"/>
                          </a:solidFill>
                          <a:latin typeface="Graphik"/>
                        </a:rPr>
                        <a:t>42,7 %</a:t>
                      </a:r>
                    </a:p>
                  </a:txBody>
                  <a:tcPr marT="36576" marB="36576" anchor="ctr">
                    <a:solidFill>
                      <a:srgbClr val="EEE0FF"/>
                    </a:solidFill>
                  </a:tcPr>
                </a:tc>
                <a:extLst>
                  <a:ext uri="{0D108BD9-81ED-4DB2-BD59-A6C34878D82A}">
                    <a16:rowId xmlns:a16="http://schemas.microsoft.com/office/drawing/2014/main" val="10001"/>
                  </a:ext>
                </a:extLst>
              </a:tr>
              <a:tr h="502920">
                <a:tc>
                  <a:txBody>
                    <a:bodyPr/>
                    <a:lstStyle/>
                    <a:p>
                      <a:pPr algn="l"/>
                      <a:r>
                        <a:rPr sz="1350" b="1" i="0">
                          <a:solidFill>
                            <a:srgbClr val="1A1A1A"/>
                          </a:solidFill>
                          <a:latin typeface="Graphik"/>
                        </a:rPr>
                        <a:t>35 %</a:t>
                      </a:r>
                    </a:p>
                  </a:txBody>
                  <a:tcPr marT="36576" marB="36576" anchor="ctr">
                    <a:solidFill>
                      <a:srgbClr val="FFFFFF"/>
                    </a:solidFill>
                  </a:tcPr>
                </a:tc>
                <a:tc>
                  <a:txBody>
                    <a:bodyPr/>
                    <a:lstStyle/>
                    <a:p>
                      <a:pPr algn="ctr"/>
                      <a:r>
                        <a:rPr sz="1350" b="0" i="0">
                          <a:solidFill>
                            <a:srgbClr val="1A1A1A"/>
                          </a:solidFill>
                          <a:latin typeface="Graphik"/>
                        </a:rPr>
                        <a:t>1 107</a:t>
                      </a:r>
                    </a:p>
                  </a:txBody>
                  <a:tcPr marT="36576" marB="36576" anchor="ctr">
                    <a:solidFill>
                      <a:srgbClr val="FFFFFF"/>
                    </a:solidFill>
                  </a:tcPr>
                </a:tc>
                <a:tc>
                  <a:txBody>
                    <a:bodyPr/>
                    <a:lstStyle/>
                    <a:p>
                      <a:pPr algn="ctr"/>
                      <a:r>
                        <a:rPr sz="1350" b="0" i="0">
                          <a:solidFill>
                            <a:srgbClr val="1A1A1A"/>
                          </a:solidFill>
                          <a:latin typeface="Graphik"/>
                        </a:rPr>
                        <a:t>18,45 %</a:t>
                      </a:r>
                    </a:p>
                  </a:txBody>
                  <a:tcPr marT="36576" marB="36576" anchor="ctr">
                    <a:solidFill>
                      <a:srgbClr val="FFFFFF"/>
                    </a:solidFill>
                  </a:tcPr>
                </a:tc>
                <a:tc>
                  <a:txBody>
                    <a:bodyPr/>
                    <a:lstStyle/>
                    <a:p>
                      <a:pPr algn="ctr"/>
                      <a:r>
                        <a:rPr sz="1350" b="0" i="0">
                          <a:solidFill>
                            <a:srgbClr val="1A1A1A"/>
                          </a:solidFill>
                          <a:latin typeface="Graphik"/>
                        </a:rPr>
                        <a:t>527 / 688</a:t>
                      </a:r>
                    </a:p>
                  </a:txBody>
                  <a:tcPr marT="36576" marB="36576" anchor="ctr">
                    <a:solidFill>
                      <a:srgbClr val="FFFFFF"/>
                    </a:solidFill>
                  </a:tcPr>
                </a:tc>
                <a:tc>
                  <a:txBody>
                    <a:bodyPr/>
                    <a:lstStyle/>
                    <a:p>
                      <a:pPr algn="ctr"/>
                      <a:r>
                        <a:rPr sz="1350" b="0" i="0">
                          <a:solidFill>
                            <a:srgbClr val="1A1A1A"/>
                          </a:solidFill>
                          <a:latin typeface="Graphik"/>
                        </a:rPr>
                        <a:t>76,6 %</a:t>
                      </a:r>
                    </a:p>
                  </a:txBody>
                  <a:tcPr marT="36576" marB="36576" anchor="ctr">
                    <a:solidFill>
                      <a:srgbClr val="FFFFFF"/>
                    </a:solidFill>
                  </a:tcPr>
                </a:tc>
                <a:extLst>
                  <a:ext uri="{0D108BD9-81ED-4DB2-BD59-A6C34878D82A}">
                    <a16:rowId xmlns:a16="http://schemas.microsoft.com/office/drawing/2014/main" val="10002"/>
                  </a:ext>
                </a:extLst>
              </a:tr>
            </a:tbl>
          </a:graphicData>
        </a:graphic>
      </p:graphicFrame>
      <p:sp>
        <p:nvSpPr>
          <p:cNvPr id="7" name="Rectangle 6"/>
          <p:cNvSpPr/>
          <p:nvPr/>
        </p:nvSpPr>
        <p:spPr>
          <a:xfrm>
            <a:off x="548640" y="3474720"/>
            <a:ext cx="6949440" cy="2103120"/>
          </a:xfrm>
          <a:prstGeom prst="rect">
            <a:avLst/>
          </a:prstGeom>
          <a:solidFill>
            <a:srgbClr val="F2F2F4"/>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13232" y="3639312"/>
            <a:ext cx="6620255" cy="411480"/>
          </a:xfrm>
          <a:prstGeom prst="rect">
            <a:avLst/>
          </a:prstGeom>
          <a:noFill/>
        </p:spPr>
        <p:txBody>
          <a:bodyPr wrap="square" lIns="36576" tIns="36576" rIns="36576" bIns="36576" anchor="t">
            <a:spAutoFit/>
          </a:bodyPr>
          <a:lstStyle/>
          <a:p>
            <a:pPr algn="l"/>
            <a:r>
              <a:rPr sz="1500" b="1" i="0">
                <a:solidFill>
                  <a:srgbClr val="A100FF"/>
                </a:solidFill>
                <a:latin typeface="Graphik"/>
              </a:rPr>
              <a:t>Raisonnement</a:t>
            </a:r>
          </a:p>
        </p:txBody>
      </p:sp>
      <p:sp>
        <p:nvSpPr>
          <p:cNvPr id="9" name="TextBox 8"/>
          <p:cNvSpPr txBox="1"/>
          <p:nvPr/>
        </p:nvSpPr>
        <p:spPr>
          <a:xfrm>
            <a:off x="713232" y="4078224"/>
            <a:ext cx="6620255" cy="1400860"/>
          </a:xfrm>
          <a:prstGeom prst="rect">
            <a:avLst/>
          </a:prstGeom>
          <a:noFill/>
        </p:spPr>
        <p:txBody>
          <a:bodyPr wrap="square" lIns="36576" tIns="36576" rIns="36576" bIns="36576" anchor="t">
            <a:spAutoFit/>
          </a:bodyPr>
          <a:lstStyle/>
          <a:p>
            <a:pPr algn="l">
              <a:spcAft>
                <a:spcPts val="400"/>
              </a:spcAft>
            </a:pPr>
            <a:r>
              <a:rPr sz="1250" b="1" i="0">
                <a:solidFill>
                  <a:srgbClr val="A100FF"/>
                </a:solidFill>
                <a:latin typeface="Graphik"/>
              </a:rPr>
              <a:t>•  </a:t>
            </a:r>
            <a:r>
              <a:rPr sz="1250" b="0" i="0">
                <a:solidFill>
                  <a:srgbClr val="1A1A1A"/>
                </a:solidFill>
                <a:latin typeface="Graphik"/>
              </a:rPr>
              <a:t>Le taux de fraude par tranche de score croît : la courbe de gains est concave</a:t>
            </a:r>
          </a:p>
          <a:p>
            <a:pPr algn="l">
              <a:spcAft>
                <a:spcPts val="400"/>
              </a:spcAft>
            </a:pPr>
            <a:r>
              <a:rPr sz="1250" b="1" i="0">
                <a:solidFill>
                  <a:srgbClr val="A100FF"/>
                </a:solidFill>
                <a:latin typeface="Graphik"/>
              </a:rPr>
              <a:t>•  </a:t>
            </a:r>
            <a:r>
              <a:rPr sz="1250" b="0" i="0">
                <a:solidFill>
                  <a:srgbClr val="1A1A1A"/>
                </a:solidFill>
                <a:latin typeface="Graphik"/>
              </a:rPr>
              <a:t>Borne basse (interpolation linéaire) : rappel ≈ 53,6 % sur 10 % des dossiers → lift ≈ ×5,4</a:t>
            </a:r>
          </a:p>
          <a:p>
            <a:pPr algn="l">
              <a:spcAft>
                <a:spcPts val="400"/>
              </a:spcAft>
            </a:pPr>
            <a:r>
              <a:rPr sz="1250" b="1" i="0">
                <a:solidFill>
                  <a:srgbClr val="A100FF"/>
                </a:solidFill>
                <a:latin typeface="Graphik"/>
              </a:rPr>
              <a:t>•  </a:t>
            </a:r>
            <a:r>
              <a:rPr sz="1250" b="0" i="0">
                <a:solidFill>
                  <a:srgbClr val="1A1A1A"/>
                </a:solidFill>
                <a:latin typeface="Graphik"/>
              </a:rPr>
              <a:t>Borne haute (pente décroissante après 5,98 %) : rappel ≤ 71,4 % → lift ≤ ×7,1</a:t>
            </a:r>
          </a:p>
        </p:txBody>
      </p:sp>
      <p:sp>
        <p:nvSpPr>
          <p:cNvPr id="10" name="Rectangle 9"/>
          <p:cNvSpPr/>
          <p:nvPr/>
        </p:nvSpPr>
        <p:spPr>
          <a:xfrm>
            <a:off x="7726679" y="1645920"/>
            <a:ext cx="3913632" cy="3931920"/>
          </a:xfrm>
          <a:prstGeom prst="rect">
            <a:avLst/>
          </a:prstGeom>
          <a:solidFill>
            <a:srgbClr val="C26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909560" y="2103120"/>
            <a:ext cx="3566160" cy="457200"/>
          </a:xfrm>
          <a:prstGeom prst="rect">
            <a:avLst/>
          </a:prstGeom>
          <a:noFill/>
        </p:spPr>
        <p:txBody>
          <a:bodyPr wrap="square" lIns="36576" tIns="36576" rIns="36576" bIns="36576" anchor="t">
            <a:spAutoFit/>
          </a:bodyPr>
          <a:lstStyle/>
          <a:p>
            <a:pPr algn="ctr"/>
            <a:r>
              <a:rPr sz="1600" b="1" i="0">
                <a:solidFill>
                  <a:srgbClr val="FFFFFF"/>
                </a:solidFill>
                <a:latin typeface="Graphik"/>
              </a:rPr>
              <a:t>Lift @10 % estimé</a:t>
            </a:r>
          </a:p>
        </p:txBody>
      </p:sp>
      <p:sp>
        <p:nvSpPr>
          <p:cNvPr id="12" name="TextBox 11"/>
          <p:cNvSpPr txBox="1"/>
          <p:nvPr/>
        </p:nvSpPr>
        <p:spPr>
          <a:xfrm>
            <a:off x="7909560" y="2651760"/>
            <a:ext cx="3566160" cy="914400"/>
          </a:xfrm>
          <a:prstGeom prst="rect">
            <a:avLst/>
          </a:prstGeom>
          <a:noFill/>
        </p:spPr>
        <p:txBody>
          <a:bodyPr wrap="square" lIns="36576" tIns="36576" rIns="36576" bIns="36576" anchor="t">
            <a:spAutoFit/>
          </a:bodyPr>
          <a:lstStyle/>
          <a:p>
            <a:pPr algn="ctr"/>
            <a:r>
              <a:rPr sz="4000" b="0" i="0">
                <a:solidFill>
                  <a:srgbClr val="FFFFFF"/>
                </a:solidFill>
                <a:latin typeface="Graphik Black"/>
              </a:rPr>
              <a:t>×5,4 – ×7,1</a:t>
            </a:r>
          </a:p>
        </p:txBody>
      </p:sp>
      <p:sp>
        <p:nvSpPr>
          <p:cNvPr id="13" name="TextBox 12"/>
          <p:cNvSpPr txBox="1"/>
          <p:nvPr/>
        </p:nvSpPr>
        <p:spPr>
          <a:xfrm>
            <a:off x="8001000" y="3794760"/>
            <a:ext cx="3383280" cy="1463040"/>
          </a:xfrm>
          <a:prstGeom prst="rect">
            <a:avLst/>
          </a:prstGeom>
          <a:noFill/>
        </p:spPr>
        <p:txBody>
          <a:bodyPr wrap="square" lIns="36576" tIns="36576" rIns="36576" bIns="36576" anchor="t">
            <a:spAutoFit/>
          </a:bodyPr>
          <a:lstStyle/>
          <a:p>
            <a:pPr algn="ctr"/>
            <a:r>
              <a:rPr sz="1350" b="0" i="0">
                <a:solidFill>
                  <a:srgbClr val="FFFFFF"/>
                </a:solidFill>
                <a:latin typeface="Graphik"/>
              </a:rPr>
              <a:t>Niveau comparable au Gradient Boosting (×6,37), nettement au-dessus de l'arbre (×4,83).</a:t>
            </a:r>
          </a:p>
        </p:txBody>
      </p:sp>
      <p:sp>
        <p:nvSpPr>
          <p:cNvPr id="14" name="TextBox 13"/>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Les 29 variables d'enrichissement simulées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481328"/>
          <a:ext cx="11091672" cy="4096512"/>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348472">
                  <a:extLst>
                    <a:ext uri="{9D8B030D-6E8A-4147-A177-3AD203B41FA5}">
                      <a16:colId xmlns:a16="http://schemas.microsoft.com/office/drawing/2014/main" val="20001"/>
                    </a:ext>
                  </a:extLst>
                </a:gridCol>
              </a:tblGrid>
              <a:tr h="512064">
                <a:tc>
                  <a:txBody>
                    <a:bodyPr/>
                    <a:lstStyle/>
                    <a:p>
                      <a:pPr algn="l"/>
                      <a:r>
                        <a:rPr sz="1250" b="1" i="0">
                          <a:solidFill>
                            <a:srgbClr val="FFFFFF"/>
                          </a:solidFill>
                          <a:latin typeface="Graphik"/>
                        </a:rPr>
                        <a:t>Axe</a:t>
                      </a:r>
                    </a:p>
                  </a:txBody>
                  <a:tcPr marT="36576" marB="36576" anchor="ctr">
                    <a:solidFill>
                      <a:srgbClr val="460073"/>
                    </a:solidFill>
                  </a:tcPr>
                </a:tc>
                <a:tc>
                  <a:txBody>
                    <a:bodyPr/>
                    <a:lstStyle/>
                    <a:p>
                      <a:pPr algn="l"/>
                      <a:r>
                        <a:rPr sz="1250" b="1" i="0">
                          <a:solidFill>
                            <a:srgbClr val="FFFFFF"/>
                          </a:solidFill>
                          <a:latin typeface="Graphik"/>
                        </a:rPr>
                        <a:t>Exemples de variables</a:t>
                      </a:r>
                    </a:p>
                  </a:txBody>
                  <a:tcPr marT="36576" marB="36576" anchor="ctr">
                    <a:solidFill>
                      <a:srgbClr val="460073"/>
                    </a:solidFill>
                  </a:tcPr>
                </a:tc>
                <a:extLst>
                  <a:ext uri="{0D108BD9-81ED-4DB2-BD59-A6C34878D82A}">
                    <a16:rowId xmlns:a16="http://schemas.microsoft.com/office/drawing/2014/main" val="10000"/>
                  </a:ext>
                </a:extLst>
              </a:tr>
              <a:tr h="512064">
                <a:tc>
                  <a:txBody>
                    <a:bodyPr/>
                    <a:lstStyle/>
                    <a:p>
                      <a:pPr algn="l"/>
                      <a:r>
                        <a:rPr sz="1250" b="1" i="0">
                          <a:solidFill>
                            <a:srgbClr val="1A1A1A"/>
                          </a:solidFill>
                          <a:latin typeface="Graphik"/>
                        </a:rPr>
                        <a:t>Historique de l'assuré</a:t>
                      </a:r>
                    </a:p>
                  </a:txBody>
                  <a:tcPr marT="36576" marB="36576" anchor="ctr">
                    <a:solidFill>
                      <a:srgbClr val="EEE0FF"/>
                    </a:solidFill>
                  </a:tcPr>
                </a:tc>
                <a:tc>
                  <a:txBody>
                    <a:bodyPr/>
                    <a:lstStyle/>
                    <a:p>
                      <a:pPr algn="l"/>
                      <a:r>
                        <a:rPr sz="1250" b="0" i="0">
                          <a:solidFill>
                            <a:srgbClr val="1A1A1A"/>
                          </a:solidFill>
                          <a:latin typeface="Graphik"/>
                        </a:rPr>
                        <a:t>Sinistres et fraudes passés, jours depuis le dernier sinistre, montant réclamé cumulé sur 3 ans, changements d'adresse</a:t>
                      </a:r>
                    </a:p>
                  </a:txBody>
                  <a:tcPr marT="36576" marB="36576" anchor="ctr">
                    <a:solidFill>
                      <a:srgbClr val="EEE0FF"/>
                    </a:solidFill>
                  </a:tcPr>
                </a:tc>
                <a:extLst>
                  <a:ext uri="{0D108BD9-81ED-4DB2-BD59-A6C34878D82A}">
                    <a16:rowId xmlns:a16="http://schemas.microsoft.com/office/drawing/2014/main" val="10001"/>
                  </a:ext>
                </a:extLst>
              </a:tr>
              <a:tr h="512064">
                <a:tc>
                  <a:txBody>
                    <a:bodyPr/>
                    <a:lstStyle/>
                    <a:p>
                      <a:pPr algn="l"/>
                      <a:r>
                        <a:rPr sz="1250" b="1" i="0">
                          <a:solidFill>
                            <a:srgbClr val="1A1A1A"/>
                          </a:solidFill>
                          <a:latin typeface="Graphik"/>
                        </a:rPr>
                        <a:t>Contrat enrichi</a:t>
                      </a:r>
                    </a:p>
                  </a:txBody>
                  <a:tcPr marT="36576" marB="36576" anchor="ctr">
                    <a:solidFill>
                      <a:srgbClr val="FFFFFF"/>
                    </a:solidFill>
                  </a:tcPr>
                </a:tc>
                <a:tc>
                  <a:txBody>
                    <a:bodyPr/>
                    <a:lstStyle/>
                    <a:p>
                      <a:pPr algn="l"/>
                      <a:r>
                        <a:rPr sz="1250" b="0" i="0">
                          <a:solidFill>
                            <a:srgbClr val="1A1A1A"/>
                          </a:solidFill>
                          <a:latin typeface="Graphik"/>
                        </a:rPr>
                        <a:t>Ancienneté du contrat au sinistre, nombre de contrats actifs</a:t>
                      </a:r>
                    </a:p>
                  </a:txBody>
                  <a:tcPr marT="36576" marB="36576" anchor="ctr">
                    <a:solidFill>
                      <a:srgbClr val="FFFFFF"/>
                    </a:solidFill>
                  </a:tcPr>
                </a:tc>
                <a:extLst>
                  <a:ext uri="{0D108BD9-81ED-4DB2-BD59-A6C34878D82A}">
                    <a16:rowId xmlns:a16="http://schemas.microsoft.com/office/drawing/2014/main" val="10002"/>
                  </a:ext>
                </a:extLst>
              </a:tr>
              <a:tr h="512064">
                <a:tc>
                  <a:txBody>
                    <a:bodyPr/>
                    <a:lstStyle/>
                    <a:p>
                      <a:pPr algn="l"/>
                      <a:r>
                        <a:rPr sz="1250" b="1" i="0">
                          <a:solidFill>
                            <a:srgbClr val="1A1A1A"/>
                          </a:solidFill>
                          <a:latin typeface="Graphik"/>
                        </a:rPr>
                        <a:t>Réseau garagiste</a:t>
                      </a:r>
                    </a:p>
                  </a:txBody>
                  <a:tcPr marT="36576" marB="36576" anchor="ctr">
                    <a:solidFill>
                      <a:srgbClr val="EEE0FF"/>
                    </a:solidFill>
                  </a:tcPr>
                </a:tc>
                <a:tc>
                  <a:txBody>
                    <a:bodyPr/>
                    <a:lstStyle/>
                    <a:p>
                      <a:pPr algn="l"/>
                      <a:r>
                        <a:rPr sz="1250" b="0" i="0">
                          <a:solidFill>
                            <a:srgbClr val="1A1A1A"/>
                          </a:solidFill>
                          <a:latin typeface="Graphik"/>
                        </a:rPr>
                        <a:t>Dossiers traités, fraudes confirmées, taux de fraude, ratio facture / prix du marché, réparateur signalé</a:t>
                      </a:r>
                    </a:p>
                  </a:txBody>
                  <a:tcPr marT="36576" marB="36576" anchor="ctr">
                    <a:solidFill>
                      <a:srgbClr val="EEE0FF"/>
                    </a:solidFill>
                  </a:tcPr>
                </a:tc>
                <a:extLst>
                  <a:ext uri="{0D108BD9-81ED-4DB2-BD59-A6C34878D82A}">
                    <a16:rowId xmlns:a16="http://schemas.microsoft.com/office/drawing/2014/main" val="10003"/>
                  </a:ext>
                </a:extLst>
              </a:tr>
              <a:tr h="512064">
                <a:tc>
                  <a:txBody>
                    <a:bodyPr/>
                    <a:lstStyle/>
                    <a:p>
                      <a:pPr algn="l"/>
                      <a:r>
                        <a:rPr sz="1250" b="1" i="0">
                          <a:solidFill>
                            <a:srgbClr val="1A1A1A"/>
                          </a:solidFill>
                          <a:latin typeface="Graphik"/>
                        </a:rPr>
                        <a:t>Tiers impliqué</a:t>
                      </a:r>
                    </a:p>
                  </a:txBody>
                  <a:tcPr marT="36576" marB="36576" anchor="ctr">
                    <a:solidFill>
                      <a:srgbClr val="FFFFFF"/>
                    </a:solidFill>
                  </a:tcPr>
                </a:tc>
                <a:tc>
                  <a:txBody>
                    <a:bodyPr/>
                    <a:lstStyle/>
                    <a:p>
                      <a:pPr algn="l"/>
                      <a:r>
                        <a:rPr sz="1250" b="0" i="0">
                          <a:solidFill>
                            <a:srgbClr val="1A1A1A"/>
                          </a:solidFill>
                          <a:latin typeface="Graphik"/>
                        </a:rPr>
                        <a:t>Identifiant, nombre d'incidents passés</a:t>
                      </a:r>
                    </a:p>
                  </a:txBody>
                  <a:tcPr marT="36576" marB="36576" anchor="ctr">
                    <a:solidFill>
                      <a:srgbClr val="FFFFFF"/>
                    </a:solidFill>
                  </a:tcPr>
                </a:tc>
                <a:extLst>
                  <a:ext uri="{0D108BD9-81ED-4DB2-BD59-A6C34878D82A}">
                    <a16:rowId xmlns:a16="http://schemas.microsoft.com/office/drawing/2014/main" val="10004"/>
                  </a:ext>
                </a:extLst>
              </a:tr>
              <a:tr h="512064">
                <a:tc>
                  <a:txBody>
                    <a:bodyPr/>
                    <a:lstStyle/>
                    <a:p>
                      <a:pPr algn="l"/>
                      <a:r>
                        <a:rPr sz="1250" b="1" i="0">
                          <a:solidFill>
                            <a:srgbClr val="1A1A1A"/>
                          </a:solidFill>
                          <a:latin typeface="Graphik"/>
                        </a:rPr>
                        <a:t>Véhicule</a:t>
                      </a:r>
                    </a:p>
                  </a:txBody>
                  <a:tcPr marT="36576" marB="36576" anchor="ctr">
                    <a:solidFill>
                      <a:srgbClr val="EEE0FF"/>
                    </a:solidFill>
                  </a:tcPr>
                </a:tc>
                <a:tc>
                  <a:txBody>
                    <a:bodyPr/>
                    <a:lstStyle/>
                    <a:p>
                      <a:pPr algn="l"/>
                      <a:r>
                        <a:rPr sz="1250" b="0" i="0">
                          <a:solidFill>
                            <a:srgbClr val="1A1A1A"/>
                          </a:solidFill>
                          <a:latin typeface="Graphik"/>
                        </a:rPr>
                        <a:t>Âge, valeur marchande, sinistres passés du véhicule</a:t>
                      </a:r>
                    </a:p>
                  </a:txBody>
                  <a:tcPr marT="36576" marB="36576" anchor="ctr">
                    <a:solidFill>
                      <a:srgbClr val="EEE0FF"/>
                    </a:solidFill>
                  </a:tcPr>
                </a:tc>
                <a:extLst>
                  <a:ext uri="{0D108BD9-81ED-4DB2-BD59-A6C34878D82A}">
                    <a16:rowId xmlns:a16="http://schemas.microsoft.com/office/drawing/2014/main" val="10005"/>
                  </a:ext>
                </a:extLst>
              </a:tr>
              <a:tr h="512064">
                <a:tc>
                  <a:txBody>
                    <a:bodyPr/>
                    <a:lstStyle/>
                    <a:p>
                      <a:pPr algn="l"/>
                      <a:r>
                        <a:rPr sz="1250" b="1" i="0">
                          <a:solidFill>
                            <a:srgbClr val="1A1A1A"/>
                          </a:solidFill>
                          <a:latin typeface="Graphik"/>
                        </a:rPr>
                        <a:t>Comportement déclaratif</a:t>
                      </a:r>
                    </a:p>
                  </a:txBody>
                  <a:tcPr marT="36576" marB="36576" anchor="ctr">
                    <a:solidFill>
                      <a:srgbClr val="FFFFFF"/>
                    </a:solidFill>
                  </a:tcPr>
                </a:tc>
                <a:tc>
                  <a:txBody>
                    <a:bodyPr/>
                    <a:lstStyle/>
                    <a:p>
                      <a:pPr algn="l"/>
                      <a:r>
                        <a:rPr sz="1250" b="0" i="0">
                          <a:solidFill>
                            <a:srgbClr val="1A1A1A"/>
                          </a:solidFill>
                          <a:latin typeface="Graphik"/>
                        </a:rPr>
                        <a:t>Amendements à la déclaration, blessure sans preuve médicale, autorités contactées</a:t>
                      </a:r>
                    </a:p>
                  </a:txBody>
                  <a:tcPr marT="36576" marB="36576" anchor="ctr">
                    <a:solidFill>
                      <a:srgbClr val="FFFFFF"/>
                    </a:solidFill>
                  </a:tcPr>
                </a:tc>
                <a:extLst>
                  <a:ext uri="{0D108BD9-81ED-4DB2-BD59-A6C34878D82A}">
                    <a16:rowId xmlns:a16="http://schemas.microsoft.com/office/drawing/2014/main" val="10006"/>
                  </a:ext>
                </a:extLst>
              </a:tr>
              <a:tr h="512064">
                <a:tc>
                  <a:txBody>
                    <a:bodyPr/>
                    <a:lstStyle/>
                    <a:p>
                      <a:pPr algn="l"/>
                      <a:r>
                        <a:rPr sz="1250" b="1" i="0">
                          <a:solidFill>
                            <a:srgbClr val="1A1A1A"/>
                          </a:solidFill>
                          <a:latin typeface="Graphik"/>
                        </a:rPr>
                        <a:t>Géographie &amp; temporalité</a:t>
                      </a:r>
                    </a:p>
                  </a:txBody>
                  <a:tcPr marT="36576" marB="36576" anchor="ctr">
                    <a:solidFill>
                      <a:srgbClr val="EEE0FF"/>
                    </a:solidFill>
                  </a:tcPr>
                </a:tc>
                <a:tc>
                  <a:txBody>
                    <a:bodyPr/>
                    <a:lstStyle/>
                    <a:p>
                      <a:pPr algn="l"/>
                      <a:r>
                        <a:rPr sz="1250" b="0" i="0">
                          <a:solidFill>
                            <a:srgbClr val="1A1A1A"/>
                          </a:solidFill>
                          <a:latin typeface="Graphik"/>
                        </a:rPr>
                        <a:t>Contexte du lieu et du moment de survenance</a:t>
                      </a:r>
                    </a:p>
                  </a:txBody>
                  <a:tcPr marT="36576" marB="36576" anchor="ctr">
                    <a:solidFill>
                      <a:srgbClr val="EEE0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Arbre de décision : lecture des premières coupures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11094415" cy="342900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representation_visuelle_arbre.png"/>
          <p:cNvPicPr>
            <a:picLocks noChangeAspect="1"/>
          </p:cNvPicPr>
          <p:nvPr/>
        </p:nvPicPr>
        <p:blipFill>
          <a:blip r:embed="rId4"/>
          <a:stretch>
            <a:fillRect/>
          </a:stretch>
        </p:blipFill>
        <p:spPr>
          <a:xfrm>
            <a:off x="2552000" y="1554480"/>
            <a:ext cx="7087693" cy="3291839"/>
          </a:xfrm>
          <a:prstGeom prst="rect">
            <a:avLst/>
          </a:prstGeom>
        </p:spPr>
      </p:pic>
      <p:sp>
        <p:nvSpPr>
          <p:cNvPr id="8" name="TextBox 7"/>
          <p:cNvSpPr txBox="1"/>
          <p:nvPr/>
        </p:nvSpPr>
        <p:spPr>
          <a:xfrm>
            <a:off x="548640" y="5029200"/>
            <a:ext cx="11094415" cy="640080"/>
          </a:xfrm>
          <a:prstGeom prst="rect">
            <a:avLst/>
          </a:prstGeom>
          <a:noFill/>
        </p:spPr>
        <p:txBody>
          <a:bodyPr wrap="square" lIns="36576" tIns="36576" rIns="36576" bIns="36576" anchor="t">
            <a:spAutoFit/>
          </a:bodyPr>
          <a:lstStyle/>
          <a:p>
            <a:pPr algn="l"/>
            <a:r>
              <a:rPr sz="1250" b="0" i="1">
                <a:solidFill>
                  <a:srgbClr val="55555A"/>
                </a:solidFill>
                <a:latin typeface="Graphik"/>
              </a:rPr>
              <a:t>Profondeur 7 · 68 feuilles · 67 nœuds internes. La racine affiche 50 % de fraude (contre 11,5 % dans la base) : signe probable d'un rééquilibrage des classes, qui gonfle les probabilités de l'arbre.</a:t>
            </a:r>
          </a:p>
        </p:txBody>
      </p:sp>
      <p:sp>
        <p:nvSpPr>
          <p:cNvPr id="9" name="TextBox 8"/>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Paramétrage de l'outil : choix retenus et alternatives</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graphicFrame>
        <p:nvGraphicFramePr>
          <p:cNvPr id="6" name="Table 5"/>
          <p:cNvGraphicFramePr>
            <a:graphicFrameLocks noGrp="1"/>
          </p:cNvGraphicFramePr>
          <p:nvPr/>
        </p:nvGraphicFramePr>
        <p:xfrm>
          <a:off x="548640" y="1481328"/>
          <a:ext cx="11091672" cy="3968496"/>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566928">
                <a:tc>
                  <a:txBody>
                    <a:bodyPr/>
                    <a:lstStyle/>
                    <a:p>
                      <a:pPr algn="l"/>
                      <a:r>
                        <a:rPr sz="1250" b="1" i="0">
                          <a:solidFill>
                            <a:srgbClr val="FFFFFF"/>
                          </a:solidFill>
                          <a:latin typeface="Graphik"/>
                        </a:rPr>
                        <a:t>Élément</a:t>
                      </a:r>
                    </a:p>
                  </a:txBody>
                  <a:tcPr marT="36576" marB="36576" anchor="ctr">
                    <a:solidFill>
                      <a:srgbClr val="460073"/>
                    </a:solidFill>
                  </a:tcPr>
                </a:tc>
                <a:tc>
                  <a:txBody>
                    <a:bodyPr/>
                    <a:lstStyle/>
                    <a:p>
                      <a:pPr algn="l"/>
                      <a:r>
                        <a:rPr sz="1250" b="1" i="0">
                          <a:solidFill>
                            <a:srgbClr val="FFFFFF"/>
                          </a:solidFill>
                          <a:latin typeface="Graphik"/>
                        </a:rPr>
                        <a:t>Choix retenu</a:t>
                      </a:r>
                    </a:p>
                  </a:txBody>
                  <a:tcPr marT="36576" marB="36576" anchor="ctr">
                    <a:solidFill>
                      <a:srgbClr val="460073"/>
                    </a:solidFill>
                  </a:tcPr>
                </a:tc>
                <a:tc>
                  <a:txBody>
                    <a:bodyPr/>
                    <a:lstStyle/>
                    <a:p>
                      <a:pPr algn="l"/>
                      <a:r>
                        <a:rPr sz="1250" b="1" i="0">
                          <a:solidFill>
                            <a:srgbClr val="FFFFFF"/>
                          </a:solidFill>
                          <a:latin typeface="Graphik"/>
                        </a:rPr>
                        <a:t>Alternatives</a:t>
                      </a:r>
                    </a:p>
                  </a:txBody>
                  <a:tcPr marT="36576" marB="36576" anchor="ctr">
                    <a:solidFill>
                      <a:srgbClr val="460073"/>
                    </a:solidFill>
                  </a:tcPr>
                </a:tc>
                <a:extLst>
                  <a:ext uri="{0D108BD9-81ED-4DB2-BD59-A6C34878D82A}">
                    <a16:rowId xmlns:a16="http://schemas.microsoft.com/office/drawing/2014/main" val="10000"/>
                  </a:ext>
                </a:extLst>
              </a:tr>
              <a:tr h="566928">
                <a:tc>
                  <a:txBody>
                    <a:bodyPr/>
                    <a:lstStyle/>
                    <a:p>
                      <a:pPr algn="l"/>
                      <a:r>
                        <a:rPr sz="1250" b="1" i="0">
                          <a:solidFill>
                            <a:srgbClr val="1A1A1A"/>
                          </a:solidFill>
                          <a:latin typeface="Graphik"/>
                        </a:rPr>
                        <a:t>Variables d'entrée</a:t>
                      </a:r>
                    </a:p>
                  </a:txBody>
                  <a:tcPr marT="36576" marB="36576" anchor="ctr">
                    <a:solidFill>
                      <a:srgbClr val="EEE0FF"/>
                    </a:solidFill>
                  </a:tcPr>
                </a:tc>
                <a:tc>
                  <a:txBody>
                    <a:bodyPr/>
                    <a:lstStyle/>
                    <a:p>
                      <a:pPr algn="l"/>
                      <a:r>
                        <a:rPr sz="1250" b="0" i="0">
                          <a:solidFill>
                            <a:srgbClr val="1A1A1A"/>
                          </a:solidFill>
                          <a:latin typeface="Graphik"/>
                        </a:rPr>
                        <a:t>53 variables (24 source + 29 d'enrichissement)</a:t>
                      </a:r>
                    </a:p>
                  </a:txBody>
                  <a:tcPr marT="36576" marB="36576" anchor="ctr">
                    <a:solidFill>
                      <a:srgbClr val="EEE0FF"/>
                    </a:solidFill>
                  </a:tcPr>
                </a:tc>
                <a:tc>
                  <a:txBody>
                    <a:bodyPr/>
                    <a:lstStyle/>
                    <a:p>
                      <a:pPr algn="l"/>
                      <a:r>
                        <a:rPr sz="1250" b="0" i="0">
                          <a:solidFill>
                            <a:srgbClr val="1A1A1A"/>
                          </a:solidFill>
                          <a:latin typeface="Graphik"/>
                        </a:rPr>
                        <a:t>Tout jeu de variables, avec ou sans enrichissement</a:t>
                      </a:r>
                    </a:p>
                  </a:txBody>
                  <a:tcPr marT="36576" marB="36576" anchor="ctr">
                    <a:solidFill>
                      <a:srgbClr val="EEE0FF"/>
                    </a:solidFill>
                  </a:tcPr>
                </a:tc>
                <a:extLst>
                  <a:ext uri="{0D108BD9-81ED-4DB2-BD59-A6C34878D82A}">
                    <a16:rowId xmlns:a16="http://schemas.microsoft.com/office/drawing/2014/main" val="10001"/>
                  </a:ext>
                </a:extLst>
              </a:tr>
              <a:tr h="566928">
                <a:tc>
                  <a:txBody>
                    <a:bodyPr/>
                    <a:lstStyle/>
                    <a:p>
                      <a:pPr algn="l"/>
                      <a:r>
                        <a:rPr sz="1250" b="1" i="0">
                          <a:solidFill>
                            <a:srgbClr val="1A1A1A"/>
                          </a:solidFill>
                          <a:latin typeface="Graphik"/>
                        </a:rPr>
                        <a:t>Modèles</a:t>
                      </a:r>
                    </a:p>
                  </a:txBody>
                  <a:tcPr marT="36576" marB="36576" anchor="ctr">
                    <a:solidFill>
                      <a:srgbClr val="FFFFFF"/>
                    </a:solidFill>
                  </a:tcPr>
                </a:tc>
                <a:tc>
                  <a:txBody>
                    <a:bodyPr/>
                    <a:lstStyle/>
                    <a:p>
                      <a:pPr algn="l"/>
                      <a:r>
                        <a:rPr sz="1250" b="0" i="0">
                          <a:solidFill>
                            <a:srgbClr val="1A1A1A"/>
                          </a:solidFill>
                          <a:latin typeface="Graphik"/>
                        </a:rPr>
                        <a:t>Scoring en points, arbre, Gradient Boosting</a:t>
                      </a:r>
                    </a:p>
                  </a:txBody>
                  <a:tcPr marT="36576" marB="36576" anchor="ctr">
                    <a:solidFill>
                      <a:srgbClr val="FFFFFF"/>
                    </a:solidFill>
                  </a:tcPr>
                </a:tc>
                <a:tc>
                  <a:txBody>
                    <a:bodyPr/>
                    <a:lstStyle/>
                    <a:p>
                      <a:pPr algn="l"/>
                      <a:r>
                        <a:rPr sz="1250" b="0" i="0">
                          <a:solidFill>
                            <a:srgbClr val="1A1A1A"/>
                          </a:solidFill>
                          <a:latin typeface="Graphik"/>
                        </a:rPr>
                        <a:t>Tout classifieur : logistique, forêt aléatoire, réseau de neurones…</a:t>
                      </a:r>
                    </a:p>
                  </a:txBody>
                  <a:tcPr marT="36576" marB="36576" anchor="ctr">
                    <a:solidFill>
                      <a:srgbClr val="FFFFFF"/>
                    </a:solidFill>
                  </a:tcPr>
                </a:tc>
                <a:extLst>
                  <a:ext uri="{0D108BD9-81ED-4DB2-BD59-A6C34878D82A}">
                    <a16:rowId xmlns:a16="http://schemas.microsoft.com/office/drawing/2014/main" val="10002"/>
                  </a:ext>
                </a:extLst>
              </a:tr>
              <a:tr h="566928">
                <a:tc>
                  <a:txBody>
                    <a:bodyPr/>
                    <a:lstStyle/>
                    <a:p>
                      <a:pPr algn="l"/>
                      <a:r>
                        <a:rPr sz="1250" b="1" i="0">
                          <a:solidFill>
                            <a:srgbClr val="1A1A1A"/>
                          </a:solidFill>
                          <a:latin typeface="Graphik"/>
                        </a:rPr>
                        <a:t>Partitionnement</a:t>
                      </a:r>
                    </a:p>
                  </a:txBody>
                  <a:tcPr marT="36576" marB="36576" anchor="ctr">
                    <a:solidFill>
                      <a:srgbClr val="EEE0FF"/>
                    </a:solidFill>
                  </a:tcPr>
                </a:tc>
                <a:tc>
                  <a:txBody>
                    <a:bodyPr/>
                    <a:lstStyle/>
                    <a:p>
                      <a:pPr algn="l"/>
                      <a:r>
                        <a:rPr sz="1250" b="0" i="0">
                          <a:solidFill>
                            <a:srgbClr val="1A1A1A"/>
                          </a:solidFill>
                          <a:latin typeface="Graphik"/>
                        </a:rPr>
                        <a:t>80 / 20 stratifié · validation croisée à 5 plis</a:t>
                      </a:r>
                    </a:p>
                  </a:txBody>
                  <a:tcPr marT="36576" marB="36576" anchor="ctr">
                    <a:solidFill>
                      <a:srgbClr val="EEE0FF"/>
                    </a:solidFill>
                  </a:tcPr>
                </a:tc>
                <a:tc>
                  <a:txBody>
                    <a:bodyPr/>
                    <a:lstStyle/>
                    <a:p>
                      <a:pPr algn="l"/>
                      <a:r>
                        <a:rPr sz="1250" b="0" i="0">
                          <a:solidFill>
                            <a:srgbClr val="1A1A1A"/>
                          </a:solidFill>
                          <a:latin typeface="Graphik"/>
                        </a:rPr>
                        <a:t>Ratio modifiable</a:t>
                      </a:r>
                    </a:p>
                  </a:txBody>
                  <a:tcPr marT="36576" marB="36576" anchor="ctr">
                    <a:solidFill>
                      <a:srgbClr val="EEE0FF"/>
                    </a:solidFill>
                  </a:tcPr>
                </a:tc>
                <a:extLst>
                  <a:ext uri="{0D108BD9-81ED-4DB2-BD59-A6C34878D82A}">
                    <a16:rowId xmlns:a16="http://schemas.microsoft.com/office/drawing/2014/main" val="10003"/>
                  </a:ext>
                </a:extLst>
              </a:tr>
              <a:tr h="566928">
                <a:tc>
                  <a:txBody>
                    <a:bodyPr/>
                    <a:lstStyle/>
                    <a:p>
                      <a:pPr algn="l"/>
                      <a:r>
                        <a:rPr sz="1250" b="1" i="0">
                          <a:solidFill>
                            <a:srgbClr val="1A1A1A"/>
                          </a:solidFill>
                          <a:latin typeface="Graphik"/>
                        </a:rPr>
                        <a:t>Seuil de décision</a:t>
                      </a:r>
                    </a:p>
                  </a:txBody>
                  <a:tcPr marT="36576" marB="36576" anchor="ctr">
                    <a:solidFill>
                      <a:srgbClr val="FFFFFF"/>
                    </a:solidFill>
                  </a:tcPr>
                </a:tc>
                <a:tc>
                  <a:txBody>
                    <a:bodyPr/>
                    <a:lstStyle/>
                    <a:p>
                      <a:pPr algn="l"/>
                      <a:r>
                        <a:rPr sz="1250" b="0" i="0">
                          <a:solidFill>
                            <a:srgbClr val="1A1A1A"/>
                          </a:solidFill>
                          <a:latin typeface="Graphik"/>
                        </a:rPr>
                        <a:t>Indice de Youden (45 %)</a:t>
                      </a:r>
                    </a:p>
                  </a:txBody>
                  <a:tcPr marT="36576" marB="36576" anchor="ctr">
                    <a:solidFill>
                      <a:srgbClr val="FFFFFF"/>
                    </a:solidFill>
                  </a:tcPr>
                </a:tc>
                <a:tc>
                  <a:txBody>
                    <a:bodyPr/>
                    <a:lstStyle/>
                    <a:p>
                      <a:pPr algn="l"/>
                      <a:r>
                        <a:rPr sz="1250" b="0" i="0">
                          <a:solidFill>
                            <a:srgbClr val="1A1A1A"/>
                          </a:solidFill>
                          <a:latin typeface="Graphik"/>
                        </a:rPr>
                        <a:t>Réglable selon l'arbitrage précision / rappel</a:t>
                      </a:r>
                    </a:p>
                  </a:txBody>
                  <a:tcPr marT="36576" marB="36576" anchor="ctr">
                    <a:solidFill>
                      <a:srgbClr val="FFFFFF"/>
                    </a:solidFill>
                  </a:tcPr>
                </a:tc>
                <a:extLst>
                  <a:ext uri="{0D108BD9-81ED-4DB2-BD59-A6C34878D82A}">
                    <a16:rowId xmlns:a16="http://schemas.microsoft.com/office/drawing/2014/main" val="10004"/>
                  </a:ext>
                </a:extLst>
              </a:tr>
              <a:tr h="566928">
                <a:tc>
                  <a:txBody>
                    <a:bodyPr/>
                    <a:lstStyle/>
                    <a:p>
                      <a:pPr algn="l"/>
                      <a:r>
                        <a:rPr sz="1250" b="1" i="0">
                          <a:solidFill>
                            <a:srgbClr val="1A1A1A"/>
                          </a:solidFill>
                          <a:latin typeface="Graphik"/>
                        </a:rPr>
                        <a:t>Zones d'investigation</a:t>
                      </a:r>
                    </a:p>
                  </a:txBody>
                  <a:tcPr marT="36576" marB="36576" anchor="ctr">
                    <a:solidFill>
                      <a:srgbClr val="EEE0FF"/>
                    </a:solidFill>
                  </a:tcPr>
                </a:tc>
                <a:tc>
                  <a:txBody>
                    <a:bodyPr/>
                    <a:lstStyle/>
                    <a:p>
                      <a:pPr algn="l"/>
                      <a:r>
                        <a:rPr sz="1250" b="0" i="0">
                          <a:solidFill>
                            <a:srgbClr val="1A1A1A"/>
                          </a:solidFill>
                          <a:latin typeface="Graphik"/>
                        </a:rPr>
                        <a:t>± 10 points autour du seuil (3 zones)</a:t>
                      </a:r>
                    </a:p>
                  </a:txBody>
                  <a:tcPr marT="36576" marB="36576" anchor="ctr">
                    <a:solidFill>
                      <a:srgbClr val="EEE0FF"/>
                    </a:solidFill>
                  </a:tcPr>
                </a:tc>
                <a:tc>
                  <a:txBody>
                    <a:bodyPr/>
                    <a:lstStyle/>
                    <a:p>
                      <a:pPr algn="l"/>
                      <a:r>
                        <a:rPr sz="1250" b="0" i="0">
                          <a:solidFill>
                            <a:srgbClr val="1A1A1A"/>
                          </a:solidFill>
                          <a:latin typeface="Graphik"/>
                        </a:rPr>
                        <a:t>Largeur et nombre de zones paramétrables</a:t>
                      </a:r>
                    </a:p>
                  </a:txBody>
                  <a:tcPr marT="36576" marB="36576" anchor="ctr">
                    <a:solidFill>
                      <a:srgbClr val="EEE0FF"/>
                    </a:solidFill>
                  </a:tcPr>
                </a:tc>
                <a:extLst>
                  <a:ext uri="{0D108BD9-81ED-4DB2-BD59-A6C34878D82A}">
                    <a16:rowId xmlns:a16="http://schemas.microsoft.com/office/drawing/2014/main" val="10005"/>
                  </a:ext>
                </a:extLst>
              </a:tr>
              <a:tr h="566928">
                <a:tc>
                  <a:txBody>
                    <a:bodyPr/>
                    <a:lstStyle/>
                    <a:p>
                      <a:pPr algn="l"/>
                      <a:r>
                        <a:rPr sz="1250" b="1" i="0">
                          <a:solidFill>
                            <a:srgbClr val="1A1A1A"/>
                          </a:solidFill>
                          <a:latin typeface="Graphik"/>
                        </a:rPr>
                        <a:t>Valeurs manquantes</a:t>
                      </a:r>
                    </a:p>
                  </a:txBody>
                  <a:tcPr marT="36576" marB="36576" anchor="ctr">
                    <a:solidFill>
                      <a:srgbClr val="FFFFFF"/>
                    </a:solidFill>
                  </a:tcPr>
                </a:tc>
                <a:tc>
                  <a:txBody>
                    <a:bodyPr/>
                    <a:lstStyle/>
                    <a:p>
                      <a:pPr algn="l"/>
                      <a:r>
                        <a:rPr sz="1250" b="0" i="0">
                          <a:solidFill>
                            <a:srgbClr val="1A1A1A"/>
                          </a:solidFill>
                          <a:latin typeface="Graphik"/>
                        </a:rPr>
                        <a:t>Contrôle bloquant</a:t>
                      </a:r>
                    </a:p>
                  </a:txBody>
                  <a:tcPr marT="36576" marB="36576" anchor="ctr">
                    <a:solidFill>
                      <a:srgbClr val="FFFFFF"/>
                    </a:solidFill>
                  </a:tcPr>
                </a:tc>
                <a:tc>
                  <a:txBody>
                    <a:bodyPr/>
                    <a:lstStyle/>
                    <a:p>
                      <a:pPr algn="l"/>
                      <a:r>
                        <a:rPr sz="1250" b="0" i="0">
                          <a:solidFill>
                            <a:srgbClr val="1A1A1A"/>
                          </a:solidFill>
                          <a:latin typeface="Graphik"/>
                        </a:rPr>
                        <a:t>Imputation automatique (moyenne, médiane, mode)</a:t>
                      </a:r>
                    </a:p>
                  </a:txBody>
                  <a:tcPr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purple.png"/>
          <p:cNvPicPr>
            <a:picLocks noChangeAspect="1"/>
          </p:cNvPicPr>
          <p:nvPr/>
        </p:nvPicPr>
        <p:blipFill>
          <a:blip r:embed="rId3"/>
          <a:stretch>
            <a:fillRect/>
          </a:stretch>
        </p:blipFill>
        <p:spPr>
          <a:xfrm>
            <a:off x="548640" y="274320"/>
            <a:ext cx="1099698" cy="310896"/>
          </a:xfrm>
          <a:prstGeom prst="rect">
            <a:avLst/>
          </a:prstGeom>
        </p:spPr>
      </p:pic>
      <p:sp>
        <p:nvSpPr>
          <p:cNvPr id="3" name="TextBox 2"/>
          <p:cNvSpPr txBox="1"/>
          <p:nvPr/>
        </p:nvSpPr>
        <p:spPr>
          <a:xfrm>
            <a:off x="548640" y="603504"/>
            <a:ext cx="8229600" cy="274320"/>
          </a:xfrm>
          <a:prstGeom prst="rect">
            <a:avLst/>
          </a:prstGeom>
          <a:noFill/>
        </p:spPr>
        <p:txBody>
          <a:bodyPr wrap="square" lIns="36576" tIns="36576" rIns="36576" bIns="36576" anchor="t">
            <a:spAutoFit/>
          </a:bodyPr>
          <a:lstStyle/>
          <a:p>
            <a:pPr algn="l"/>
            <a:r>
              <a:rPr sz="1200" b="0" i="1">
                <a:solidFill>
                  <a:srgbClr val="A100FF"/>
                </a:solidFill>
                <a:latin typeface="Graphik"/>
              </a:rPr>
              <a:t>Annexes</a:t>
            </a:r>
          </a:p>
        </p:txBody>
      </p:sp>
      <p:sp>
        <p:nvSpPr>
          <p:cNvPr id="4" name="TextBox 3"/>
          <p:cNvSpPr txBox="1"/>
          <p:nvPr/>
        </p:nvSpPr>
        <p:spPr>
          <a:xfrm>
            <a:off x="548640" y="841248"/>
            <a:ext cx="11155680" cy="548640"/>
          </a:xfrm>
          <a:prstGeom prst="rect">
            <a:avLst/>
          </a:prstGeom>
          <a:noFill/>
        </p:spPr>
        <p:txBody>
          <a:bodyPr wrap="square" lIns="36576" tIns="36576" rIns="36576" bIns="36576" anchor="t">
            <a:spAutoFit/>
          </a:bodyPr>
          <a:lstStyle/>
          <a:p>
            <a:pPr algn="l"/>
            <a:r>
              <a:rPr sz="2600" b="1" i="0">
                <a:solidFill>
                  <a:srgbClr val="1A1A1A"/>
                </a:solidFill>
                <a:latin typeface="Graphik"/>
              </a:rPr>
              <a:t>Gouvernance du modèle : trois niveaux de maîtrise</a:t>
            </a:r>
          </a:p>
        </p:txBody>
      </p:sp>
      <p:sp>
        <p:nvSpPr>
          <p:cNvPr id="5" name="TextBox 4"/>
          <p:cNvSpPr txBox="1"/>
          <p:nvPr/>
        </p:nvSpPr>
        <p:spPr>
          <a:xfrm>
            <a:off x="548640" y="6419088"/>
            <a:ext cx="7315200" cy="227755"/>
          </a:xfrm>
          <a:prstGeom prst="rect">
            <a:avLst/>
          </a:prstGeom>
          <a:noFill/>
        </p:spPr>
        <p:txBody>
          <a:bodyPr wrap="square" lIns="36576" tIns="36576" rIns="36576" bIns="36576" anchor="t">
            <a:spAutoFit/>
          </a:bodyPr>
          <a:lstStyle/>
          <a:p>
            <a:pPr algn="l"/>
            <a:r>
              <a:rPr sz="1000" b="0" i="0" dirty="0" err="1">
                <a:solidFill>
                  <a:srgbClr val="55555A"/>
                </a:solidFill>
                <a:latin typeface="Graphik"/>
              </a:rPr>
              <a:t>Soutenance</a:t>
            </a:r>
            <a:r>
              <a:rPr sz="1000" b="0" i="0" dirty="0">
                <a:solidFill>
                  <a:srgbClr val="55555A"/>
                </a:solidFill>
                <a:latin typeface="Graphik"/>
              </a:rPr>
              <a:t> </a:t>
            </a:r>
            <a:r>
              <a:rPr sz="1000" b="0" i="0" dirty="0" err="1">
                <a:solidFill>
                  <a:srgbClr val="55555A"/>
                </a:solidFill>
                <a:latin typeface="Graphik"/>
              </a:rPr>
              <a:t>Institut</a:t>
            </a:r>
            <a:r>
              <a:rPr sz="1000" b="0" i="0" dirty="0">
                <a:solidFill>
                  <a:srgbClr val="55555A"/>
                </a:solidFill>
                <a:latin typeface="Graphik"/>
              </a:rPr>
              <a:t> des </a:t>
            </a:r>
            <a:r>
              <a:rPr sz="1000" b="0" i="0" dirty="0" err="1">
                <a:solidFill>
                  <a:srgbClr val="55555A"/>
                </a:solidFill>
                <a:latin typeface="Graphik"/>
              </a:rPr>
              <a:t>Actuaires</a:t>
            </a:r>
            <a:r>
              <a:rPr sz="1000" b="0" i="0" dirty="0">
                <a:solidFill>
                  <a:srgbClr val="55555A"/>
                </a:solidFill>
                <a:latin typeface="Graphik"/>
              </a:rPr>
              <a:t> </a:t>
            </a:r>
            <a:r>
              <a:rPr lang="fr-FR" sz="1000" b="0" i="0" dirty="0">
                <a:solidFill>
                  <a:srgbClr val="55555A"/>
                </a:solidFill>
                <a:latin typeface="Graphik"/>
              </a:rPr>
              <a:t>-</a:t>
            </a:r>
            <a:r>
              <a:rPr sz="1000" b="0" i="0" dirty="0">
                <a:solidFill>
                  <a:srgbClr val="55555A"/>
                </a:solidFill>
                <a:latin typeface="Graphik"/>
              </a:rPr>
              <a:t> Eliot NEHME</a:t>
            </a:r>
          </a:p>
        </p:txBody>
      </p:sp>
      <p:sp>
        <p:nvSpPr>
          <p:cNvPr id="6" name="Rectangle 5"/>
          <p:cNvSpPr/>
          <p:nvPr/>
        </p:nvSpPr>
        <p:spPr>
          <a:xfrm>
            <a:off x="548640" y="1481328"/>
            <a:ext cx="11094415" cy="4206240"/>
          </a:xfrm>
          <a:prstGeom prst="rect">
            <a:avLst/>
          </a:prstGeom>
          <a:solidFill>
            <a:srgbClr val="FFFFFF"/>
          </a:solidFill>
          <a:ln w="9525">
            <a:solidFill>
              <a:srgbClr val="C8C8C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trois_nv_de_gouvernance.png"/>
          <p:cNvPicPr>
            <a:picLocks noChangeAspect="1"/>
          </p:cNvPicPr>
          <p:nvPr/>
        </p:nvPicPr>
        <p:blipFill>
          <a:blip r:embed="rId4"/>
          <a:stretch>
            <a:fillRect/>
          </a:stretch>
        </p:blipFill>
        <p:spPr>
          <a:xfrm>
            <a:off x="2577702" y="1554480"/>
            <a:ext cx="7036289" cy="4069080"/>
          </a:xfrm>
          <a:prstGeom prst="rect">
            <a:avLst/>
          </a:prstGeom>
        </p:spPr>
      </p:pic>
      <p:sp>
        <p:nvSpPr>
          <p:cNvPr id="8" name="TextBox 7"/>
          <p:cNvSpPr txBox="1"/>
          <p:nvPr/>
        </p:nvSpPr>
        <p:spPr>
          <a:xfrm>
            <a:off x="9814255" y="6419088"/>
            <a:ext cx="1828800" cy="274320"/>
          </a:xfrm>
          <a:prstGeom prst="rect">
            <a:avLst/>
          </a:prstGeom>
          <a:noFill/>
        </p:spPr>
        <p:txBody>
          <a:bodyPr wrap="square" lIns="36576" tIns="36576" rIns="36576" bIns="36576" anchor="t">
            <a:spAutoFit/>
          </a:bodyPr>
          <a:lstStyle/>
          <a:p>
            <a:pPr algn="r"/>
            <a:r>
              <a:rPr sz="1000" b="0" i="0">
                <a:solidFill>
                  <a:srgbClr val="55555A"/>
                </a:solidFill>
                <a:latin typeface="Graphik"/>
              </a:rPr>
              <a:t>Annexes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4454</Words>
  <Application>Microsoft Office PowerPoint</Application>
  <PresentationFormat>Widescreen</PresentationFormat>
  <Paragraphs>571</Paragraphs>
  <Slides>31</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Graphik</vt:lpstr>
      <vt:lpstr>Graphik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Nehme, Eliot</cp:lastModifiedBy>
  <cp:revision>2</cp:revision>
  <dcterms:created xsi:type="dcterms:W3CDTF">2013-01-27T09:14:16Z</dcterms:created>
  <dcterms:modified xsi:type="dcterms:W3CDTF">2026-10-01T12:52:20Z</dcterms:modified>
  <cp:category/>
</cp:coreProperties>
</file>